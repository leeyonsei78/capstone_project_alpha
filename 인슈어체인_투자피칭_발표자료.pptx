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81" r:id="rId32"/>
    <p:sldId id="282" r:id="rId33"/>
    <p:sldId id="265" r:id="rId11"/>
    <p:sldId id="266" r:id="rId12"/>
    <p:sldId id="267" r:id="rId13"/>
    <p:sldId id="268" r:id="rId14"/>
    <p:sldId id="269" r:id="rId15"/>
    <p:sldId id="270" r:id="rId16"/>
    <p:sldId id="277" r:id="rId28"/>
    <p:sldId id="278" r:id="rId29"/>
    <p:sldId id="279" r:id="rId30"/>
    <p:sldId id="283" r:id="rId34"/>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3F"/>
                </a:solidFill>
                <a:latin typeface="+mn-lt"/>
              </a:defRPr>
            </a:pPr>
            <a:r>
              <a:rPr sz="1400" b="0" i="0" u="none" strike="noStrike">
                <a:solidFill>
                  <a:srgbClr val="16233F"/>
                </a:solidFill>
                <a:latin typeface="+mn-lt"/>
              </a:rPr>
              <a:t>단계별 매출 구성 비중 (예시 시나리오)</a:t>
            </a:r>
          </a:p>
        </c:rich>
      </c:tx>
      <c:layout/>
      <c:overlay val="0"/>
    </c:title>
    <c:autoTitleDeleted val="0"/>
    <c:plotArea>
      <c:layout/>
      <c:barChart>
        <c:barDir val="col"/>
        <c:grouping val="stacked"/>
        <c:varyColors val="0"/>
        <c:ser>
          <c:idx val="0"/>
          <c:order val="0"/>
          <c:tx>
            <c:strRef>
              <c:f>Sheet1!$B$1</c:f>
              <c:strCache>
                <c:ptCount val="1"/>
                <c:pt idx="0">
                  <c:v>1회성 수익 비중(%)</c:v>
                </c:pt>
              </c:strCache>
            </c:strRef>
          </c:tx>
          <c:spPr>
            <a:solidFill>
              <a:srgbClr val="DCD3B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Sheet1!$B$2:$B$5</c:f>
              <c:numCache>
                <c:formatCode>General</c:formatCode>
                <c:ptCount val="4"/>
                <c:pt idx="0">
                  <c:v>80</c:v>
                </c:pt>
                <c:pt idx="1">
                  <c:v>55</c:v>
                </c:pt>
                <c:pt idx="2">
                  <c:v>30</c:v>
                </c:pt>
                <c:pt idx="3">
                  <c:v>15</c:v>
                </c:pt>
              </c:numCache>
            </c:numRef>
          </c:val>
        </c:ser>
        <c:ser>
          <c:idx val="1"/>
          <c:order val="1"/>
          <c:tx>
            <c:strRef>
              <c:f>Sheet1!$C$1</c:f>
              <c:strCache>
                <c:ptCount val="1"/>
                <c:pt idx="0">
                  <c:v>연속성 수익 비중(%)</c:v>
                </c:pt>
              </c:strCache>
            </c:strRef>
          </c:tx>
          <c:spPr>
            <a:solidFill>
              <a:srgbClr val="B8862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Sheet1!$C$2:$C$5</c:f>
              <c:numCache>
                <c:formatCode>General</c:formatCode>
                <c:ptCount val="4"/>
                <c:pt idx="0">
                  <c:v>20</c:v>
                </c:pt>
                <c:pt idx="1">
                  <c:v>45</c:v>
                </c:pt>
                <c:pt idx="2">
                  <c:v>70</c:v>
                </c:pt>
                <c:pt idx="3">
                  <c:v>85</c:v>
                </c:pt>
              </c:numCache>
            </c:numRef>
          </c:val>
        </c:ser>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33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D3BF"/>
              </a:solidFill>
              <a:prstDash val="solid"/>
              <a:round/>
            </a:ln>
          </c:spPr>
        </c:majorGridlines>
        <c:title>
          <c:tx>
            <c:rich>
              <a:bodyPr/>
              <a:lstStyle/>
              <a:p>
                <a:pPr>
                  <a:defRPr b="0" i="0" u="none" strike="noStrike">
                    <a:solidFill>
                      <a:srgbClr val="16233F"/>
                    </a:solidFill>
                    <a:latin typeface="+mn-lt"/>
                  </a:defRPr>
                </a:pPr>
                <a:r>
                  <a:rPr b="0" i="0" u="none" strike="noStrike">
                    <a:solidFill>
                      <a:srgbClr val="16233F"/>
                    </a:solidFill>
                    <a:latin typeface="+mn-lt"/>
                  </a:rPr>
                  <a:t>비중(%)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6233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3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안녕하십니까. 저희 팀은 '인슈어체인'입니다. 한 문장으로 말씀드리면, 보험 상담부터 가입, 나중에 보험금을 받는 것까지 전 과정을 AI가 도와드리고, 정해진 조건이 되면 사람이 서류를 일일이 확인하지 않아도 컴퓨터(블록체인)가 알아서 돈을 지급하는 서비스입니다.</a:t>
            </a:r>
            <a:endParaRPr lang="ko-KR" dirty="0"/>
          </a:p>
          <a:p>
            <a:r>
              <a:rPr lang="ko-KR" dirty="0"/>
              <a:t>오늘은 이 서비스가 왜 필요한지, 어떻게 작동하는지, 그리고 왜 비용을 크게 아낄 수 있는지 차례로 말씀드리겠습니다.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가입해 보신 분들은 아실 텐데, 크게 세 가지 불편함이 있습니다.</a:t>
            </a:r>
            <a:endParaRPr lang="ko-KR" dirty="0"/>
          </a:p>
          <a:p>
            <a:r>
              <a:rPr lang="ko-KR" dirty="0"/>
              <a:t>첫째, 설계사나 콜센터를 통해야만 자세한 설명을 들을 수 있는데, 이 인건비가 보험료에 그대로 반영됩니다. 둘째, 막상 사고가 나서 보험금을 청구하면 서류 심사가 오래 걸리고 지금 어디까지 처리됐는지 고객이 알 방법이 없습니다. 셋째, 가입한 뒤에는 보험사가 먼저 '지금 보장이 부족합니다'라고 알려주는 경우가 거의 없어서, 나중에 문제가 생기고 나서야 보장이 부족했다는 걸 깨닫게 됩니다.</a:t>
            </a:r>
            <a:endParaRPr lang="ko-KR" dirty="0"/>
          </a:p>
          <a:p>
            <a:r>
              <a:rPr lang="ko-KR" dirty="0"/>
              <a:t>저희는 이 세 가지를 AI와 자동화 기술로 해결하려고 합니다. 참고로 '지수형(파라메트릭) 보험'은 날씨나 항공편 지연처럼 숫자로 측정되는 조건이 기준을 넘으면 손해 조사 없이 바로 정해진 금액을 주는 보험인데, 국내 대형 보험사들도 이미 이런 상품을 내놓기 시작했습니다. 즉 이런 자동화 보험에 대한 수요는 이미 검증됐다는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먼저 상담 부분입니다. 저희 AI는 나이, 예산, 가족 상황, 건강 상태를 먼저 물어보고, '보험다모아'라는 정부 공식 보험 비교 사이트의 실시간 데이터를 기반으로 상품을 추천해 드립니다.</a:t>
            </a:r>
            <a:endParaRPr lang="ko-KR" dirty="0"/>
          </a:p>
          <a:p>
            <a:r>
              <a:rPr lang="ko-KR" dirty="0"/>
              <a:t>보험 상품은 크게 두 종류로 나뉩니다. '보장성보험'은 사망이나 질병처럼 안 좋은 일이 생겼을 때 돈을 받는 보험이고, '저축성보험'은 나중에 목돈이나 연금처럼 돌려받는 걸 목적으로 하는 보험입니다.</a:t>
            </a:r>
            <a:endParaRPr lang="ko-KR" dirty="0"/>
          </a:p>
          <a:p>
            <a:r>
              <a:rPr lang="ko-KR" dirty="0"/>
              <a:t>저희 AI는 이미 가입된 보험이 있는지도 먼저 확인해서, 중복 가입하거나 꼭 필요한 보장이 빠지는 일을 막아줍니다. 이 추천 기능 자체도 이미 다른 보험대리점이나 핀테크 회사에 API 형태로 판매되고 있는 저희의 핵심 수익원 중 하나입니다.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사람의 건강 상태는 계속 바뀌는데, 보험 가입할 때 설계한 보장은 그대로 멈춰 있는 경우가 많습니다. 저희 '케어링크' 기능은 건강검진 결과를 PDF나 사진으로 올리면, AI가 당뇨 같은 질병 위험을 계산해서 지금 가입한 보장에 빈틈이 있는지 찾아내고 새로운 상품을 추천해 드립니다.</a:t>
            </a:r>
            <a:endParaRPr lang="ko-KR" dirty="0"/>
          </a:p>
          <a:p>
            <a:r>
              <a:rPr lang="ko-KR" dirty="0"/>
              <a:t>국민건강보험공단 앱에서 검진 결과를 가져오는 방법도 안내해 드려서 입력 부담을 최소화했습니다.</a:t>
            </a:r>
            <a:endParaRPr lang="ko-KR" dirty="0"/>
          </a:p>
          <a:p>
            <a:r>
              <a:rPr lang="ko-KR" dirty="0"/>
              <a:t>특히 저희 블록체인 치아보험 가입자는 건강이 좋아진 게 확인되면 실제로 보험료를 최대 20%까지 즉시 할인해 드립니다. 다만 건강 데이터는 가입을 거절하거나 불이익을 주는 데는 절대 사용하지 않는다는 원칙을 반드시 지키고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같은 건강검진 데이터를 보험 말고 다른 곳에도 활용할 수 있습니다. 바로 신용평가와 대출 심사입니다.</a:t>
            </a:r>
            <a:endParaRPr lang="ko-KR" dirty="0"/>
          </a:p>
          <a:p>
            <a:r>
              <a:rPr lang="ko-KR" dirty="0"/>
              <a:t>신용카드 거래 이력이 적어서 기존 방식으로는 신용점수를 받기 어려운 분들을 '씬파일러'라고 부르는데요, 이분들도 건강검진을 성실하게 받고 건강 상태가 안정적이라는 걸 보여주면 신용점수에 가산점을 드립니다. 이를 바탕으로 기존에는 대출이 거절됐던 분들께도 '건강담보대출'이라는 새로운 대출 경로를 제시할 수 있습니다.</a:t>
            </a:r>
            <a:endParaRPr lang="ko-KR" dirty="0"/>
          </a:p>
          <a:p>
            <a:r>
              <a:rPr lang="ko-KR" dirty="0"/>
              <a:t>여기서도 건강 데이터는 가산점을 주는 용도로만 쓰고, 감점이나 대출 거절 사유로는 절대 쓰지 않습니다. 이렇게 되면 저희는 단순히 보험 하나 파는 회사가 아니라, 고객의 생애 전체 금융 데이터를 다루는 플랫폼이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지금까지는 상담 이야기였고, 이제부터는 실제 가입 심사와 보험금 지급 이야기입니다.</a:t>
            </a:r>
            <a:endParaRPr lang="ko-KR" dirty="0"/>
          </a:p>
          <a:p>
            <a:r>
              <a:rPr lang="ko-KR" dirty="0"/>
              <a:t>저희의 핵심은, 사람이 서류를 들여다보고 심사하는 대신, 정해진 조건이 충족되면 '블록체인'이라는 조작이 불가능한 디지털 장부 위에서 컴퓨터가 자동으로 돈을 지급한다는 점입니다. 18가지 전문 심사 로직을 가진 AI가 가입 심사를 돕고, 모든 청구·지급 과정이 블록체인에 기록되기 때문에 고객과 보험사가 항상 똑같은 정보를 실시간으로 볼 수 있습니다.</a:t>
            </a:r>
            <a:endParaRPr lang="ko-KR" dirty="0"/>
          </a:p>
          <a:p>
            <a:r>
              <a:rPr lang="ko-KR" dirty="0"/>
              <a:t>결제는 원화나 달러 가치에 고정된 '스테이블코인'이라는 디지털 화폐로 이루어져서 환전 없이 즉시 처리됩니다.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가입 심사를 조금 더 자세히 보겠습니다. 평소 상담해주는 AI는 심사의 세부 로직을 몰라도 됩니다. 정밀 심사가 필요한 순간에만 전담 AI를 하나 호출하는 구조인데, 이 전담 AI는 18가지 전문 도구를 가지고 위험도를 판단합니다.</a:t>
            </a:r>
            <a:endParaRPr lang="ko-KR" dirty="0"/>
          </a:p>
          <a:p>
            <a:r>
              <a:rPr lang="ko-KR" dirty="0"/>
              <a:t>여기서 중요한 건, AI가 위험도는 판단하지만 '그래서 승인할지, 거절할지, 사람에게 보낼지'는 AI가 아니라 미리 정해둔 코드 규칙이 결정한다는 점입니다. AI가 실수하더라도 그 실수가 그대로 실행되지 않도록 안전장치를 코드 단계에 심어 놓은 것입니다.</a:t>
            </a:r>
            <a:endParaRPr lang="ko-KR" dirty="0"/>
          </a:p>
          <a:p>
            <a:r>
              <a:rPr lang="ko-KR" dirty="0"/>
              <a:t>애매한 경우는 전부 사람이 다시 확인하는 쪽으로 넘어가지, 자동 승인 쪽으로는 절대 새지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보험금 청구는 가입 심사보다 더 엄격하게 다룹니다. 실제 돈이 바로 나가기 때문입니다.</a:t>
            </a:r>
            <a:endParaRPr lang="ko-KR" dirty="0"/>
          </a:p>
          <a:p>
            <a:r>
              <a:rPr lang="ko-KR" dirty="0"/>
              <a:t>저희는 청구 금액이 보장 한도의 20% 이하인 소액 건은 사람 개입 없이 완전 자동으로 지급합니다. 하지만 20%를 넘는 금액은 AI가 의견을 제시할 수는 있어도 최종 승인과 지급 권한은 절대 주지 않습니다.</a:t>
            </a:r>
            <a:endParaRPr lang="ko-KR" dirty="0"/>
          </a:p>
          <a:p>
            <a:r>
              <a:rPr lang="ko-KR" dirty="0"/>
              <a:t>이건 저희가 그렇게 운영하겠다고 약속하는 수준이 아니라, 블록체인 스마트컨트랙트 코드 자체에 '일정 금액을 넘으면 사람이 직접 서명하지 않는 한 절대 실행되지 않는다'는 조건을 못 박아 놓은 겁니다. 그래서 'AI가 보험금을 마음대로 결정한다'는 가장 민감한 우려를 기술적으로 원천 차단했습니다.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그럼 이런 구조가 실제로 비용을 얼마나 아낄 수 있는지 보여드리겠습니다. 이 표는 가입 심사, 소액 보험금 심사, 보험료 결제, 재보험(보험사가 자기 위험을 또 다른 곳과 나누는 것), 고객 문의 대응, 이렇게 다섯 가지 업무를 기존 방식과 저희 자동화 방식으로 비교한 것입니다.</a:t>
            </a:r>
            <a:endParaRPr lang="ko-KR" dirty="0"/>
          </a:p>
          <a:p>
            <a:r>
              <a:rPr lang="ko-KR" dirty="0"/>
              <a:t>기존 방식 비용은 실제 공개된 임금 통계나 수수료 자료를 근거로 계산했고, 저희 쪽 비용은 가스비(블록체인 수수료)와 서버비, AI 호출비를 더한 자체 추정치입니다.</a:t>
            </a:r>
            <a:endParaRPr lang="ko-KR" dirty="0"/>
          </a:p>
          <a:p>
            <a:r>
              <a:rPr lang="ko-KR" dirty="0"/>
              <a:t>평균적으로 약 89%, 거의 10분의 1 수준으로 운영비를 줄일 수 있다는 계산이 나옵니다. 다만 저희 쪽 수치는 추정치이기 때문에 실제로는 운영 규모에 따라 달라질 수 있다는 점은 미리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 비용 절감 이야기를 드렸고, 이제 저희가 실제로 만든 상품과 기능들을 보여드리겠습니다. 총 11개의 신규 상품·기능 중 대표적인 6가지만 소개하겠습니다.</a:t>
            </a:r>
            <a:endParaRPr lang="ko-KR" dirty="0"/>
          </a:p>
          <a:p>
            <a:r>
              <a:rPr lang="ko-KR" dirty="0"/>
              <a:t>'파라메트릭 자동집행'은 날씨처럼 측정 가능한 조건이 기준을 넘으면 별도 심사 없이 바로 지급되는 보험입니다. '재보험풀'은 외부 투자자들의 돈을 모아 보험사의 위험을 함께 나누는 구조이고, 이 재보험풀 실적에 따라 수익이 결정되는 신규 투자 상품도 만들었습니다.</a:t>
            </a:r>
            <a:endParaRPr lang="ko-KR" dirty="0"/>
          </a:p>
          <a:p>
            <a:r>
              <a:rPr lang="ko-KR" dirty="0"/>
              <a:t>B2B API는 다른 보험대리점이나 핀테크 회사가 저희 기능을 가져다 쓸 수 있게 한 것이고, 수익성 대시보드는 손해율 같은 보험업 핵심 지표를 실시간으로 보여줍니다. 마지막으로 '가스리스 온보딩'은 고객이 암호화폐 지갑을 몰라도 챗봇 대화만으로 가입을 끝낼 수 있게 한 기능입니다.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'왜 하필 지금이냐'는 질문에 답해드리겠습니다.</a:t>
            </a:r>
            <a:endParaRPr lang="ko-KR" dirty="0"/>
          </a:p>
          <a:p>
            <a:r>
              <a:rPr lang="ko-KR" dirty="0"/>
              <a:t>첫째, 결제 인프라 쪽에서 국내 카드사 9곳과 람다256이 스테이블코인 결제를 이미 기술적으로 검증했고, 한국은행도 '프로젝트 한강'이라는 디지털 화폐 실험을 진행 중입니다. 둘째, 규제 쪽에서는 디지털자산 기본법이 추진되고 있고, 정부의 규제샌드박스 제도를 통해 새로운 기술을 먼저 시험해볼 수 있는 길이 열려 있습니다. 셋째, 시장 검증 측면에서는 삼성화재, 현대해상, KB손해보험 같은 대형 보험사들이 이미 '지수형 보험'을 상용화했습니다.</a:t>
            </a:r>
            <a:endParaRPr lang="ko-KR" dirty="0"/>
          </a:p>
          <a:p>
            <a:r>
              <a:rPr lang="ko-KR" dirty="0"/>
              <a:t>즉 기술도, 제도도, 시장 수요도 이미 준비되어 있다는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'지수형 보험'이 무엇인지 조금 더 설명드리겠습니다. 쉽게 말하면, 비행기가 몇 시간 이상 늦으면, 또는 날씨가 폭염 기준을 넘으면, 실제 손해를 하나하나 조사하지 않고 미리 정해둔 금액을 바로 지급하는 보험입니다.</a:t>
            </a:r>
            <a:endParaRPr lang="ko-KR" dirty="0"/>
          </a:p>
          <a:p>
            <a:r>
              <a:rPr lang="ko-KR" dirty="0"/>
              <a:t>기존 대형 보험사들도 이런 상품을 이미 내놓았지만, 공공데이터를 확인한 뒤 결국 보험사 내부 시스템과 사람이 최종 승인하는 구조입니다.</a:t>
            </a:r>
            <a:endParaRPr lang="ko-KR" dirty="0"/>
          </a:p>
          <a:p>
            <a:r>
              <a:rPr lang="ko-KR" dirty="0"/>
              <a:t>저희는 사람의 개입 없이 스마트컨트랙트가 조건 충족 즉시 자동으로 지급하고, 아직 아무도 상용화하지 않은 폭염 같은 상품을 먼저 선점하고 있다는 점이 다릅니다.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저희의 메인 상품은 치아보험입니다. 치아보험은 법적으로 '제3보험'이라는 분류에 속하는데, 이건 생명보험회사와 손해보험회사 둘 다 팔 수 있는 특이한 영역입니다. 그래서 저희는 생보사든 손보사든 어느 쪽과 협력해도 이 상품을 바로 제공할 수 있습니다.</a:t>
            </a:r>
            <a:endParaRPr lang="ko-KR" dirty="0"/>
          </a:p>
          <a:p>
            <a:r>
              <a:rPr lang="ko-KR" dirty="0"/>
              <a:t>실제로 청약부터 증권 발급, 보험료 납입, 보험금 청구, 만기 때 돈을 돌려받는 것까지 전 과정이 이미 블록체인 위에서 작동하고 있습니다.</a:t>
            </a:r>
            <a:endParaRPr lang="ko-KR" dirty="0"/>
          </a:p>
          <a:p>
            <a:r>
              <a:rPr lang="ko-KR" dirty="0"/>
              <a:t>여기에 더해 손해보험사만 팔 수 있는 지수형 보험(날씨·항공지연 상품)까지 함께 갖추고 있어서, 보험업계 전체를 상대로 사업을 넓힐 수 있는 기반을 마련했습니다.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저희가 돈을 버는 방법은 한 가지가 아니라 다섯 가지입니다.</a:t>
            </a:r>
            <a:endParaRPr lang="ko-KR" dirty="0"/>
          </a:p>
          <a:p>
            <a:r>
              <a:rPr lang="ko-KR" dirty="0"/>
              <a:t>첫째, 보험사가 저희 시스템을 처음 도입할 때 받는 초기 구축비. 둘째, 매달 꾸준히 들어오는 라이선스비·API 이용료 같은 반복 매출인데, 이게 저희 핵심 매출 기반입니다. 셋째, 자동화로 보험사가 아낀 비용의 일부를 성과수수료로 나눠 받는 구조. 넷째, 재보험 중개 수수료를 낮춰주고 그 절감분을 나눠 갖는 방식. 다섯째, 건강검진센터나 치과병원이 고객을 소개해주면 가입이 성사될 때마다 받는 중개수수료입니다.</a:t>
            </a:r>
            <a:endParaRPr lang="ko-KR" dirty="0"/>
          </a:p>
          <a:p>
            <a:r>
              <a:rPr lang="ko-KR" dirty="0"/>
              <a:t>보험업 라이선스를 저희가 직접 따기보다는, 기존 보험사에 기술을 공급하는 방식으로 돈을 버는 구조라고 이해하시면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다섯 번째 수익원인 건강검진센터·치과병원 제휴를 조금 더 설명드리겠습니다. 사람들이 보험의 필요성을 가장 강하게 느끼는 순간은 건강검진이나 진료를 막 받고 난 직후입니다. 그 타이밍에 저희 AI가 바로 연결되어 위험을 분석하고 맞춤 상품을 추천합니다.</a:t>
            </a:r>
            <a:endParaRPr lang="ko-KR" dirty="0"/>
          </a:p>
          <a:p>
            <a:r>
              <a:rPr lang="ko-KR" dirty="0"/>
              <a:t>검진센터나 치과병원 입장에서는 별도 마케팅 없이 새로운 수익이 생기고, 보험사 입장에서는 전환율이 가장 높은 고객을 저렴하게 데려올 수 있으며, 저희는 양쪽에서 중개수수료를 받습니다.</a:t>
            </a:r>
            <a:endParaRPr lang="ko-KR" dirty="0"/>
          </a:p>
          <a:p>
            <a:r>
              <a:rPr lang="ko-KR" dirty="0"/>
              <a:t>기존에 B2B API로 돈을 벌던 방식을 건강검진·치과 채널로 그대로 확장한 것이라고 보시면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앞서 말씀드린 다섯 가지 수익 중에서도, 사업이 진행될수록 처음에만 받는 일회성 구축비보다는 매달 꾸준히 들어오는 라이선스료·중개수수료 같은 반복 매출의 비중이 점점 커지는 구조로 설계했습니다.</a:t>
            </a:r>
            <a:endParaRPr lang="ko-KR" dirty="0"/>
          </a:p>
          <a:p>
            <a:r>
              <a:rPr lang="ko-KR" dirty="0"/>
              <a:t>투자자 입장에서는 이런 반복 매출 구조가 사업의 지속가능성을 보여주는 중요한 신호입니다.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말로만 설명드린 게 아니라 실제로 검증된 내용을 보여드리겠습니다. 167개가 넘는 자동화된 테스트를 모두 통과했고, 11개의 신규 상품·기능을 실제로 구현했으며, 18가지 전문 심사 도구를 가진 AI와 7개의 자체 제작 스마트컨트랙트를 테스트 환경에서 실제로 배포하고 검증했습니다.</a:t>
            </a:r>
            <a:endParaRPr lang="ko-KR" dirty="0"/>
          </a:p>
          <a:p>
            <a:r>
              <a:rPr lang="ko-KR" dirty="0"/>
              <a:t>손해율·사업비율 같은 보험업 핵심 지표도 관리자 화면에서 실시간으로 볼 수 있고, 보험금 청구도 소액은 자동, 고액은 AI 의견과 사람 승인을 함께 쓰는 구조가 실제로 작동하고 있습니다.</a:t>
            </a:r>
            <a:endParaRPr lang="ko-KR" dirty="0"/>
          </a:p>
          <a:p>
            <a:r>
              <a:rPr lang="ko-KR" dirty="0"/>
              <a:t>즉 아이디어 단계가 아니라 실제로 돌아가는 플랫폼이라는 점을 강조드리고 싶습니다.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앞으로의 계획을 4단계로 말씀드리겠습니다.</a:t>
            </a:r>
            <a:endParaRPr lang="ko-KR" dirty="0"/>
          </a:p>
          <a:p>
            <a:r>
              <a:rPr lang="ko-KR" dirty="0"/>
              <a:t>첫 3개월은 법인 설립과 정부 지원사업 신청 같은 파일럿 준비 단계입니다. 3개월에서 9개월 사이에는 손해보험사 한 곳과 시범사업 협약을 맺고 정부의 규제샌드박스 공동 신청을 검토합니다. 9개월에서 24개월 사이에는 실제로 규제샌드박스에 지정되어 실증 사업을 하면서 유료로 저희 API를 쓰는 파트너사를 확보합니다. 그리고 24개월 이후에는 보험대리점으로 정식 등록하거나 보험사와 정식 기술 공급 계약을 맺는 것을 목표로 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투자하실 때 가장 궁금하실 리스크 부분도 솔직하게 말씀드리겠습니다.</a:t>
            </a:r>
            <a:endParaRPr lang="ko-KR" dirty="0"/>
          </a:p>
          <a:p>
            <a:r>
              <a:rPr lang="ko-KR" dirty="0"/>
              <a:t>첫째, 보험업 라이선스 문제는 저희가 직접 보험사가 되는 대신 기존 보험사에 기술을 공급하는 방식으로 피해갑니다. 둘째, 투자자들의 돈을 모아 운용하는 구조로 오해받을 수 있는 부분은 실제 자금을 모으기 전에 법률 자문을 받고, 필요하면 투자 경험이 많은 전문투자자로만 제한할 계획입니다.</a:t>
            </a:r>
            <a:endParaRPr lang="ko-KR" dirty="0"/>
          </a:p>
          <a:p>
            <a:r>
              <a:rPr lang="ko-KR" dirty="0"/>
              <a:t>셋째, 암호화폐 관련 법(특정금융정보법)과 관련해서는 초기에는 원화 결제만 지원하고 블록체인은 겉으로 드러나지 않는 내부 자동화 장치로만 사용합니다. 넷째, 규제샌드박스 특례가 최대 4년으로 한시적이기 때문에 그 안에 정식 라이선스나 정식 계약으로 전환하는 것을 목표로 움직이고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투자받은 자금은 이렇게 쓸 계획입니다. 40%는 스마트컨트랙트 보안 감사와 가스비 없는 가입 기능 고도화 같은 연구개발에, 25%는 개발 인력 충원에, 20%는 보험업법·자본시장법 관련 법률 자문에, 15%는 보험사와의 협상, 건강검진센터 제휴, 컨퍼런스 참가 같은 마케팅·파트너십에 사용합니다.</a:t>
            </a:r>
            <a:endParaRPr lang="ko-KR" dirty="0"/>
          </a:p>
          <a:p>
            <a:r>
              <a:rPr lang="ko-KR" dirty="0"/>
              <a:t>1차적으로는 한국핀테크지원센터의 디지털 금융기술 내재화 사업 같은 정부 지원사업과 연계하는 것을 목표로 하고 있고, 구체적인 투자 규모는 어떤 지원사업이 확정되는지에 따라 조정될 수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정리하면, 저희는 상담부터 리밸런싱, 가입 심사, 보험금 청구까지 이미 실제로 작동하는 AI와 투명한 수익성 대시보드를 갖추고 있습니다.</a:t>
            </a:r>
            <a:endParaRPr lang="ko-KR" dirty="0"/>
          </a:p>
          <a:p>
            <a:r>
              <a:rPr lang="ko-KR" dirty="0"/>
              <a:t>이제 저희에게 필요한 건 함께 다음 단계로 나아갈 파트너입니다. 정부 지원사업, 보험사와의 컨소시엄, 그리고 투자 파트너를 찾고 있습니다.</a:t>
            </a:r>
            <a:endParaRPr lang="ko-KR" dirty="0"/>
          </a:p>
          <a:p>
            <a:r>
              <a:rPr lang="ko-KR" dirty="0"/>
              <a:t>끝까지 들어주셔서 감사합니다. 질문 주시면 편하게 답변드리겠습니다.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조금 더 구체적인 사례로 설명드리겠습니다. 건강검진을 받고 '6개월 뒤 재검 받으세요'라는 판정을 받으신 적 있으실 겁니다. 질병으로 확정된 건 아니지만 주의가 필요하다는 뜻인데, 바로 이 순간이 보험 가입이 가능한 마지막 타이밍입니다. 나중에 진짜 질병으로 확정되면 보험 가입 자체가 막히기 때문입니다.</a:t>
            </a:r>
            <a:endParaRPr lang="ko-KR" dirty="0"/>
          </a:p>
          <a:p>
            <a:r>
              <a:rPr lang="ko-KR" dirty="0"/>
              <a:t>예를 들어 한 달에 검진받는 3천 명 중 15%인 450명 정도가 이런 재검 판정을 받고, 그중 20%가 저희 AI 상담 연결에 동의하고, 다시 그중 12% 정도가 실제 가입까지 이어진다고 가정하면 약 11명이 전환되는 구조입니다.</a:t>
            </a:r>
            <a:endParaRPr lang="ko-KR" dirty="0"/>
          </a:p>
          <a:p>
            <a:r>
              <a:rPr lang="ko-KR" dirty="0"/>
              <a:t>이 숫자들은 실제 통계가 아니라 구조를 보여드리기 위한 예시라는 점은 분명히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본 건강검진센터 채널로 고객을 데려오는 데 드는 비용을, 여러분이 흔히 아시는 인터넷 배너광고 비용 계산법과 똑같은 방식으로 계산해 봤습니다. 광고에서 쓰는 '1,000번 노출당 비용', '클릭 1번당 비용', '가입 1건당 비용' 개념을 그대로 적용한 겁니다.</a:t>
            </a:r>
            <a:endParaRPr lang="ko-KR" dirty="0"/>
          </a:p>
          <a:p>
            <a:r>
              <a:rPr lang="ko-KR" dirty="0"/>
              <a:t>계산해보면 검진센터를 통한 가입 1건당 비용은 약 3만원으로, 일반 배너광고의 약 2만 5천원과 비슷한 수준입니다. 모수 1,000명당으로 환산하면 검진센터 쪽이 더 비싸 보이지만, 전환율이 6배나 높기 때문에 실제 가입 1건당 비용은 비슷해집니다.</a:t>
            </a:r>
            <a:endParaRPr lang="ko-KR" dirty="0"/>
          </a:p>
          <a:p>
            <a:r>
              <a:rPr lang="ko-KR" dirty="0"/>
              <a:t>다만 이 숫자만으로는 '질병 확정 전 마지막 타이밍에 가입시킨다'는 질적인 가치까지는 담기지 않는다는 한계도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이제 이 사업이 규모가 커지면 실제로 돈을 버는지 시뮬레이션해 보겠습니다. 가정을 고정해두고 가입 건수만 100건에서 10만 건까지 늘려봤는데, 가입자가 적을 때는 고정비 부담 때문에 적자지만, 약 1,622건을 넘는 순간부터 흑자로 전환됩니다.</a:t>
            </a:r>
            <a:endParaRPr lang="ko-KR" dirty="0"/>
          </a:p>
          <a:p>
            <a:r>
              <a:rPr lang="ko-KR" dirty="0"/>
              <a:t>흥미로운 점은, 가입자 수가 늘어날수록 손해율의 들쭉날쭉함도 통계적으로 줄어든다는 겁니다. 쉽게 말해 사람이 많이 모일수록 예측이 더 정확해지고 안정적이 된다는 뜻입니다.</a:t>
            </a:r>
            <a:endParaRPr lang="ko-KR" dirty="0"/>
          </a:p>
          <a:p>
            <a:r>
              <a:rPr lang="ko-KR" dirty="0"/>
              <a:t>공교롭게도 이 손익분기점인 1,622건은 저희 로드맵 2단계인 '보험사 1곳과 시범사업을 하는 단계'의 목표 규모와 거의 일치합니다.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건당 처리 비용을 봤다면, 이번엔 매달 고정으로 나가는 IT 비용 이야기입니다.</a:t>
            </a:r>
            <a:endParaRPr lang="ko-KR" dirty="0"/>
          </a:p>
          <a:p>
            <a:r>
              <a:rPr lang="ko-KR" dirty="0"/>
              <a:t>일반 보험사는 데이터베이스 사용료, 서버 이중화(혹시 장애가 나도 멈추지 않게 똑같은 시스템을 하나 더 두는 것) 비용, 그리고 오래된 시스템을 계속 고쳐가며 유지하는 비용이 큽니다. 실제로 Wipro라는 컨설팅 회사 조사에 따르면 보험사들은 IT 예산의 절반 이상을 새로운 걸 만드는 데가 아니라 기존 시스템을 유지하는 데 쓴다고 합니다.</a:t>
            </a:r>
            <a:endParaRPr lang="ko-KR" dirty="0"/>
          </a:p>
          <a:p>
            <a:r>
              <a:rPr lang="ko-KR" dirty="0"/>
              <a:t>저희는 블록체인 자체가 데이터베이스 역할을 하고 여러 컴퓨터에 똑같은 기록이 나눠서 저장되기 때문에, 별도의 이중화 투자가 필요 없고 상용 소프트웨어 라이선스 비용도 들지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보험료는 보통 매달 자동으로 카드나 계좌에서 빠져나가는데, 이 과정에서 카드사, 카드 결제를 중계해주는 'VAN사', 그리고 계좌 이체를 중계하는 은행까지 여러 단계에서 수수료를 떼어갑니다.</a:t>
            </a:r>
            <a:endParaRPr lang="ko-KR" dirty="0"/>
          </a:p>
          <a:p>
            <a:r>
              <a:rPr lang="ko-KR" dirty="0"/>
              <a:t>저희처럼 블록체인 스마트컨트랙트로 자동 결제를 하면 이런 중간 단계를 아예 거치지 않기 때문에, 카드 수수료와 VAN사 수수료는 100% 사라지고 계좌 자동이체 수수료도 거의 다 없어집니다.</a:t>
            </a:r>
            <a:endParaRPr lang="ko-KR" dirty="0"/>
          </a:p>
          <a:p>
            <a:r>
              <a:rPr lang="ko-KR" dirty="0"/>
              <a:t>예를 들어 가입자가 만 명이고 다들 매달 자동이체를 한다고 가정하면, 1년에 약 4,800만원 정도를 수수료로만 아낄 수 있다는 계산이 나옵니다.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가입할 때 설계사님을 통하면, 보험사는 그 설계사에게 '모집수수료'를 지급합니다. 올해 7월부터 시행된 금융당국 규정에 따르면 이 수수료는 1년차 기준으로 월 보험료의 최대 12배(1200%)까지 지급될 수 있습니다. 예를 들어 월 3만원짜리 보험이면 설계사에게 최대 36만원까지 나갈 수 있습니다.</a:t>
            </a:r>
            <a:endParaRPr lang="ko-KR" dirty="0"/>
          </a:p>
          <a:p>
            <a:r>
              <a:rPr lang="ko-KR" dirty="0"/>
              <a:t>저희는 고객이 블록체인 위에서 직접 청약하고 전자서명까지 끝내는 구조라서 이 설계사 수수료 자체가 발생하지 않습니다.</a:t>
            </a:r>
            <a:endParaRPr lang="ko-KR" dirty="0"/>
          </a:p>
          <a:p>
            <a:r>
              <a:rPr lang="ko-KR" dirty="0"/>
              <a:t>다만 설계사가 원래 해주던 상품 설명 의무나 불완전판매 방지 역할은 저희가 AI 상담과 전자서명 화면으로 별도로 보완해야 한다는 점도 솔직히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 비용 절감과 새로운 수익원을 각각 따로 보여드렸는데, 이번엔 그 둘을 합쳐서 일반 보험사와 전체적으로 비교해 보겠습니다.</a:t>
            </a:r>
            <a:endParaRPr lang="ko-KR" dirty="0"/>
          </a:p>
          <a:p>
            <a:r>
              <a:rPr lang="ko-KR" dirty="0"/>
              <a:t>보험사의 수익성을 가장 잘 보여주는 지표가 손해율(받은 보험료 대비 지급한 보험금 비율)과 사업비율(보험료 대비 운영비 비율)을 더한 합산비율인데, 이게 100%를 넘으면 보험 영업 자체는 적자라는 뜻입니다. 손해율은 상품마다 워낙 달라서 공정한 비교를 위해 양쪽 모두 똑같이 55%로 가정했고, 실제 차이는 사업비율에서만 나도록 설계했습니다.</a:t>
            </a:r>
            <a:endParaRPr lang="ko-KR" dirty="0"/>
          </a:p>
          <a:p>
            <a:r>
              <a:rPr lang="ko-KR" dirty="0"/>
              <a:t>일반 보장성보험은 설계사 수수료 등으로 사업비율이 보통 20% 이상인데, 저희는 자동화 덕분에 가입자가 만 명 정도로 늘어난 단계에서 사업비율이 14%까지 낮아지고, 그 결과 합산비율도 75%에서 69%로 낮아집니다. 보험료 30억원 기준으로 환산하면 사업비만 약 1억 8천만원을 아끼는 셈입니다. 여기에 더해 일반 보험사는 보험료 마진이 사실상 유일한 수익원이지만, 저희는 B2B 라이선스나 건강검진센터 제휴 같은 수익원이 5가지나 동시에 쌓이기 때문에, 실제 수익성 개선 폭은 이 숫자보다 더 클 것으로 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3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lstStyle>
            <a:lvl1pPr algn="l" indent="0" marL="0">
              <a:buNone/>
              <a:defRPr lang="en-US" sz="1800" dirty="0">
                <a:solidFill>
                  <a:srgbClr val="F1E4C4"/>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4" name="Text 0"/>
          <p:cNvSpPr txBox="1"/>
          <p:nvPr/>
        </p:nvSpPr>
        <p:spPr>
          <a:xfrm>
            <a:off x="822960" y="502920"/>
            <a:ext cx="3657600" cy="365760"/>
          </a:xfrm>
          <a:prstGeom prst="rect">
            <a:avLst/>
          </a:prstGeom>
          <a:noFill/>
          <a:ln/>
        </p:spPr>
        <p:txBody>
          <a:bodyPr wrap="square" lIns="0" tIns="0" rIns="0" bIns="0" rtlCol="0" anchor="ctr"/>
          <a:lstStyle/>
          <a:p>
            <a:pPr indent="0" marL="0">
              <a:buNone/>
            </a:pPr>
            <a:r>
              <a:rPr lang="en-US" sz="1200" b="1" spc="200" kern="0" dirty="0">
                <a:solidFill>
                  <a:srgbClr val="B8862F"/>
                </a:solidFill>
                <a:latin typeface="Calibri" pitchFamily="34" charset="0"/>
                <a:ea typeface="Calibri" pitchFamily="34" charset="-122"/>
                <a:cs typeface="Calibri" pitchFamily="34" charset="-120"/>
              </a:rPr>
              <a:t>InsureChain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000" spc="150" kern="0" dirty="0">
                <a:solidFill>
                  <a:srgbClr val="5A5E68"/>
                </a:solidFill>
                <a:latin typeface="Calibri" pitchFamily="34" charset="0"/>
                <a:ea typeface="Calibri" pitchFamily="34" charset="-122"/>
                <a:cs typeface="Calibri" pitchFamily="34" charset="-120"/>
              </a:rPr>
              <a:t>INSURECHAIN · INVESTOR PITCH</a:t>
            </a:r>
            <a:endParaRPr lang="en-US" sz="1000" dirty="0"/>
          </a:p>
        </p:txBody>
      </p:sp>
      <p:sp>
        <p:nvSpPr>
          <p:cNvPr id="3" name="Text 1"/>
          <p:cNvSpPr/>
          <p:nvPr>
            <p:ph idx="101" type="title" hasCustomPrompt="1"/>
          </p:nvPr>
        </p:nvSpPr>
        <p:spPr>
          <a:xfrm>
            <a:off x="548640" y="566928"/>
            <a:ext cx="11064240" cy="777240"/>
          </a:xfrm>
          <a:prstGeom prst="rect">
            <a:avLst/>
          </a:prstGeom>
          <a:noFill/>
          <a:ln/>
        </p:spPr>
        <p:txBody>
          <a:bodyPr wrap="square" rtlCol="0"/>
          <a:lstStyle>
            <a:lvl1pPr algn="l" indent="0" marL="0">
              <a:buNone/>
              <a:defRPr lang="en-US" sz="3000" b="1" dirty="0">
                <a:solidFill>
                  <a:srgbClr val="16233F"/>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보험상담 AI Agent × 블록체인 인슈어테크</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상담·가입심사·보험금청구 전 과정을 AI Agent가 돕고, </a:t>
            </a:r>
            <a:pPr algn="l" indent="0" marL="0">
              <a:buNone/>
            </a:pPr>
            <a:r>
              <a:rPr lang="en-US" sz="1800" b="1" dirty="0">
                <a:solidFill>
                  <a:srgbClr val="B8862F"/>
                </a:solidFill>
                <a:latin typeface="Calibri" pitchFamily="34" charset="0"/>
                <a:ea typeface="Calibri" pitchFamily="34" charset="-122"/>
                <a:cs typeface="Calibri" pitchFamily="34" charset="-120"/>
              </a:rPr>
              <a:t>완전자동 스마트컨트랙트 집행</a:t>
            </a:r>
            <a:pPr algn="l" indent="0" marL="0">
              <a:buNone/>
            </a:pPr>
            <a:r>
              <a:rPr lang="en-US" sz="1800" dirty="0">
                <a:solidFill>
                  <a:srgbClr val="F1E4C4"/>
                </a:solidFill>
                <a:latin typeface="Calibri" pitchFamily="34" charset="0"/>
                <a:ea typeface="Calibri" pitchFamily="34" charset="-122"/>
                <a:cs typeface="Calibri" pitchFamily="34" charset="-120"/>
              </a:rPr>
              <a:t>으로 손해율까지 관리하는 사업 모델입니다.</a:t>
            </a:r>
            <a:endParaRPr lang="en-US" sz="1800" dirty="0"/>
          </a:p>
        </p:txBody>
      </p:sp>
      <p:sp>
        <p:nvSpPr>
          <p:cNvPr id="4" name="Text 2"/>
          <p:cNvSpPr txBox="1"/>
          <p:nvPr/>
        </p:nvSpPr>
        <p:spPr>
          <a:xfrm>
            <a:off x="822960" y="6126480"/>
            <a:ext cx="7315200" cy="365760"/>
          </a:xfrm>
          <a:prstGeom prst="rect">
            <a:avLst/>
          </a:prstGeom>
          <a:noFill/>
          <a:ln/>
        </p:spPr>
        <p:txBody>
          <a:bodyPr wrap="square" lIns="0" tIns="0" rIns="0" bIns="0" rtlCol="0" anchor="ctr"/>
          <a:lstStyle/>
          <a:p>
            <a:pPr indent="0" marL="0">
              <a:buNone/>
            </a:pPr>
            <a:r>
              <a:rPr lang="en-US" sz="1200" dirty="0">
                <a:solidFill>
                  <a:srgbClr val="DCD3BF"/>
                </a:solidFill>
                <a:latin typeface="Calibri" pitchFamily="34" charset="0"/>
                <a:ea typeface="Calibri" pitchFamily="34" charset="-122"/>
                <a:cs typeface="Calibri" pitchFamily="34" charset="-120"/>
              </a:rPr>
              <a:t>INVESTOR / 정부지원사업 피칭 자료  ·  2026</a:t>
            </a:r>
            <a:endParaRPr lang="en-US" sz="1200" dirty="0"/>
          </a:p>
        </p:txBody>
      </p:sp>
      <p:sp>
        <p:nvSpPr>
          <p:cNvPr id="5" name="Text 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 · 손해율 = 보험료 대비 지급 보험금 비율</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상담·가입·청구 과정의 세 가지 비효율</a:t>
            </a:r>
            <a:endParaRPr lang="en-US" sz="3000" dirty="0"/>
          </a:p>
        </p:txBody>
      </p:sp>
      <p:sp>
        <p:nvSpPr>
          <p:cNvPr id="3" name="Shape 1"/>
          <p:cNvSpPr/>
          <p:nvPr/>
        </p:nvSpPr>
        <p:spPr>
          <a:xfrm>
            <a:off x="54864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868680" y="2148840"/>
            <a:ext cx="640080" cy="640080"/>
          </a:xfrm>
          <a:prstGeom prst="ellipse">
            <a:avLst/>
          </a:prstGeom>
          <a:solidFill>
            <a:srgbClr val="B8862F"/>
          </a:solidFill>
          <a:ln/>
        </p:spPr>
      </p:sp>
      <p:sp>
        <p:nvSpPr>
          <p:cNvPr id="5" name="Text 3"/>
          <p:cNvSpPr txBox="1"/>
          <p:nvPr/>
        </p:nvSpPr>
        <p:spPr>
          <a:xfrm>
            <a:off x="86868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6" name="Text 4"/>
          <p:cNvSpPr txBox="1"/>
          <p:nvPr/>
        </p:nvSpPr>
        <p:spPr>
          <a:xfrm>
            <a:off x="82296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상담의 획일성과 인건비</a:t>
            </a:r>
            <a:endParaRPr lang="en-US" sz="1600" dirty="0"/>
          </a:p>
        </p:txBody>
      </p:sp>
      <p:sp>
        <p:nvSpPr>
          <p:cNvPr id="7" name="Text 5"/>
          <p:cNvSpPr txBox="1"/>
          <p:nvPr/>
        </p:nvSpPr>
        <p:spPr>
          <a:xfrm>
            <a:off x="82296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복잡한 특약·조건, 영업점·콜센터 의존 — 1:1 맞춤 상담은 설계사 인건비에 비례해 비쌈</a:t>
            </a:r>
            <a:endParaRPr lang="en-US" sz="1300" dirty="0"/>
          </a:p>
        </p:txBody>
      </p:sp>
      <p:sp>
        <p:nvSpPr>
          <p:cNvPr id="8" name="Shape 6"/>
          <p:cNvSpPr/>
          <p:nvPr/>
        </p:nvSpPr>
        <p:spPr>
          <a:xfrm>
            <a:off x="434340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663440" y="2148840"/>
            <a:ext cx="640080" cy="640080"/>
          </a:xfrm>
          <a:prstGeom prst="ellipse">
            <a:avLst/>
          </a:prstGeom>
          <a:solidFill>
            <a:srgbClr val="B8862F"/>
          </a:solidFill>
          <a:ln/>
        </p:spPr>
      </p:sp>
      <p:sp>
        <p:nvSpPr>
          <p:cNvPr id="10" name="Text 8"/>
          <p:cNvSpPr txBox="1"/>
          <p:nvPr/>
        </p:nvSpPr>
        <p:spPr>
          <a:xfrm>
            <a:off x="466344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1" name="Text 9"/>
          <p:cNvSpPr txBox="1"/>
          <p:nvPr/>
        </p:nvSpPr>
        <p:spPr>
          <a:xfrm>
            <a:off x="461772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청구·지급의 불투명성·지연</a:t>
            </a:r>
            <a:endParaRPr lang="en-US" sz="1600" dirty="0"/>
          </a:p>
        </p:txBody>
      </p:sp>
      <p:sp>
        <p:nvSpPr>
          <p:cNvPr id="12" name="Text 10"/>
          <p:cNvSpPr txBox="1"/>
          <p:nvPr/>
        </p:nvSpPr>
        <p:spPr>
          <a:xfrm>
            <a:off x="461772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서류 기반 수작업 심사, 고객은 진행 상황을 알 수 없음</a:t>
            </a:r>
            <a:endParaRPr lang="en-US" sz="1300" dirty="0"/>
          </a:p>
        </p:txBody>
      </p:sp>
      <p:sp>
        <p:nvSpPr>
          <p:cNvPr id="13" name="Shape 11"/>
          <p:cNvSpPr/>
          <p:nvPr/>
        </p:nvSpPr>
        <p:spPr>
          <a:xfrm>
            <a:off x="813816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458200" y="2148840"/>
            <a:ext cx="640080" cy="640080"/>
          </a:xfrm>
          <a:prstGeom prst="ellipse">
            <a:avLst/>
          </a:prstGeom>
          <a:solidFill>
            <a:srgbClr val="B8862F"/>
          </a:solidFill>
          <a:ln/>
        </p:spPr>
      </p:sp>
      <p:sp>
        <p:nvSpPr>
          <p:cNvPr id="15" name="Text 13"/>
          <p:cNvSpPr txBox="1"/>
          <p:nvPr/>
        </p:nvSpPr>
        <p:spPr>
          <a:xfrm>
            <a:off x="845820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6" name="Text 14"/>
          <p:cNvSpPr txBox="1"/>
          <p:nvPr/>
        </p:nvSpPr>
        <p:spPr>
          <a:xfrm>
            <a:off x="841248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가입 후 사후관리 공백</a:t>
            </a:r>
            <a:endParaRPr lang="en-US" sz="1600" dirty="0"/>
          </a:p>
        </p:txBody>
      </p:sp>
      <p:sp>
        <p:nvSpPr>
          <p:cNvPr id="17" name="Text 15"/>
          <p:cNvSpPr txBox="1"/>
          <p:nvPr/>
        </p:nvSpPr>
        <p:spPr>
          <a:xfrm>
            <a:off x="841248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건강 변화·미납·만기 알림이 사후적, 보장 공백을 고객이 스스로 파악 불가</a:t>
            </a:r>
            <a:endParaRPr lang="en-US" sz="1300" dirty="0"/>
          </a:p>
        </p:txBody>
      </p:sp>
      <p:sp>
        <p:nvSpPr>
          <p:cNvPr id="18" name="Text 16"/>
          <p:cNvSpPr txBox="1"/>
          <p:nvPr/>
        </p:nvSpPr>
        <p:spPr>
          <a:xfrm>
            <a:off x="548640" y="5394960"/>
            <a:ext cx="11064240" cy="822960"/>
          </a:xfrm>
          <a:prstGeom prst="rect">
            <a:avLst/>
          </a:prstGeom>
          <a:noFill/>
          <a:ln/>
        </p:spPr>
        <p:txBody>
          <a:bodyPr wrap="square" lIns="0" tIns="0" rIns="0" bIns="0" rtlCol="0" anchor="ctr"/>
          <a:lstStyle/>
          <a:p>
            <a:pPr indent="0" marL="0">
              <a:buNone/>
            </a:pPr>
            <a:r>
              <a:rPr lang="en-US" sz="1400" i="1" dirty="0">
                <a:solidFill>
                  <a:srgbClr val="1F7A6C"/>
                </a:solidFill>
                <a:latin typeface="Calibri" pitchFamily="34" charset="0"/>
                <a:ea typeface="Calibri" pitchFamily="34" charset="-122"/>
                <a:cs typeface="Calibri" pitchFamily="34" charset="-120"/>
              </a:rPr>
              <a:t>국내 손보사들이 2025~2026년 지수형(파라메트릭) 보험을 잇달아 상용화하며 수요는 이미 검증됨 — 다만 상담은 여전히 사람 의존, 자동집행 구조는 아직 없음</a:t>
            </a:r>
            <a:endParaRPr lang="en-US" sz="1400" dirty="0"/>
          </a:p>
        </p:txBody>
      </p:sp>
      <p:sp>
        <p:nvSpPr>
          <p:cNvPr id="19" name="Text 17"/>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보험상담 AI Agent — 저축성·보장성 상품 비교·추천</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나이·예산·가족상황·건강상태·기존보험을 직접 묻고, 보험다모아 실시간 공시 데이터를 기준으로 8개 보장영역을 종합 제안합니다</a:t>
            </a:r>
            <a:endParaRPr lang="en-US" sz="1400" dirty="0"/>
          </a:p>
        </p:txBody>
      </p:sp>
      <p:sp>
        <p:nvSpPr>
          <p:cNvPr id="4" name="Shape 2"/>
          <p:cNvSpPr/>
          <p:nvPr/>
        </p:nvSpPr>
        <p:spPr>
          <a:xfrm>
            <a:off x="822960" y="1920240"/>
            <a:ext cx="3200400" cy="1005840"/>
          </a:xfrm>
          <a:prstGeom prst="roundRect">
            <a:avLst>
              <a:gd name="adj" fmla="val 9091"/>
            </a:avLst>
          </a:prstGeom>
          <a:solidFill>
            <a:srgbClr val="16233F"/>
          </a:solidFill>
          <a:ln/>
        </p:spPr>
      </p:sp>
      <p:sp>
        <p:nvSpPr>
          <p:cNvPr id="5" name="Text 3"/>
          <p:cNvSpPr txBox="1"/>
          <p:nvPr/>
        </p:nvSpPr>
        <p:spPr>
          <a:xfrm>
            <a:off x="82296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고객 프로필 수집</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(나이·예산·가족·건강)</a:t>
            </a:r>
            <a:endParaRPr lang="en-US" sz="1400" dirty="0"/>
          </a:p>
        </p:txBody>
      </p:sp>
      <p:sp>
        <p:nvSpPr>
          <p:cNvPr id="6" name="Text 4"/>
          <p:cNvSpPr txBox="1"/>
          <p:nvPr/>
        </p:nvSpPr>
        <p:spPr>
          <a:xfrm>
            <a:off x="402336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920240"/>
            <a:ext cx="3200400" cy="1005840"/>
          </a:xfrm>
          <a:prstGeom prst="roundRect">
            <a:avLst>
              <a:gd name="adj" fmla="val 9091"/>
            </a:avLst>
          </a:prstGeom>
          <a:solidFill>
            <a:srgbClr val="16233F"/>
          </a:solidFill>
          <a:ln/>
        </p:spPr>
      </p:sp>
      <p:sp>
        <p:nvSpPr>
          <p:cNvPr id="8" name="Text 6"/>
          <p:cNvSpPr txBox="1"/>
          <p:nvPr/>
        </p:nvSpPr>
        <p:spPr>
          <a:xfrm>
            <a:off x="452628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추천 서브에이전트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(get_personalized_recommendation)</a:t>
            </a:r>
            <a:endParaRPr lang="en-US" sz="1400" dirty="0"/>
          </a:p>
        </p:txBody>
      </p:sp>
      <p:sp>
        <p:nvSpPr>
          <p:cNvPr id="9" name="Text 7"/>
          <p:cNvSpPr txBox="1"/>
          <p:nvPr/>
        </p:nvSpPr>
        <p:spPr>
          <a:xfrm>
            <a:off x="772668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920240"/>
            <a:ext cx="3200400" cy="1005840"/>
          </a:xfrm>
          <a:prstGeom prst="roundRect">
            <a:avLst>
              <a:gd name="adj" fmla="val 9091"/>
            </a:avLst>
          </a:prstGeom>
          <a:solidFill>
            <a:srgbClr val="16233F"/>
          </a:solidFill>
          <a:ln/>
        </p:spPr>
      </p:sp>
      <p:sp>
        <p:nvSpPr>
          <p:cNvPr id="11" name="Text 9"/>
          <p:cNvSpPr txBox="1"/>
          <p:nvPr/>
        </p:nvSpPr>
        <p:spPr>
          <a:xfrm>
            <a:off x="822960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보험다모아 실시간</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비교표 제시</a:t>
            </a:r>
            <a:endParaRPr lang="en-US" sz="1400" dirty="0"/>
          </a:p>
        </p:txBody>
      </p:sp>
      <p:sp>
        <p:nvSpPr>
          <p:cNvPr id="12" name="Shape 10"/>
          <p:cNvSpPr/>
          <p:nvPr/>
        </p:nvSpPr>
        <p:spPr>
          <a:xfrm>
            <a:off x="54864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보장성보험</a:t>
            </a:r>
            <a:endParaRPr lang="en-US" sz="1450" dirty="0"/>
          </a:p>
        </p:txBody>
      </p:sp>
      <p:sp>
        <p:nvSpPr>
          <p:cNvPr id="14" name="Text 12"/>
          <p:cNvSpPr txBox="1"/>
          <p:nvPr/>
        </p:nvSpPr>
        <p:spPr>
          <a:xfrm>
            <a:off x="82296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종신·정기보험(사망보장), 실손·암·간병·치매보험(질병 리스크) — 가족상황·기존보장을 고려해 과부족 없이 설계</a:t>
            </a:r>
            <a:endParaRPr lang="en-US" sz="1200" dirty="0"/>
          </a:p>
        </p:txBody>
      </p:sp>
      <p:sp>
        <p:nvSpPr>
          <p:cNvPr id="15" name="Shape 13"/>
          <p:cNvSpPr/>
          <p:nvPr/>
        </p:nvSpPr>
        <p:spPr>
          <a:xfrm>
            <a:off x="434340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저축성보험</a:t>
            </a:r>
            <a:endParaRPr lang="en-US" sz="1450" dirty="0"/>
          </a:p>
        </p:txBody>
      </p:sp>
      <p:sp>
        <p:nvSpPr>
          <p:cNvPr id="17" name="Text 15"/>
          <p:cNvSpPr txBox="1"/>
          <p:nvPr/>
        </p:nvSpPr>
        <p:spPr>
          <a:xfrm>
            <a:off x="461772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연금보험·변액종신(노후자금·목돈마련) — 납입구조·수익구조를 공시 데이터 기준으로 비교</a:t>
            </a:r>
            <a:endParaRPr lang="en-US" sz="1200" dirty="0"/>
          </a:p>
        </p:txBody>
      </p:sp>
      <p:sp>
        <p:nvSpPr>
          <p:cNvPr id="18" name="Shape 16"/>
          <p:cNvSpPr/>
          <p:nvPr/>
        </p:nvSpPr>
        <p:spPr>
          <a:xfrm>
            <a:off x="813816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기존 보험 인지형 추천</a:t>
            </a:r>
            <a:endParaRPr lang="en-US" sz="1450" dirty="0"/>
          </a:p>
        </p:txBody>
      </p:sp>
      <p:sp>
        <p:nvSpPr>
          <p:cNvPr id="20" name="Text 18"/>
          <p:cNvSpPr txBox="1"/>
          <p:nvPr/>
        </p:nvSpPr>
        <p:spPr>
          <a:xfrm>
            <a:off x="841248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existing_insurance 파라미터로 보유 보장을 먼저 파악 — 중복 가입·보장 공백을 구조적으로 피함</a:t>
            </a:r>
            <a:endParaRPr lang="en-US" sz="120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이 추천 엔진이 이미 B2B API로 외부(GA·핀테크사)에 재판매되는 핵심 자산입니다 — 상담은 상품일 뿐 아니라 매출원입니다</a:t>
            </a:r>
            <a:endParaRPr lang="en-US" sz="130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보장성보험 = 사망·질병 등 위험 발생 시 보장금을 지급하는 보험(만기환급 없음이 일반적) · 저축성보험 = 노후자금·목돈마련 목적으로 납입금 대비 환급·수익을 기대하는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리밸런싱 — 건강검진 데이터로 보장 공백을 자동 탐지 (CareLink)</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건강 상태가 바뀌면 필요한 보장도 바뀝니다 — 매번 설계사를 거치지 않고 AI가 즉시 재설계를 제안합니다</a:t>
            </a:r>
            <a:endParaRPr lang="en-US" sz="1400" dirty="0"/>
          </a:p>
        </p:txBody>
      </p:sp>
      <p:sp>
        <p:nvSpPr>
          <p:cNvPr id="4" name="Shape 2"/>
          <p:cNvSpPr/>
          <p:nvPr/>
        </p:nvSpPr>
        <p:spPr>
          <a:xfrm>
            <a:off x="822960" y="1828800"/>
            <a:ext cx="3200400" cy="1005840"/>
          </a:xfrm>
          <a:prstGeom prst="roundRect">
            <a:avLst>
              <a:gd name="adj" fmla="val 9091"/>
            </a:avLst>
          </a:prstGeom>
          <a:solidFill>
            <a:srgbClr val="16233F"/>
          </a:solidFill>
          <a:ln/>
        </p:spPr>
      </p:sp>
      <p:sp>
        <p:nvSpPr>
          <p:cNvPr id="5" name="Text 3"/>
          <p:cNvSpPr txBox="1"/>
          <p:nvPr/>
        </p:nvSpPr>
        <p:spPr>
          <a:xfrm>
            <a:off x="82296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건강검진 결과 입력</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(PDF·캡처·수기)</a:t>
            </a:r>
            <a:endParaRPr lang="en-US" sz="1400" dirty="0"/>
          </a:p>
        </p:txBody>
      </p:sp>
      <p:sp>
        <p:nvSpPr>
          <p:cNvPr id="6" name="Text 4"/>
          <p:cNvSpPr txBox="1"/>
          <p:nvPr/>
        </p:nvSpPr>
        <p:spPr>
          <a:xfrm>
            <a:off x="402336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28800"/>
            <a:ext cx="3200400" cy="1005840"/>
          </a:xfrm>
          <a:prstGeom prst="roundRect">
            <a:avLst>
              <a:gd name="adj" fmla="val 9091"/>
            </a:avLst>
          </a:prstGeom>
          <a:solidFill>
            <a:srgbClr val="16233F"/>
          </a:solidFill>
          <a:ln/>
        </p:spPr>
      </p:sp>
      <p:sp>
        <p:nvSpPr>
          <p:cNvPr id="8" name="Text 6"/>
          <p:cNvSpPr txBox="1"/>
          <p:nvPr/>
        </p:nvSpPr>
        <p:spPr>
          <a:xfrm>
            <a:off x="452628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위험예측 모델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(로지스틱, AUC≈0.78)</a:t>
            </a:r>
            <a:endParaRPr lang="en-US" sz="1400" dirty="0"/>
          </a:p>
        </p:txBody>
      </p:sp>
      <p:sp>
        <p:nvSpPr>
          <p:cNvPr id="9" name="Text 7"/>
          <p:cNvSpPr txBox="1"/>
          <p:nvPr/>
        </p:nvSpPr>
        <p:spPr>
          <a:xfrm>
            <a:off x="772668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28800"/>
            <a:ext cx="3200400" cy="1005840"/>
          </a:xfrm>
          <a:prstGeom prst="roundRect">
            <a:avLst>
              <a:gd name="adj" fmla="val 9091"/>
            </a:avLst>
          </a:prstGeom>
          <a:solidFill>
            <a:srgbClr val="16233F"/>
          </a:solidFill>
          <a:ln/>
        </p:spPr>
      </p:sp>
      <p:sp>
        <p:nvSpPr>
          <p:cNvPr id="11" name="Text 9"/>
          <p:cNvSpPr txBox="1"/>
          <p:nvPr/>
        </p:nvSpPr>
        <p:spPr>
          <a:xfrm>
            <a:off x="822960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보유 보장 대비 공백</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 실제 상품 재추천</a:t>
            </a:r>
            <a:endParaRPr lang="en-US" sz="1400" dirty="0"/>
          </a:p>
        </p:txBody>
      </p:sp>
      <p:sp>
        <p:nvSpPr>
          <p:cNvPr id="12" name="Shape 10"/>
          <p:cNvSpPr/>
          <p:nvPr/>
        </p:nvSpPr>
        <p:spPr>
          <a:xfrm>
            <a:off x="54864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손쉬운 데이터 연동</a:t>
            </a:r>
            <a:endParaRPr lang="en-US" sz="1400" dirty="0"/>
          </a:p>
        </p:txBody>
      </p:sp>
      <p:sp>
        <p:nvSpPr>
          <p:cNvPr id="14" name="Text 12"/>
          <p:cNvSpPr txBox="1"/>
          <p:nvPr/>
        </p:nvSpPr>
        <p:spPr>
          <a:xfrm>
            <a:off x="82296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국민건강보험공단 앱 4단계 가이드 + PDF 업로드/붙여넣기 자동 파싱 — 수기 입력 부담을 최소화</a:t>
            </a:r>
            <a:endParaRPr lang="en-US" sz="1150" dirty="0"/>
          </a:p>
        </p:txBody>
      </p:sp>
      <p:sp>
        <p:nvSpPr>
          <p:cNvPr id="15" name="Shape 13"/>
          <p:cNvSpPr/>
          <p:nvPr/>
        </p:nvSpPr>
        <p:spPr>
          <a:xfrm>
            <a:off x="434340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순수 파이썬 추론</a:t>
            </a:r>
            <a:endParaRPr lang="en-US" sz="1400" dirty="0"/>
          </a:p>
        </p:txBody>
      </p:sp>
      <p:sp>
        <p:nvSpPr>
          <p:cNvPr id="17" name="Text 15"/>
          <p:cNvSpPr txBox="1"/>
          <p:nvPr/>
        </p:nvSpPr>
        <p:spPr>
          <a:xfrm>
            <a:off x="461772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당뇨 등 만성질환 위험을 별도 ML 인프라 의존 없이 로지스틱 모델로 즉시 계산 — 서버비용 최소화</a:t>
            </a:r>
            <a:endParaRPr lang="en-US" sz="1150" dirty="0"/>
          </a:p>
        </p:txBody>
      </p:sp>
      <p:sp>
        <p:nvSpPr>
          <p:cNvPr id="18" name="Shape 16"/>
          <p:cNvSpPr/>
          <p:nvPr/>
        </p:nvSpPr>
        <p:spPr>
          <a:xfrm>
            <a:off x="813816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DIOBIO 웰니스 연동</a:t>
            </a:r>
            <a:endParaRPr lang="en-US" sz="1400" dirty="0"/>
          </a:p>
        </p:txBody>
      </p:sp>
      <p:sp>
        <p:nvSpPr>
          <p:cNvPr id="20" name="Text 18"/>
          <p:cNvSpPr txBox="1"/>
          <p:nvPr/>
        </p:nvSpPr>
        <p:spPr>
          <a:xfrm>
            <a:off x="841248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블록체인 치아보험 가입자는 건강개선 체크인 시 실제 온체인 보험료가 즉시 할인(최대 20%) — 리밸런싱이 보험료에 바로 반영되는 유일한 사례</a:t>
            </a:r>
            <a:endParaRPr lang="en-US" sz="115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250" i="1" dirty="0">
                <a:solidFill>
                  <a:srgbClr val="1F7A6C"/>
                </a:solidFill>
                <a:latin typeface="Calibri" pitchFamily="34" charset="0"/>
                <a:ea typeface="Calibri" pitchFamily="34" charset="-122"/>
                <a:cs typeface="Calibri" pitchFamily="34" charset="-120"/>
              </a:rPr>
              <a:t>⚠️ 윤리 원칙 — 건강 데이터는 예방·보장 강화 목적에만 사용하며, 가입 거절이나 불이익의 근거로 쓰지 않습니다</a:t>
            </a:r>
            <a:endParaRPr lang="en-US" sz="125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AUC = 예측모델의 판별력을 나타내는 지표(1에 가까울수록 정확, 0.5는 무작위 수준) · 웰니스 체크인 = 건강 개선을 인증해 보험료 할인을 받는 절차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부수업무 — 건강데이터로 보험을 넘어선 금융포용</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같은 건강검진 데이터를 신용평가·대출심사에도 재사용해, 상담 밖 영역까지 고객 접점을 넓힙니다</a:t>
            </a:r>
            <a:endParaRPr lang="en-US" sz="1400" dirty="0"/>
          </a:p>
        </p:txBody>
      </p:sp>
      <p:sp>
        <p:nvSpPr>
          <p:cNvPr id="4" name="Shape 2"/>
          <p:cNvSpPr/>
          <p:nvPr/>
        </p:nvSpPr>
        <p:spPr>
          <a:xfrm>
            <a:off x="54864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23160"/>
            <a:ext cx="640080" cy="640080"/>
          </a:xfrm>
          <a:prstGeom prst="ellipse">
            <a:avLst/>
          </a:prstGeom>
          <a:solidFill>
            <a:srgbClr val="B8862F"/>
          </a:solidFill>
          <a:ln/>
        </p:spPr>
      </p:sp>
      <p:sp>
        <p:nvSpPr>
          <p:cNvPr id="6" name="Text 4"/>
          <p:cNvSpPr txBox="1"/>
          <p:nvPr/>
        </p:nvSpPr>
        <p:spPr>
          <a:xfrm>
            <a:off x="86868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신용점수 포트폴리오</a:t>
            </a:r>
            <a:endParaRPr lang="en-US" sz="1450" dirty="0"/>
          </a:p>
        </p:txBody>
      </p:sp>
      <p:sp>
        <p:nvSpPr>
          <p:cNvPr id="8" name="Text 6"/>
          <p:cNvSpPr txBox="1"/>
          <p:nvPr/>
        </p:nvSpPr>
        <p:spPr>
          <a:xfrm>
            <a:off x="82296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NICE·KCB 점수를 5등급 모델(최우량~불량)로 통합 분석 — 신용관리 상담의 진입점</a:t>
            </a:r>
            <a:endParaRPr lang="en-US" sz="1150" dirty="0"/>
          </a:p>
        </p:txBody>
      </p:sp>
      <p:sp>
        <p:nvSpPr>
          <p:cNvPr id="9" name="Shape 7"/>
          <p:cNvSpPr/>
          <p:nvPr/>
        </p:nvSpPr>
        <p:spPr>
          <a:xfrm>
            <a:off x="434340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23160"/>
            <a:ext cx="640080" cy="640080"/>
          </a:xfrm>
          <a:prstGeom prst="ellipse">
            <a:avLst/>
          </a:prstGeom>
          <a:solidFill>
            <a:srgbClr val="B8862F"/>
          </a:solidFill>
          <a:ln/>
        </p:spPr>
      </p:sp>
      <p:sp>
        <p:nvSpPr>
          <p:cNvPr id="11" name="Text 9"/>
          <p:cNvSpPr txBox="1"/>
          <p:nvPr/>
        </p:nvSpPr>
        <p:spPr>
          <a:xfrm>
            <a:off x="466344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Health-Credit 대안 신용평가</a:t>
            </a:r>
            <a:endParaRPr lang="en-US" sz="1450" dirty="0"/>
          </a:p>
        </p:txBody>
      </p:sp>
      <p:sp>
        <p:nvSpPr>
          <p:cNvPr id="13" name="Text 11"/>
          <p:cNvSpPr txBox="1"/>
          <p:nvPr/>
        </p:nvSpPr>
        <p:spPr>
          <a:xfrm>
            <a:off x="461772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건강검진 성실도·바이탈 안정도·라이프로그로 씬파일러 신용점수 가산 — 금융 이력 없는 고객도 대출 심사 가능</a:t>
            </a:r>
            <a:endParaRPr lang="en-US" sz="1150" dirty="0"/>
          </a:p>
        </p:txBody>
      </p:sp>
      <p:sp>
        <p:nvSpPr>
          <p:cNvPr id="14" name="Shape 12"/>
          <p:cNvSpPr/>
          <p:nvPr/>
        </p:nvSpPr>
        <p:spPr>
          <a:xfrm>
            <a:off x="813816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23160"/>
            <a:ext cx="640080" cy="640080"/>
          </a:xfrm>
          <a:prstGeom prst="ellipse">
            <a:avLst/>
          </a:prstGeom>
          <a:solidFill>
            <a:srgbClr val="B8862F"/>
          </a:solidFill>
          <a:ln/>
        </p:spPr>
      </p:sp>
      <p:sp>
        <p:nvSpPr>
          <p:cNvPr id="16" name="Text 14"/>
          <p:cNvSpPr txBox="1"/>
          <p:nvPr/>
        </p:nvSpPr>
        <p:spPr>
          <a:xfrm>
            <a:off x="845820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건강담보대출(HAS)</a:t>
            </a:r>
            <a:endParaRPr lang="en-US" sz="1450" dirty="0"/>
          </a:p>
        </p:txBody>
      </p:sp>
      <p:sp>
        <p:nvSpPr>
          <p:cNvPr id="18" name="Text 16"/>
          <p:cNvSpPr txBox="1"/>
          <p:nvPr/>
        </p:nvSpPr>
        <p:spPr>
          <a:xfrm>
            <a:off x="841248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건강자산점수로 DSR·LTV 동시 초과자도 승인 경로 제시 — 전통 금융이 막은 고객층을 확보</a:t>
            </a:r>
            <a:endParaRPr lang="en-US" sz="1150" dirty="0"/>
          </a:p>
        </p:txBody>
      </p:sp>
      <p:sp>
        <p:nvSpPr>
          <p:cNvPr id="19" name="Text 17"/>
          <p:cNvSpPr txBox="1"/>
          <p:nvPr/>
        </p:nvSpPr>
        <p:spPr>
          <a:xfrm>
            <a:off x="548640" y="5166360"/>
            <a:ext cx="11064240" cy="365760"/>
          </a:xfrm>
          <a:prstGeom prst="rect">
            <a:avLst/>
          </a:prstGeom>
          <a:noFill/>
          <a:ln/>
        </p:spPr>
        <p:txBody>
          <a:bodyPr wrap="square" lIns="0" tIns="0" rIns="0" bIns="0" rtlCol="0" anchor="ctr"/>
          <a:lstStyle/>
          <a:p>
            <a:pPr indent="0" marL="0">
              <a:buNone/>
            </a:pPr>
            <a:r>
              <a:rPr lang="en-US" sz="1200" i="1" dirty="0">
                <a:solidFill>
                  <a:srgbClr val="16233F"/>
                </a:solidFill>
                <a:latin typeface="Calibri" pitchFamily="34" charset="0"/>
                <a:ea typeface="Calibri" pitchFamily="34" charset="-122"/>
                <a:cs typeface="Calibri" pitchFamily="34" charset="-120"/>
              </a:rPr>
              <a:t>⚠️ 윤리 원칙 — 건강 데이터는 신용 가산점으로만 사용, 감점·불이익에는 쓰지 않습니다(건강 취약계층 배제 방지)</a:t>
            </a:r>
            <a:endParaRPr lang="en-US" sz="1200" dirty="0"/>
          </a:p>
        </p:txBody>
      </p:sp>
      <p:sp>
        <p:nvSpPr>
          <p:cNvPr id="20" name="Text 18"/>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보험 판매를 넘어 생애주기 금융 데이터 플랫폼으로 고객을 묶어두는 구조 — 교차판매(cross-sell) 기회와 고객생애가치(LTV)가 함께 늘어납니다</a:t>
            </a:r>
            <a:endParaRPr lang="en-US" sz="130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씬파일러 = 금융거래 이력이 부족해 기존 신용평가를 받기 어려운 사람 · DSR/LTV = 소득 대비 대출상환/주택가격 대비 대출한도 비율(동시 초과 시 기존 대출 전부 거절)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솔루션 — 완전자동 스마트컨트랙트 집행</a:t>
            </a:r>
            <a:endParaRPr lang="en-US" sz="3000" dirty="0"/>
          </a:p>
        </p:txBody>
      </p:sp>
      <p:sp>
        <p:nvSpPr>
          <p:cNvPr id="3" name="Text 1"/>
          <p:cNvSpPr txBox="1"/>
          <p:nvPr/>
        </p:nvSpPr>
        <p:spPr>
          <a:xfrm>
            <a:off x="548640" y="1417320"/>
            <a:ext cx="10972800" cy="457200"/>
          </a:xfrm>
          <a:prstGeom prst="rect">
            <a:avLst/>
          </a:prstGeom>
          <a:noFill/>
          <a:ln/>
        </p:spPr>
        <p:txBody>
          <a:bodyPr wrap="square" lIns="0" tIns="0" rIns="0" bIns="0" rtlCol="0" anchor="ctr"/>
          <a:lstStyle/>
          <a:p>
            <a:pPr indent="0" marL="0">
              <a:buNone/>
            </a:pPr>
            <a:r>
              <a:rPr lang="en-US" sz="1500" dirty="0">
                <a:solidFill>
                  <a:srgbClr val="5A5E68"/>
                </a:solidFill>
                <a:latin typeface="Calibri" pitchFamily="34" charset="0"/>
                <a:ea typeface="Calibri" pitchFamily="34" charset="-122"/>
                <a:cs typeface="Calibri" pitchFamily="34" charset="-120"/>
              </a:rPr>
              <a:t>상담은 여기까지입니다 — 이제 가입심사와 보험금 지급까지, 사람의 심사 개입 없이 조건 충족 시 온체인에서 즉시 집행합니다</a:t>
            </a:r>
            <a:endParaRPr lang="en-US" sz="1500" dirty="0"/>
          </a:p>
        </p:txBody>
      </p:sp>
      <p:sp>
        <p:nvSpPr>
          <p:cNvPr id="4" name="Shape 2"/>
          <p:cNvSpPr/>
          <p:nvPr/>
        </p:nvSpPr>
        <p:spPr>
          <a:xfrm>
            <a:off x="822960" y="2286000"/>
            <a:ext cx="3200400" cy="1188720"/>
          </a:xfrm>
          <a:prstGeom prst="roundRect">
            <a:avLst>
              <a:gd name="adj" fmla="val 7692"/>
            </a:avLst>
          </a:prstGeom>
          <a:solidFill>
            <a:srgbClr val="16233F"/>
          </a:solidFill>
          <a:ln/>
        </p:spPr>
      </p:sp>
      <p:sp>
        <p:nvSpPr>
          <p:cNvPr id="5" name="Text 3"/>
          <p:cNvSpPr txBox="1"/>
          <p:nvPr/>
        </p:nvSpPr>
        <p:spPr>
          <a:xfrm>
            <a:off x="82296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LLM 상담 AI Agent</a:t>
            </a:r>
            <a:endParaRPr lang="en-US" sz="1600" dirty="0"/>
          </a:p>
        </p:txBody>
      </p:sp>
      <p:sp>
        <p:nvSpPr>
          <p:cNvPr id="6" name="Text 4"/>
          <p:cNvSpPr txBox="1"/>
          <p:nvPr/>
        </p:nvSpPr>
        <p:spPr>
          <a:xfrm>
            <a:off x="402336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617720" y="2286000"/>
            <a:ext cx="3200400" cy="1188720"/>
          </a:xfrm>
          <a:prstGeom prst="roundRect">
            <a:avLst>
              <a:gd name="adj" fmla="val 7692"/>
            </a:avLst>
          </a:prstGeom>
          <a:solidFill>
            <a:srgbClr val="16233F"/>
          </a:solidFill>
          <a:ln/>
        </p:spPr>
      </p:sp>
      <p:sp>
        <p:nvSpPr>
          <p:cNvPr id="8" name="Text 6"/>
          <p:cNvSpPr txBox="1"/>
          <p:nvPr/>
        </p:nvSpPr>
        <p:spPr>
          <a:xfrm>
            <a:off x="461772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온체인 오라클 판정</a:t>
            </a:r>
            <a:endParaRPr lang="en-US" sz="1600" dirty="0"/>
          </a:p>
        </p:txBody>
      </p:sp>
      <p:sp>
        <p:nvSpPr>
          <p:cNvPr id="9" name="Text 7"/>
          <p:cNvSpPr txBox="1"/>
          <p:nvPr/>
        </p:nvSpPr>
        <p:spPr>
          <a:xfrm>
            <a:off x="781812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412480" y="2286000"/>
            <a:ext cx="3200400" cy="1188720"/>
          </a:xfrm>
          <a:prstGeom prst="roundRect">
            <a:avLst>
              <a:gd name="adj" fmla="val 7692"/>
            </a:avLst>
          </a:prstGeom>
          <a:solidFill>
            <a:srgbClr val="16233F"/>
          </a:solidFill>
          <a:ln/>
        </p:spPr>
      </p:sp>
      <p:sp>
        <p:nvSpPr>
          <p:cNvPr id="11" name="Text 9"/>
          <p:cNvSpPr txBox="1"/>
          <p:nvPr/>
        </p:nvSpPr>
        <p:spPr>
          <a:xfrm>
            <a:off x="841248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스마트컨트랙트 자동지급</a:t>
            </a:r>
            <a:endParaRPr lang="en-US" sz="1600" dirty="0"/>
          </a:p>
        </p:txBody>
      </p:sp>
      <p:sp>
        <p:nvSpPr>
          <p:cNvPr id="12" name="Shape 10"/>
          <p:cNvSpPr/>
          <p:nvPr/>
        </p:nvSpPr>
        <p:spPr>
          <a:xfrm>
            <a:off x="54864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18종 언더라이팅 AI 서브에이전트 — 씬파일러·유병자·역선택까지 자율 심사</a:t>
            </a:r>
            <a:endParaRPr lang="en-US" sz="1400" dirty="0"/>
          </a:p>
        </p:txBody>
      </p:sp>
      <p:sp>
        <p:nvSpPr>
          <p:cNvPr id="14" name="Shape 12"/>
          <p:cNvSpPr/>
          <p:nvPr/>
        </p:nvSpPr>
        <p:spPr>
          <a:xfrm>
            <a:off x="434340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5" name="Text 13"/>
          <p:cNvSpPr txBox="1"/>
          <p:nvPr/>
        </p:nvSpPr>
        <p:spPr>
          <a:xfrm>
            <a:off x="461772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청구~지급 전 과정 온체인 기록 — 고객·보험사가 같은 기록을 실시간 조회</a:t>
            </a:r>
            <a:endParaRPr lang="en-US" sz="1400" dirty="0"/>
          </a:p>
        </p:txBody>
      </p:sp>
      <p:sp>
        <p:nvSpPr>
          <p:cNvPr id="16" name="Shape 14"/>
          <p:cNvSpPr/>
          <p:nvPr/>
        </p:nvSpPr>
        <p:spPr>
          <a:xfrm>
            <a:off x="813816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841248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USDC·원화 스테이블코인 이중 통화 — 환전 없는 즉시 결제·정산</a:t>
            </a:r>
            <a:endParaRPr lang="en-US" sz="1400" dirty="0"/>
          </a:p>
        </p:txBody>
      </p:sp>
      <p:sp>
        <p:nvSpPr>
          <p:cNvPr id="18" name="Text 1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온체인 = 블록체인 위에 기록되어 누구나 검증 가능한 상태 · 오라클 = 현실 데이터를 블록체인에 전달하는 장치 · 스테이블코인 = 법정화폐 가치에 고정된 암호자산</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거버넌스① — 언더라이팅(가입심사) AI Agent</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메인 상담 Agent는 심사 로직을 몰라도 됩니다 — 정밀심사가 필요하면 전담 서브에이전트 하나만 호출합니다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메인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run_underwriting_review 1개만 호출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서브에이전트</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18종 전문도구로 자율심사</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구조화 출력</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tier 산정 + 코드가 route 결정</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멀티에이전트 구조</a:t>
            </a:r>
            <a:endParaRPr lang="en-US" sz="1600" dirty="0"/>
          </a:p>
        </p:txBody>
      </p:sp>
      <p:sp>
        <p:nvSpPr>
          <p:cNvPr id="14" name="Text 12"/>
          <p:cNvSpPr txBox="1"/>
          <p:nvPr/>
        </p:nvSpPr>
        <p:spPr>
          <a:xfrm>
            <a:off x="822960" y="3904488"/>
            <a:ext cx="4754880" cy="274320"/>
          </a:xfrm>
          <a:prstGeom prst="rect">
            <a:avLst/>
          </a:prstGeom>
          <a:noFill/>
          <a:ln/>
        </p:spPr>
        <p:txBody>
          <a:bodyPr wrap="square" lIns="0" tIns="0" rIns="0" bIns="0" rtlCol="0" anchor="ctr"/>
          <a:lstStyle/>
          <a:p>
            <a:pPr indent="0" marL="0">
              <a:buNone/>
            </a:pPr>
            <a:r>
              <a:rPr lang="en-US" sz="1050" i="1" dirty="0">
                <a:solidFill>
                  <a:srgbClr val="5A5E68"/>
                </a:solidFill>
                <a:latin typeface="Calibri" pitchFamily="34" charset="0"/>
                <a:ea typeface="Calibri" pitchFamily="34" charset="-122"/>
                <a:cs typeface="Calibri" pitchFamily="34" charset="-120"/>
              </a:rPr>
              <a:t>(agents/orchestrator.py)</a:t>
            </a:r>
            <a:endParaRPr lang="en-US" sz="1050" dirty="0"/>
          </a:p>
        </p:txBody>
      </p:sp>
      <p:sp>
        <p:nvSpPr>
          <p:cNvPr id="15" name="Text 13"/>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메인은 일반상담 전담, 정밀심사 필요 시 run_underwriting_review 하나만 호출</a:t>
            </a:r>
            <a:endParaRPr lang="en-US" sz="1250" dirty="0"/>
          </a:p>
        </p:txBody>
      </p:sp>
      <p:sp>
        <p:nvSpPr>
          <p:cNvPr id="16" name="Text 14"/>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호출되면 독립된 2차 tool-calling 루프 시작 — 전용 프롬프트 + 18종 전문 도구</a:t>
            </a:r>
            <a:endParaRPr lang="en-US" sz="1250" dirty="0"/>
          </a:p>
        </p:txBody>
      </p:sp>
      <p:sp>
        <p:nvSpPr>
          <p:cNvPr id="17" name="Text 15"/>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 도구는 27→11개로 축소 — 세부 로직을 몰라도 되는 책임분리 구조</a:t>
            </a:r>
            <a:endParaRPr lang="en-US" sz="1250" dirty="0"/>
          </a:p>
        </p:txBody>
      </p:sp>
      <p:sp>
        <p:nvSpPr>
          <p:cNvPr id="18" name="Shape 16"/>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코드 레벨 안전장치</a:t>
            </a:r>
            <a:endParaRPr lang="en-US" sz="1600" dirty="0"/>
          </a:p>
        </p:txBody>
      </p:sp>
      <p:sp>
        <p:nvSpPr>
          <p:cNvPr id="20" name="Text 18"/>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(_UNDERWRITING_TIER_ROUTE)</a:t>
            </a:r>
            <a:endParaRPr lang="en-US" sz="1050" dirty="0"/>
          </a:p>
        </p:txBody>
      </p:sp>
      <p:sp>
        <p:nvSpPr>
          <p:cNvPr id="21" name="Text 19"/>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tier(위험도)는 AI가 판단, route(처리경로)는 코드의 매핑표가 결정 — 모델의 판단 오류가 그대로 실행되지 않음</a:t>
            </a:r>
            <a:endParaRPr lang="en-US" sz="1250" dirty="0"/>
          </a:p>
        </p:txBody>
      </p:sp>
      <p:sp>
        <p:nvSpPr>
          <p:cNvPr id="22" name="Text 20"/>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보완요청은 1회로 강제 — 재심사에서도 애매하면 자동으로 human_review 전환</a:t>
            </a:r>
            <a:endParaRPr lang="en-US" sz="1250" dirty="0"/>
          </a:p>
        </p:txBody>
      </p:sp>
      <p:sp>
        <p:nvSpPr>
          <p:cNvPr id="23" name="Text 21"/>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구조화 출력 실패·응답 없음도 전부 human_review로 수렴 — 절대 자동승인 쪽으로 새지 않음</a:t>
            </a:r>
            <a:endParaRPr lang="en-US" sz="1250" dirty="0"/>
          </a:p>
        </p:txBody>
      </p:sp>
      <p:sp>
        <p:nvSpPr>
          <p:cNvPr id="24" name="Text 22"/>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 가입을 마음대로 결정한다”는 리스크를 설계 단계에서 차단 — 혁신금융서비스 심사의 설명가능성 요건에도 유리하게 작동합니다</a:t>
            </a:r>
            <a:endParaRPr lang="en-US" sz="1150" dirty="0"/>
          </a:p>
        </p:txBody>
      </p:sp>
      <p:sp>
        <p:nvSpPr>
          <p:cNvPr id="25" name="Text 2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tier/route = AI가 판단하는 위험등급과, 코드가 그 등급을 실제 처리 경로로 매핑하는 두 단계 · human_review = 전문 심사역이 직접 확인하는 수동심사 대기열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거버넌스② — 보험금 청구 AI Agent (Human-in-the-Loop)</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청구는 가입심사보다 더 엄격합니다 — 실제 자금이 바로 지급되므로, 금액 기준 자체를 스마트컨트랙트가 강제합니다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청구 제출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오라클이 보장한도 대비</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청구금액 비율 확인</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20%↓ 자동지급</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20%↑ 사람 승인 강제</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완전자동 구간 (20% 이하)</a:t>
            </a:r>
            <a:endParaRPr lang="en-US" sz="1600" dirty="0"/>
          </a:p>
        </p:txBody>
      </p:sp>
      <p:sp>
        <p:nvSpPr>
          <p:cNvPr id="14" name="Text 12"/>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보장한도 20% 이하 소액청구는 오라클이 완전자동 검증·승인·지급</a:t>
            </a:r>
            <a:endParaRPr lang="en-US" sz="1250" dirty="0"/>
          </a:p>
        </p:txBody>
      </p:sp>
      <p:sp>
        <p:nvSpPr>
          <p:cNvPr id="15" name="Text 13"/>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사람 개입 없이 처리 — 소액·저위험 청구의 운영비를 구조적으로 제거</a:t>
            </a:r>
            <a:endParaRPr lang="en-US" sz="1250" dirty="0"/>
          </a:p>
        </p:txBody>
      </p:sp>
      <p:sp>
        <p:nvSpPr>
          <p:cNvPr id="16" name="Text 14"/>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모든 처리 기록은 온체인에 남아 고객·보험사가 동일하게 실시간 조회</a:t>
            </a:r>
            <a:endParaRPr lang="en-US" sz="1250" dirty="0"/>
          </a:p>
        </p:txBody>
      </p:sp>
      <p:sp>
        <p:nvSpPr>
          <p:cNvPr id="17" name="Shape 15"/>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Human-in-the-Loop 구간 (20% 초과)</a:t>
            </a:r>
            <a:endParaRPr lang="en-US" sz="1600" dirty="0"/>
          </a:p>
        </p:txBody>
      </p:sp>
      <p:sp>
        <p:nvSpPr>
          <p:cNvPr id="19" name="Text 17"/>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(DentalInsurance.sol + oracle-service.js)</a:t>
            </a:r>
            <a:endParaRPr lang="en-US" sz="1050" dirty="0"/>
          </a:p>
        </p:txBody>
      </p:sp>
      <p:sp>
        <p:nvSpPr>
          <p:cNvPr id="20" name="Text 18"/>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require 조건이 오라클 처리 자체를 코드 레벨에서 거부 — 우회 불가능</a:t>
            </a:r>
            <a:endParaRPr lang="en-US" sz="1250" dirty="0"/>
          </a:p>
        </p:txBody>
      </p:sp>
      <p:sp>
        <p:nvSpPr>
          <p:cNvPr id="21" name="Text 19"/>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AI(GPT-4o)는 치료코드·설명·과거이력 기반 검토의견만 Slack 전송 — 승인·거절·지급 권한은 전혀 없음</a:t>
            </a:r>
            <a:endParaRPr lang="en-US" sz="1250" dirty="0"/>
          </a:p>
        </p:txBody>
      </p:sp>
      <p:sp>
        <p:nvSpPr>
          <p:cNvPr id="22" name="Text 20"/>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관리자가 반드시 직접 서명해 승인/거절/지급 — 최종 결정권은 항상 사람</a:t>
            </a:r>
            <a:endParaRPr lang="en-US" sz="1250" dirty="0"/>
          </a:p>
        </p:txBody>
      </p:sp>
      <p:sp>
        <p:nvSpPr>
          <p:cNvPr id="23" name="Text 21"/>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보험금을 결정한다”는 가장 민감한 신뢰 리스크를 코드 레벨에서 차단 — 설계 의도가 아니라 컨트랙트의 require문이 보장합니다</a:t>
            </a:r>
            <a:endParaRPr lang="en-US" sz="1150" dirty="0"/>
          </a:p>
        </p:txBody>
      </p:sp>
      <p:sp>
        <p:nvSpPr>
          <p:cNvPr id="24" name="Text 2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Human-in-the-Loop = AI가 아닌 사람이 최종 의사결정권을 쥐는 설계 · 오라클 = 현실 데이터를 블록체인에 전달하는 장치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운영비용 관점의 우위</a:t>
            </a:r>
            <a:endParaRPr lang="en-US" sz="3000" dirty="0"/>
          </a:p>
        </p:txBody>
      </p:sp>
      <p:sp>
        <p:nvSpPr>
          <p:cNvPr id="3" name="Text 1"/>
          <p:cNvSpPr txBox="1"/>
          <p:nvPr/>
        </p:nvSpPr>
        <p:spPr>
          <a:xfrm>
            <a:off x="548640" y="1325880"/>
            <a:ext cx="11064240" cy="3200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기존 수작업 비용은 공개된 임금·수수료 통계를 근거로 산출한 예시입니다 — 산출 기준은 표 아래 ①~⑤ 참조</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651760"/>
                <a:gridCol w="2651760"/>
                <a:gridCol w="1737360"/>
                <a:gridCol w="1737360"/>
              </a:tblGrid>
              <a:tr h="0">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항목</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기존 수작업 운영</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블록체인+AI 자동화</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8862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절감액</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절감률</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F7A6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가입 심사(UW, 1건)</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16,100원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(⑤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1,200원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14,900원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소액 청구 심사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9,500원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(①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800원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8,700원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92%↓</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보험료 결제·정산</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(10만원 결제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2,200원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(②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50원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2,150원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98%↓</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재보험 조달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(재보험료 1,000만원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30만원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(③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10만원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20만원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67%↓</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고객 문의 대응</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4,500원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(④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300원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4,200원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bl>
          </a:graphicData>
        </a:graphic>
      </p:graphicFrame>
      <p:sp>
        <p:nvSpPr>
          <p:cNvPr id="5" name="Text 2"/>
          <p:cNvSpPr txBox="1"/>
          <p:nvPr/>
        </p:nvSpPr>
        <p:spPr>
          <a:xfrm>
            <a:off x="548640" y="4892040"/>
            <a:ext cx="11064240" cy="960120"/>
          </a:xfrm>
          <a:prstGeom prst="rect">
            <a:avLst/>
          </a:prstGeom>
          <a:noFill/>
          <a:ln/>
        </p:spPr>
        <p:txBody>
          <a:bodyPr wrap="square" lIns="0" tIns="0" rIns="0" bIns="0" rtlCol="0" anchor="t"/>
          <a:lstStyle/>
          <a:p>
            <a:pPr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기준 — ① 손해사정사 평균연봉 약 5,950만원(2025, 직업정보) 환산 시급 28,500원 × 처리 20분 가정  ② 보험업계 카드 가맹점수수료 통상 “2%대 초반” 수준(생명보험협회 공시 관련 보도, 2026) 중 2.2% 적용  ③ 글로벌 재보험 브로커(Aon) 공시 표준 중개수수료(원수보험료의 1.5~3.5%) 중 3% 적용  ④ 콜센터 상담원 월평균임금 236만원(한국노동연구원, 2024) 환산 시급 13,580원 × 상담 20분 가정  ⑤ 보험인수심사원(언더라이터) 평균임금 6,750만원(2025 조사, 워크넷 직업정보 수치를 옮겨 게재한 자료 기준 — 원자료는 work.go.kr에서 직접 확인 권장) 환산 시급 32,300원 × 심사 30분 가정 · 블록체인+AI 자동화 비용(자체 추정)은 가스비+서버 인프라+LLM 호출비 기준</a:t>
            </a:r>
            <a:endParaRPr lang="en-US" sz="780" dirty="0"/>
          </a:p>
        </p:txBody>
      </p:sp>
      <p:sp>
        <p:nvSpPr>
          <p:cNvPr id="6" name="Text 3"/>
          <p:cNvSpPr txBox="1"/>
          <p:nvPr/>
        </p:nvSpPr>
        <p:spPr>
          <a:xfrm>
            <a:off x="548640" y="5989320"/>
            <a:ext cx="11064240" cy="301752"/>
          </a:xfrm>
          <a:prstGeom prst="rect">
            <a:avLst/>
          </a:prstGeom>
          <a:noFill/>
          <a:ln/>
        </p:spPr>
        <p:txBody>
          <a:bodyPr wrap="square" lIns="0" tIns="0" rIns="0" bIns="0" rtlCol="0" anchor="ctr"/>
          <a:lstStyle/>
          <a:p>
            <a:pPr indent="0" marL="0">
              <a:buNone/>
            </a:pPr>
            <a:r>
              <a:rPr lang="en-US" sz="950" i="1" dirty="0">
                <a:solidFill>
                  <a:srgbClr val="1F7A6C"/>
                </a:solidFill>
                <a:latin typeface="Calibri" pitchFamily="34" charset="0"/>
                <a:ea typeface="Calibri" pitchFamily="34" charset="-122"/>
                <a:cs typeface="Calibri" pitchFamily="34" charset="-120"/>
              </a:rPr>
              <a:t>5개 항목 평균 약 89% 비용 절감 — 임금·수수료는 공개 통계 기준, 블록체인+AI 쪽 비용은 자체 추정치이므로 실제 절감효과는 운영 규모·구조에 따라 달라질 수 있습니다</a:t>
            </a:r>
            <a:endParaRPr lang="en-US" sz="950" dirty="0"/>
          </a:p>
        </p:txBody>
      </p:sp>
      <p:sp>
        <p:nvSpPr>
          <p:cNvPr id="7" name="Text 4"/>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PG = 결제대행사(Payment Gateway) · 사업비율 = 보험료 대비 운영 경비 비율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제품 — AI·블록체인 자동화 11개 신규 상품·고도화 기능 (대표 6종)</a:t>
            </a:r>
            <a:endParaRPr lang="en-US" sz="3000" dirty="0"/>
          </a:p>
        </p:txBody>
      </p:sp>
      <p:sp>
        <p:nvSpPr>
          <p:cNvPr id="3" name="Shape 1"/>
          <p:cNvSpPr/>
          <p:nvPr/>
        </p:nvSpPr>
        <p:spPr>
          <a:xfrm>
            <a:off x="54864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777240" y="1737360"/>
            <a:ext cx="457200" cy="457200"/>
          </a:xfrm>
          <a:prstGeom prst="roundRect">
            <a:avLst>
              <a:gd name="adj" fmla="val 16000"/>
            </a:avLst>
          </a:prstGeom>
          <a:solidFill>
            <a:srgbClr val="B8862F"/>
          </a:solidFill>
          <a:ln/>
        </p:spPr>
      </p:sp>
      <p:sp>
        <p:nvSpPr>
          <p:cNvPr id="5" name="Text 3"/>
          <p:cNvSpPr txBox="1"/>
          <p:nvPr/>
        </p:nvSpPr>
        <p:spPr>
          <a:xfrm>
            <a:off x="77724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82296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파라메트릭 자동집행</a:t>
            </a:r>
            <a:endParaRPr lang="en-US" sz="1400" dirty="0"/>
          </a:p>
        </p:txBody>
      </p:sp>
      <p:sp>
        <p:nvSpPr>
          <p:cNvPr id="7" name="Text 5"/>
          <p:cNvSpPr txBox="1"/>
          <p:nvPr/>
        </p:nvSpPr>
        <p:spPr>
          <a:xfrm>
            <a:off x="82296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심사 없이 조건 충족 시 즉시 지급 (항공지연·폭염특보, 실제 기상데이터 연동)</a:t>
            </a:r>
            <a:endParaRPr lang="en-US" sz="1100" dirty="0"/>
          </a:p>
        </p:txBody>
      </p:sp>
      <p:sp>
        <p:nvSpPr>
          <p:cNvPr id="8" name="Shape 6"/>
          <p:cNvSpPr/>
          <p:nvPr/>
        </p:nvSpPr>
        <p:spPr>
          <a:xfrm>
            <a:off x="434340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572000" y="1737360"/>
            <a:ext cx="457200" cy="457200"/>
          </a:xfrm>
          <a:prstGeom prst="roundRect">
            <a:avLst>
              <a:gd name="adj" fmla="val 16000"/>
            </a:avLst>
          </a:prstGeom>
          <a:solidFill>
            <a:srgbClr val="B8862F"/>
          </a:solidFill>
          <a:ln/>
        </p:spPr>
      </p:sp>
      <p:sp>
        <p:nvSpPr>
          <p:cNvPr id="10" name="Text 8"/>
          <p:cNvSpPr txBox="1"/>
          <p:nvPr/>
        </p:nvSpPr>
        <p:spPr>
          <a:xfrm>
            <a:off x="457200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61772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재보험풀</a:t>
            </a:r>
            <a:endParaRPr lang="en-US" sz="1400" dirty="0"/>
          </a:p>
        </p:txBody>
      </p:sp>
      <p:sp>
        <p:nvSpPr>
          <p:cNvPr id="12" name="Text 10"/>
          <p:cNvSpPr txBox="1"/>
          <p:nvPr/>
        </p:nvSpPr>
        <p:spPr>
          <a:xfrm>
            <a:off x="461772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외부 유동성 공급 — 지분가치가 실제 보험료 유입에 연동되는 진짜 리스크공유</a:t>
            </a:r>
            <a:endParaRPr lang="en-US" sz="1100" dirty="0"/>
          </a:p>
        </p:txBody>
      </p:sp>
      <p:sp>
        <p:nvSpPr>
          <p:cNvPr id="13" name="Shape 11"/>
          <p:cNvSpPr/>
          <p:nvPr/>
        </p:nvSpPr>
        <p:spPr>
          <a:xfrm>
            <a:off x="813816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366760" y="1737360"/>
            <a:ext cx="457200" cy="457200"/>
          </a:xfrm>
          <a:prstGeom prst="roundRect">
            <a:avLst>
              <a:gd name="adj" fmla="val 16000"/>
            </a:avLst>
          </a:prstGeom>
          <a:solidFill>
            <a:srgbClr val="B8862F"/>
          </a:solidFill>
          <a:ln/>
        </p:spPr>
      </p:sp>
      <p:sp>
        <p:nvSpPr>
          <p:cNvPr id="15" name="Text 13"/>
          <p:cNvSpPr txBox="1"/>
          <p:nvPr/>
        </p:nvSpPr>
        <p:spPr>
          <a:xfrm>
            <a:off x="836676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841248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리스크연동형 대체투자</a:t>
            </a:r>
            <a:endParaRPr lang="en-US" sz="1400" dirty="0"/>
          </a:p>
        </p:txBody>
      </p:sp>
      <p:sp>
        <p:nvSpPr>
          <p:cNvPr id="17" name="Text 15"/>
          <p:cNvSpPr txBox="1"/>
          <p:nvPr/>
        </p:nvSpPr>
        <p:spPr>
          <a:xfrm>
            <a:off x="841248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고정 APR이 아니라 재보험풀 실제 성과를 따라가는 신규 펀드</a:t>
            </a:r>
            <a:endParaRPr lang="en-US" sz="1100" dirty="0"/>
          </a:p>
        </p:txBody>
      </p:sp>
      <p:sp>
        <p:nvSpPr>
          <p:cNvPr id="18" name="Shape 16"/>
          <p:cNvSpPr/>
          <p:nvPr/>
        </p:nvSpPr>
        <p:spPr>
          <a:xfrm>
            <a:off x="54864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Shape 17"/>
          <p:cNvSpPr/>
          <p:nvPr/>
        </p:nvSpPr>
        <p:spPr>
          <a:xfrm>
            <a:off x="777240" y="3977640"/>
            <a:ext cx="457200" cy="457200"/>
          </a:xfrm>
          <a:prstGeom prst="roundRect">
            <a:avLst>
              <a:gd name="adj" fmla="val 16000"/>
            </a:avLst>
          </a:prstGeom>
          <a:solidFill>
            <a:srgbClr val="B8862F"/>
          </a:solidFill>
          <a:ln/>
        </p:spPr>
      </p:sp>
      <p:sp>
        <p:nvSpPr>
          <p:cNvPr id="20" name="Text 18"/>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82296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B2B 파트너 API</a:t>
            </a:r>
            <a:endParaRPr lang="en-US" sz="1400" dirty="0"/>
          </a:p>
        </p:txBody>
      </p:sp>
      <p:sp>
        <p:nvSpPr>
          <p:cNvPr id="22" name="Text 20"/>
          <p:cNvSpPr txBox="1"/>
          <p:nvPr/>
        </p:nvSpPr>
        <p:spPr>
          <a:xfrm>
            <a:off x="82296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GA·핀테크가 API 키로 직접 조회, 월별 사용량 정산 리포트</a:t>
            </a:r>
            <a:endParaRPr lang="en-US" sz="1100" dirty="0"/>
          </a:p>
        </p:txBody>
      </p:sp>
      <p:sp>
        <p:nvSpPr>
          <p:cNvPr id="23" name="Shape 21"/>
          <p:cNvSpPr/>
          <p:nvPr/>
        </p:nvSpPr>
        <p:spPr>
          <a:xfrm>
            <a:off x="434340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4" name="Shape 22"/>
          <p:cNvSpPr/>
          <p:nvPr/>
        </p:nvSpPr>
        <p:spPr>
          <a:xfrm>
            <a:off x="4572000" y="3977640"/>
            <a:ext cx="457200" cy="457200"/>
          </a:xfrm>
          <a:prstGeom prst="roundRect">
            <a:avLst>
              <a:gd name="adj" fmla="val 16000"/>
            </a:avLst>
          </a:prstGeom>
          <a:solidFill>
            <a:srgbClr val="B8862F"/>
          </a:solidFill>
          <a:ln/>
        </p:spPr>
      </p:sp>
      <p:sp>
        <p:nvSpPr>
          <p:cNvPr id="25" name="Text 23"/>
          <p:cNvSpPr txBox="1"/>
          <p:nvPr/>
        </p:nvSpPr>
        <p:spPr>
          <a:xfrm>
            <a:off x="457200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5</a:t>
            </a:r>
            <a:endParaRPr lang="en-US" sz="1600" dirty="0"/>
          </a:p>
        </p:txBody>
      </p:sp>
      <p:sp>
        <p:nvSpPr>
          <p:cNvPr id="26" name="Text 24"/>
          <p:cNvSpPr txBox="1"/>
          <p:nvPr/>
        </p:nvSpPr>
        <p:spPr>
          <a:xfrm>
            <a:off x="461772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수익성 지표 대시보드</a:t>
            </a:r>
            <a:endParaRPr lang="en-US" sz="1400" dirty="0"/>
          </a:p>
        </p:txBody>
      </p:sp>
      <p:sp>
        <p:nvSpPr>
          <p:cNvPr id="27" name="Text 25"/>
          <p:cNvSpPr txBox="1"/>
          <p:nvPr/>
        </p:nvSpPr>
        <p:spPr>
          <a:xfrm>
            <a:off x="461772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손해율·사업비율·합산비율을 실시간 노출 — 투자자 증빙 자료</a:t>
            </a:r>
            <a:endParaRPr lang="en-US" sz="1100" dirty="0"/>
          </a:p>
        </p:txBody>
      </p:sp>
      <p:sp>
        <p:nvSpPr>
          <p:cNvPr id="28" name="Shape 26"/>
          <p:cNvSpPr/>
          <p:nvPr/>
        </p:nvSpPr>
        <p:spPr>
          <a:xfrm>
            <a:off x="813816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9" name="Shape 27"/>
          <p:cNvSpPr/>
          <p:nvPr/>
        </p:nvSpPr>
        <p:spPr>
          <a:xfrm>
            <a:off x="8366760" y="3977640"/>
            <a:ext cx="457200" cy="457200"/>
          </a:xfrm>
          <a:prstGeom prst="roundRect">
            <a:avLst>
              <a:gd name="adj" fmla="val 16000"/>
            </a:avLst>
          </a:prstGeom>
          <a:solidFill>
            <a:srgbClr val="B8862F"/>
          </a:solidFill>
          <a:ln/>
        </p:spPr>
      </p:sp>
      <p:sp>
        <p:nvSpPr>
          <p:cNvPr id="30" name="Text 28"/>
          <p:cNvSpPr txBox="1"/>
          <p:nvPr/>
        </p:nvSpPr>
        <p:spPr>
          <a:xfrm>
            <a:off x="836676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6</a:t>
            </a:r>
            <a:endParaRPr lang="en-US" sz="1600" dirty="0"/>
          </a:p>
        </p:txBody>
      </p:sp>
      <p:sp>
        <p:nvSpPr>
          <p:cNvPr id="31" name="Text 29"/>
          <p:cNvSpPr txBox="1"/>
          <p:nvPr/>
        </p:nvSpPr>
        <p:spPr>
          <a:xfrm>
            <a:off x="841248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가스리스 온보딩</a:t>
            </a:r>
            <a:endParaRPr lang="en-US" sz="1400" dirty="0"/>
          </a:p>
        </p:txBody>
      </p:sp>
      <p:sp>
        <p:nvSpPr>
          <p:cNvPr id="32" name="Text 30"/>
          <p:cNvSpPr txBox="1"/>
          <p:nvPr/>
        </p:nvSpPr>
        <p:spPr>
          <a:xfrm>
            <a:off x="841248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고객이 지갑·가스비 부담 없이 챗봇 대화만으로 가입 완료</a:t>
            </a:r>
            <a:endParaRPr lang="en-US" sz="1100" dirty="0"/>
          </a:p>
        </p:txBody>
      </p:sp>
      <p:sp>
        <p:nvSpPr>
          <p:cNvPr id="33" name="Text 31"/>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200" i="1" dirty="0">
                <a:solidFill>
                  <a:srgbClr val="5A5E68"/>
                </a:solidFill>
                <a:latin typeface="Calibri" pitchFamily="34" charset="0"/>
                <a:ea typeface="Calibri" pitchFamily="34" charset="-122"/>
                <a:cs typeface="Calibri" pitchFamily="34" charset="-120"/>
              </a:rPr>
              <a:t>+ 씬파일러 신용보완 유연납입, 웰니스 연동 동적 보험료, 재보험풀 1클릭 정산, 차세대 판단AI(Jev) PoC 검토 등 5종 추가</a:t>
            </a:r>
            <a:endParaRPr lang="en-US" sz="1200" dirty="0"/>
          </a:p>
        </p:txBody>
      </p:sp>
      <p:sp>
        <p:nvSpPr>
          <p:cNvPr id="34" name="Text 3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APR = 연환산 수익률 · 재보험풀 = 보험금 지급 위험을 외부 투자자와 나누는 자금풀 · 가스리스 = 가스비(수수료) 부담 없이 가입하는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지금인가 — 제도·인프라가 함께 움직이고 있음</a:t>
            </a:r>
            <a:endParaRPr lang="en-US" sz="3000" dirty="0"/>
          </a:p>
        </p:txBody>
      </p:sp>
      <p:sp>
        <p:nvSpPr>
          <p:cNvPr id="3" name="Shape 1"/>
          <p:cNvSpPr/>
          <p:nvPr/>
        </p:nvSpPr>
        <p:spPr>
          <a:xfrm>
            <a:off x="548640" y="1645920"/>
            <a:ext cx="128016" cy="1143000"/>
          </a:xfrm>
          <a:prstGeom prst="roundRect">
            <a:avLst/>
          </a:prstGeom>
          <a:solidFill>
            <a:srgbClr val="B8862F"/>
          </a:solidFill>
          <a:ln/>
        </p:spPr>
      </p:sp>
      <p:sp>
        <p:nvSpPr>
          <p:cNvPr id="4" name="Text 2"/>
          <p:cNvSpPr txBox="1"/>
          <p:nvPr/>
        </p:nvSpPr>
        <p:spPr>
          <a:xfrm>
            <a:off x="868680" y="164592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결제 인프라</a:t>
            </a:r>
            <a:endParaRPr lang="en-US" sz="1600" dirty="0"/>
          </a:p>
        </p:txBody>
      </p:sp>
      <p:sp>
        <p:nvSpPr>
          <p:cNvPr id="5" name="Text 3"/>
          <p:cNvSpPr txBox="1"/>
          <p:nvPr/>
        </p:nvSpPr>
        <p:spPr>
          <a:xfrm>
            <a:off x="3383280" y="164592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카드사 9개사·람다256이 스테이블코인 결제 승인·취소·환불·정산 전 과정 기술검증 완료, 한국은행 예금토큰 파일럿(프로젝트 한강) 실거래 증명 단계</a:t>
            </a:r>
            <a:endParaRPr lang="en-US" sz="1350" dirty="0"/>
          </a:p>
        </p:txBody>
      </p:sp>
      <p:sp>
        <p:nvSpPr>
          <p:cNvPr id="6" name="Shape 4"/>
          <p:cNvSpPr/>
          <p:nvPr/>
        </p:nvSpPr>
        <p:spPr>
          <a:xfrm>
            <a:off x="548640" y="3063240"/>
            <a:ext cx="128016" cy="1143000"/>
          </a:xfrm>
          <a:prstGeom prst="roundRect">
            <a:avLst/>
          </a:prstGeom>
          <a:solidFill>
            <a:srgbClr val="B8862F"/>
          </a:solidFill>
          <a:ln/>
        </p:spPr>
      </p:sp>
      <p:sp>
        <p:nvSpPr>
          <p:cNvPr id="7" name="Text 5"/>
          <p:cNvSpPr txBox="1"/>
          <p:nvPr/>
        </p:nvSpPr>
        <p:spPr>
          <a:xfrm>
            <a:off x="868680" y="306324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규제 경로</a:t>
            </a:r>
            <a:endParaRPr lang="en-US" sz="1600" dirty="0"/>
          </a:p>
        </p:txBody>
      </p:sp>
      <p:sp>
        <p:nvSpPr>
          <p:cNvPr id="8" name="Text 6"/>
          <p:cNvSpPr txBox="1"/>
          <p:nvPr/>
        </p:nvSpPr>
        <p:spPr>
          <a:xfrm>
            <a:off x="3383280" y="306324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디지털자산 기본법 발의 추진, 한국핀테크지원센터 디지털 금융기술 내재화 사업·금융위 혁신금융서비스(규제샌드박스) 등 실증 경로가 제도적으로 열려 있음</a:t>
            </a:r>
            <a:endParaRPr lang="en-US" sz="1350" dirty="0"/>
          </a:p>
        </p:txBody>
      </p:sp>
      <p:sp>
        <p:nvSpPr>
          <p:cNvPr id="9" name="Shape 7"/>
          <p:cNvSpPr/>
          <p:nvPr/>
        </p:nvSpPr>
        <p:spPr>
          <a:xfrm>
            <a:off x="548640" y="4480560"/>
            <a:ext cx="128016" cy="1143000"/>
          </a:xfrm>
          <a:prstGeom prst="roundRect">
            <a:avLst/>
          </a:prstGeom>
          <a:solidFill>
            <a:srgbClr val="B8862F"/>
          </a:solidFill>
          <a:ln/>
        </p:spPr>
      </p:sp>
      <p:sp>
        <p:nvSpPr>
          <p:cNvPr id="10" name="Text 8"/>
          <p:cNvSpPr txBox="1"/>
          <p:nvPr/>
        </p:nvSpPr>
        <p:spPr>
          <a:xfrm>
            <a:off x="868680" y="448056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시장 검증</a:t>
            </a:r>
            <a:endParaRPr lang="en-US" sz="1600" dirty="0"/>
          </a:p>
        </p:txBody>
      </p:sp>
      <p:sp>
        <p:nvSpPr>
          <p:cNvPr id="11" name="Text 9"/>
          <p:cNvSpPr txBox="1"/>
          <p:nvPr/>
        </p:nvSpPr>
        <p:spPr>
          <a:xfrm>
            <a:off x="3383280" y="448056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삼성화재·현대해상·KB손해보험이 지수형 보험을 이미 상용화 — 파라메트릭 보험에 대한 소비자 수용도는 이미 증명됨</a:t>
            </a:r>
            <a:endParaRPr lang="en-US" sz="1350" dirty="0"/>
          </a:p>
        </p:txBody>
      </p:sp>
      <p:sp>
        <p:nvSpPr>
          <p:cNvPr id="12" name="Text 1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예금토큰 = 은행 예금을 블록체인에 디지털화한 자산 · 혁신금융서비스(규제샌드박스)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경쟁 구도 — 기존 지수형보험과의 차이</a:t>
            </a:r>
            <a:endParaRPr lang="en-US" sz="3000" dirty="0"/>
          </a:p>
        </p:txBody>
      </p:sp>
      <p:sp>
        <p:nvSpPr>
          <p:cNvPr id="3" name="Text 1"/>
          <p:cNvSpPr txBox="1"/>
          <p:nvPr/>
        </p:nvSpPr>
        <p:spPr>
          <a:xfrm>
            <a:off x="548640" y="1371600"/>
            <a:ext cx="11064240" cy="6858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지수형(파라메트릭) 보험이란 — 날씨·항공편 지연 등 객관적으로 측정 가능한 지표가 사전에 정한 기준치를 넘으면, 실제 피해 규모를 조사(손해사정)하지 않고도 미리 정해둔 금액을 지급하는 보험 상품입니다</a:t>
            </a:r>
            <a:endParaRPr lang="en-US" sz="1350" dirty="0"/>
          </a:p>
        </p:txBody>
      </p:sp>
      <p:sp>
        <p:nvSpPr>
          <p:cNvPr id="4" name="Shape 2"/>
          <p:cNvSpPr/>
          <p:nvPr/>
        </p:nvSpPr>
        <p:spPr>
          <a:xfrm>
            <a:off x="548640" y="2148840"/>
            <a:ext cx="5303520" cy="3474720"/>
          </a:xfrm>
          <a:prstGeom prst="roundRect">
            <a:avLst>
              <a:gd name="adj" fmla="val 2105"/>
            </a:avLst>
          </a:prstGeom>
          <a:solidFill>
            <a:srgbClr val="F6F3EC"/>
          </a:solidFill>
          <a:ln/>
          <a:effectLst>
            <a:outerShdw sx="100000" sy="100000" kx="0" ky="0" algn="bl" rotWithShape="0" blurRad="76200" dist="25400" dir="5400000">
              <a:srgbClr val="16233F">
                <a:alpha val="12000"/>
              </a:srgbClr>
            </a:outerShdw>
          </a:effectLst>
        </p:spPr>
      </p:sp>
      <p:sp>
        <p:nvSpPr>
          <p:cNvPr id="5" name="Text 3"/>
          <p:cNvSpPr txBox="1"/>
          <p:nvPr/>
        </p:nvSpPr>
        <p:spPr>
          <a:xfrm>
            <a:off x="822960" y="2423160"/>
            <a:ext cx="4754880" cy="457200"/>
          </a:xfrm>
          <a:prstGeom prst="rect">
            <a:avLst/>
          </a:prstGeom>
          <a:noFill/>
          <a:ln/>
        </p:spPr>
        <p:txBody>
          <a:bodyPr wrap="square" lIns="0" tIns="0" rIns="0" bIns="0" rtlCol="0" anchor="ctr"/>
          <a:lstStyle/>
          <a:p>
            <a:pPr indent="0" marL="0">
              <a:buNone/>
            </a:pPr>
            <a:r>
              <a:rPr lang="en-US" sz="1700" b="1" dirty="0">
                <a:solidFill>
                  <a:srgbClr val="5A5E68"/>
                </a:solidFill>
                <a:latin typeface="Cambria" pitchFamily="34" charset="0"/>
                <a:ea typeface="Cambria" pitchFamily="34" charset="-122"/>
                <a:cs typeface="Cambria" pitchFamily="34" charset="-120"/>
              </a:rPr>
              <a:t>기존 손보사 지수형 보험</a:t>
            </a:r>
            <a:endParaRPr lang="en-US" sz="1700" dirty="0"/>
          </a:p>
        </p:txBody>
      </p:sp>
      <p:sp>
        <p:nvSpPr>
          <p:cNvPr id="6" name="Text 4"/>
          <p:cNvSpPr txBox="1"/>
          <p:nvPr/>
        </p:nvSpPr>
        <p:spPr>
          <a:xfrm>
            <a:off x="822960" y="30632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삼성화재·현대해상·KB손보 등 2025~2026년 상용화</a:t>
            </a:r>
            <a:endParaRPr lang="en-US" sz="1250" dirty="0"/>
          </a:p>
        </p:txBody>
      </p:sp>
      <p:sp>
        <p:nvSpPr>
          <p:cNvPr id="7" name="Text 5"/>
          <p:cNvSpPr txBox="1"/>
          <p:nvPr/>
        </p:nvSpPr>
        <p:spPr>
          <a:xfrm>
            <a:off x="822960" y="37490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공공데이터 확인 후 보험사 시스템이 지급 승인(중앙집중형)</a:t>
            </a:r>
            <a:endParaRPr lang="en-US" sz="1250" dirty="0"/>
          </a:p>
        </p:txBody>
      </p:sp>
      <p:sp>
        <p:nvSpPr>
          <p:cNvPr id="8" name="Text 6"/>
          <p:cNvSpPr txBox="1"/>
          <p:nvPr/>
        </p:nvSpPr>
        <p:spPr>
          <a:xfrm>
            <a:off x="822960" y="44348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e-티켓 등록 등 서류 간소화 — 완전 자동지급은 아님</a:t>
            </a:r>
            <a:endParaRPr lang="en-US" sz="1250" dirty="0"/>
          </a:p>
        </p:txBody>
      </p:sp>
      <p:sp>
        <p:nvSpPr>
          <p:cNvPr id="9" name="Shape 7"/>
          <p:cNvSpPr/>
          <p:nvPr/>
        </p:nvSpPr>
        <p:spPr>
          <a:xfrm>
            <a:off x="6309360" y="2148840"/>
            <a:ext cx="5303520" cy="3474720"/>
          </a:xfrm>
          <a:prstGeom prst="roundRect">
            <a:avLst>
              <a:gd name="adj" fmla="val 2105"/>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583680" y="2423160"/>
            <a:ext cx="4754880" cy="457200"/>
          </a:xfrm>
          <a:prstGeom prst="rect">
            <a:avLst/>
          </a:prstGeom>
          <a:noFill/>
          <a:ln/>
        </p:spPr>
        <p:txBody>
          <a:bodyPr wrap="square" lIns="0" tIns="0" rIns="0" bIns="0" rtlCol="0" anchor="ctr"/>
          <a:lstStyle/>
          <a:p>
            <a:pPr indent="0" marL="0">
              <a:buNone/>
            </a:pPr>
            <a:r>
              <a:rPr lang="en-US" sz="1700" b="1" dirty="0">
                <a:solidFill>
                  <a:srgbClr val="B8862F"/>
                </a:solidFill>
                <a:latin typeface="Cambria" pitchFamily="34" charset="0"/>
                <a:ea typeface="Cambria" pitchFamily="34" charset="-122"/>
                <a:cs typeface="Cambria" pitchFamily="34" charset="-120"/>
              </a:rPr>
              <a:t>인슈어체인</a:t>
            </a:r>
            <a:endParaRPr lang="en-US" sz="1700" dirty="0"/>
          </a:p>
        </p:txBody>
      </p:sp>
      <p:sp>
        <p:nvSpPr>
          <p:cNvPr id="11" name="Text 9"/>
          <p:cNvSpPr txBox="1"/>
          <p:nvPr/>
        </p:nvSpPr>
        <p:spPr>
          <a:xfrm>
            <a:off x="6583680" y="30632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사람 개입 없이 스마트컨트랙트가 조건 충족 즉시 자동지급</a:t>
            </a:r>
            <a:endParaRPr lang="en-US" sz="1250" dirty="0"/>
          </a:p>
        </p:txBody>
      </p:sp>
      <p:sp>
        <p:nvSpPr>
          <p:cNvPr id="12" name="Text 10"/>
          <p:cNvSpPr txBox="1"/>
          <p:nvPr/>
        </p:nvSpPr>
        <p:spPr>
          <a:xfrm>
            <a:off x="6583680" y="37490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폭염특보 등 아직 상용화 안 된 기후리스크 상품 선점</a:t>
            </a:r>
            <a:endParaRPr lang="en-US" sz="1250" dirty="0"/>
          </a:p>
        </p:txBody>
      </p:sp>
      <p:sp>
        <p:nvSpPr>
          <p:cNvPr id="13" name="Text 11"/>
          <p:cNvSpPr txBox="1"/>
          <p:nvPr/>
        </p:nvSpPr>
        <p:spPr>
          <a:xfrm>
            <a:off x="6583680" y="44348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청구~지급 전 과정 온체인 투명 기록 + B2B API로 기술 재판매</a:t>
            </a:r>
            <a:endParaRPr lang="en-US" sz="1250" dirty="0"/>
          </a:p>
        </p:txBody>
      </p:sp>
      <p:sp>
        <p:nvSpPr>
          <p:cNvPr id="14" name="Text 1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중앙집중형 = 보험사 내부 시스템이 사람의 확인을 거쳐 지급을 최종 승인하는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치아보험 — 생명·손해보험 전체를 공략하는 메인 상품</a:t>
            </a:r>
            <a:endParaRPr lang="en-US" sz="3000" dirty="0"/>
          </a:p>
        </p:txBody>
      </p:sp>
      <p:sp>
        <p:nvSpPr>
          <p:cNvPr id="3" name="Text 1"/>
          <p:cNvSpPr txBox="1"/>
          <p:nvPr/>
        </p:nvSpPr>
        <p:spPr>
          <a:xfrm>
            <a:off x="548640" y="1371600"/>
            <a:ext cx="11064240" cy="54864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치아보험은 제3보험으로 분류되어 생보사·손보사 모두 판매 가능 — 이미 구현된 메인 상품이며, 손해보험 전용 지수형(파라메트릭) 보험까지 함께 갖춰 보험업권 전체를 커버합니다</a:t>
            </a:r>
            <a:endParaRPr lang="en-US" sz="1400" dirty="0"/>
          </a:p>
        </p:txBody>
      </p:sp>
      <p:sp>
        <p:nvSpPr>
          <p:cNvPr id="4" name="Shape 2"/>
          <p:cNvSpPr/>
          <p:nvPr/>
        </p:nvSpPr>
        <p:spPr>
          <a:xfrm>
            <a:off x="54864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68880"/>
            <a:ext cx="640080" cy="640080"/>
          </a:xfrm>
          <a:prstGeom prst="ellipse">
            <a:avLst/>
          </a:prstGeom>
          <a:solidFill>
            <a:srgbClr val="B8862F"/>
          </a:solidFill>
          <a:ln/>
        </p:spPr>
      </p:sp>
      <p:sp>
        <p:nvSpPr>
          <p:cNvPr id="6" name="Text 4"/>
          <p:cNvSpPr txBox="1"/>
          <p:nvPr/>
        </p:nvSpPr>
        <p:spPr>
          <a:xfrm>
            <a:off x="86868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이미 구현된 메인 상품</a:t>
            </a:r>
            <a:endParaRPr lang="en-US" sz="1450" dirty="0"/>
          </a:p>
        </p:txBody>
      </p:sp>
      <p:sp>
        <p:nvSpPr>
          <p:cNvPr id="8" name="Text 6"/>
          <p:cNvSpPr txBox="1"/>
          <p:nvPr/>
        </p:nvSpPr>
        <p:spPr>
          <a:xfrm>
            <a:off x="82296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자사 치아보험 상품으로 청약·증권발급·보험료납입·청구·만기환급 전 과정이 이미 블록체인 스마트컨트랙트로 자동화되어 동작 중</a:t>
            </a:r>
            <a:endParaRPr lang="en-US" sz="1150" dirty="0"/>
          </a:p>
        </p:txBody>
      </p:sp>
      <p:sp>
        <p:nvSpPr>
          <p:cNvPr id="9" name="Shape 7"/>
          <p:cNvSpPr/>
          <p:nvPr/>
        </p:nvSpPr>
        <p:spPr>
          <a:xfrm>
            <a:off x="434340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68880"/>
            <a:ext cx="640080" cy="640080"/>
          </a:xfrm>
          <a:prstGeom prst="ellipse">
            <a:avLst/>
          </a:prstGeom>
          <a:solidFill>
            <a:srgbClr val="B8862F"/>
          </a:solidFill>
          <a:ln/>
        </p:spPr>
      </p:sp>
      <p:sp>
        <p:nvSpPr>
          <p:cNvPr id="11" name="Text 9"/>
          <p:cNvSpPr txBox="1"/>
          <p:nvPr/>
        </p:nvSpPr>
        <p:spPr>
          <a:xfrm>
            <a:off x="466344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생명보험·손해보험 모두 판매 가능</a:t>
            </a:r>
            <a:endParaRPr lang="en-US" sz="1450" dirty="0"/>
          </a:p>
        </p:txBody>
      </p:sp>
      <p:sp>
        <p:nvSpPr>
          <p:cNvPr id="13" name="Text 11"/>
          <p:cNvSpPr txBox="1"/>
          <p:nvPr/>
        </p:nvSpPr>
        <p:spPr>
          <a:xfrm>
            <a:off x="461772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질병·상해·간병을 보장하는 ‘제3보험’은 2003년 보험업법 개정 이후 생보사·손보사 구분 없이 양측 모두 취급 가능한 독립 보험 영역</a:t>
            </a:r>
            <a:endParaRPr lang="en-US" sz="1150" dirty="0"/>
          </a:p>
        </p:txBody>
      </p:sp>
      <p:sp>
        <p:nvSpPr>
          <p:cNvPr id="14" name="Shape 12"/>
          <p:cNvSpPr/>
          <p:nvPr/>
        </p:nvSpPr>
        <p:spPr>
          <a:xfrm>
            <a:off x="813816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68880"/>
            <a:ext cx="640080" cy="640080"/>
          </a:xfrm>
          <a:prstGeom prst="ellipse">
            <a:avLst/>
          </a:prstGeom>
          <a:solidFill>
            <a:srgbClr val="B8862F"/>
          </a:solidFill>
          <a:ln/>
        </p:spPr>
      </p:sp>
      <p:sp>
        <p:nvSpPr>
          <p:cNvPr id="16" name="Text 14"/>
          <p:cNvSpPr txBox="1"/>
          <p:nvPr/>
        </p:nvSpPr>
        <p:spPr>
          <a:xfrm>
            <a:off x="845820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손보 전용 지수형 보험도 함께 보유</a:t>
            </a:r>
            <a:endParaRPr lang="en-US" sz="1450" dirty="0"/>
          </a:p>
        </p:txBody>
      </p:sp>
      <p:sp>
        <p:nvSpPr>
          <p:cNvPr id="18" name="Text 16"/>
          <p:cNvSpPr txBox="1"/>
          <p:nvPr/>
        </p:nvSpPr>
        <p:spPr>
          <a:xfrm>
            <a:off x="841248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치아보험(생보+손보)에 더해, 손해보험사만 판매 가능한 지수형(파라메트릭) 보험(항공지연·폭염특보)도 포트폴리오에 포함 — 생보·손보 각 채널에 맞춘 투트랙 전략</a:t>
            </a:r>
            <a:endParaRPr lang="en-US" sz="115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치아보험(생보+손보 겸용)을 메인으로, 손보 전용 지수형 보험을 더한 포트폴리오로 단일 채널에 갇히지 않고 보험업권 전체를 공략할 수 있는 B2B 기술기반을 확보했습니다</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제3보험 = 질병·상해·간병 보장 보험으로 생명·손해보험사 모두 판매 가능 · 지수형(파라메트릭) 보험 = 측정 가능한 지표가 기준치를 넘으면 자동 지급되는 손해보험 전용 상품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비즈니스 모델 — 5가지 유형의 수익이 함께 쌓이는 구조</a:t>
            </a:r>
            <a:endParaRPr lang="en-US" sz="3000" dirty="0"/>
          </a:p>
        </p:txBody>
      </p:sp>
      <p:sp>
        <p:nvSpPr>
          <p:cNvPr id="3" name="Shape 1"/>
          <p:cNvSpPr/>
          <p:nvPr/>
        </p:nvSpPr>
        <p:spPr>
          <a:xfrm>
            <a:off x="54864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4" name="Text 2"/>
          <p:cNvSpPr txBox="1"/>
          <p:nvPr/>
        </p:nvSpPr>
        <p:spPr>
          <a:xfrm>
            <a:off x="73152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1회성 수익</a:t>
            </a:r>
            <a:endParaRPr lang="en-US" sz="1350" dirty="0"/>
          </a:p>
        </p:txBody>
      </p:sp>
      <p:sp>
        <p:nvSpPr>
          <p:cNvPr id="5" name="Text 3"/>
          <p:cNvSpPr txBox="1"/>
          <p:nvPr/>
        </p:nvSpPr>
        <p:spPr>
          <a:xfrm>
            <a:off x="73152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보험사 초기 구축비, B2B API 온보딩 수수료</a:t>
            </a:r>
            <a:endParaRPr lang="en-US" sz="1050" dirty="0"/>
          </a:p>
        </p:txBody>
      </p:sp>
      <p:sp>
        <p:nvSpPr>
          <p:cNvPr id="6" name="Shape 4"/>
          <p:cNvSpPr/>
          <p:nvPr/>
        </p:nvSpPr>
        <p:spPr>
          <a:xfrm>
            <a:off x="2788920" y="1645920"/>
            <a:ext cx="2048256" cy="2743200"/>
          </a:xfrm>
          <a:prstGeom prst="roundRect">
            <a:avLst>
              <a:gd name="adj" fmla="val 3571"/>
            </a:avLst>
          </a:prstGeom>
          <a:solidFill>
            <a:srgbClr val="B8862F"/>
          </a:solidFill>
          <a:ln/>
          <a:effectLst>
            <a:outerShdw sx="100000" sy="100000" kx="0" ky="0" algn="bl" rotWithShape="0" blurRad="76200" dist="25400" dir="5400000">
              <a:srgbClr val="16233F">
                <a:alpha val="12000"/>
              </a:srgbClr>
            </a:outerShdw>
          </a:effectLst>
        </p:spPr>
      </p:sp>
      <p:sp>
        <p:nvSpPr>
          <p:cNvPr id="7" name="Text 5"/>
          <p:cNvSpPr txBox="1"/>
          <p:nvPr/>
        </p:nvSpPr>
        <p:spPr>
          <a:xfrm>
            <a:off x="297180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연속성 수익</a:t>
            </a:r>
            <a:endParaRPr lang="en-US" sz="1350" dirty="0"/>
          </a:p>
        </p:txBody>
      </p:sp>
      <p:sp>
        <p:nvSpPr>
          <p:cNvPr id="8" name="Text 6"/>
          <p:cNvSpPr txBox="1"/>
          <p:nvPr/>
        </p:nvSpPr>
        <p:spPr>
          <a:xfrm>
            <a:off x="297180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AI Assistant·언더라이팅 엔진 라이선스, B2B 온체인 API 월정산, 재보험풀 AUM 수수료</a:t>
            </a:r>
            <a:endParaRPr lang="en-US" sz="1050" dirty="0"/>
          </a:p>
        </p:txBody>
      </p:sp>
      <p:sp>
        <p:nvSpPr>
          <p:cNvPr id="9" name="Text 7"/>
          <p:cNvSpPr txBox="1"/>
          <p:nvPr/>
        </p:nvSpPr>
        <p:spPr>
          <a:xfrm>
            <a:off x="2971800" y="3931920"/>
            <a:ext cx="1682496" cy="320040"/>
          </a:xfrm>
          <a:prstGeom prst="rect">
            <a:avLst/>
          </a:prstGeom>
          <a:noFill/>
          <a:ln/>
        </p:spPr>
        <p:txBody>
          <a:bodyPr wrap="square" lIns="0" tIns="0" rIns="0" bIns="0" rtlCol="0" anchor="ctr"/>
          <a:lstStyle/>
          <a:p>
            <a:pPr indent="0" marL="0">
              <a:buNone/>
            </a:pPr>
            <a:r>
              <a:rPr lang="en-US" sz="950" b="1" dirty="0">
                <a:solidFill>
                  <a:srgbClr val="16233F"/>
                </a:solidFill>
                <a:latin typeface="Calibri" pitchFamily="34" charset="0"/>
                <a:ea typeface="Calibri" pitchFamily="34" charset="-122"/>
                <a:cs typeface="Calibri" pitchFamily="34" charset="-120"/>
              </a:rPr>
              <a:t>핵심 매출 기반</a:t>
            </a:r>
            <a:endParaRPr lang="en-US" sz="950" dirty="0"/>
          </a:p>
        </p:txBody>
      </p:sp>
      <p:sp>
        <p:nvSpPr>
          <p:cNvPr id="10" name="Shape 8"/>
          <p:cNvSpPr/>
          <p:nvPr/>
        </p:nvSpPr>
        <p:spPr>
          <a:xfrm>
            <a:off x="502920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1" name="Text 9"/>
          <p:cNvSpPr txBox="1"/>
          <p:nvPr/>
        </p:nvSpPr>
        <p:spPr>
          <a:xfrm>
            <a:off x="521208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비용절감→수익전환</a:t>
            </a:r>
            <a:endParaRPr lang="en-US" sz="1350" dirty="0"/>
          </a:p>
        </p:txBody>
      </p:sp>
      <p:sp>
        <p:nvSpPr>
          <p:cNvPr id="12" name="Text 10"/>
          <p:cNvSpPr txBox="1"/>
          <p:nvPr/>
        </p:nvSpPr>
        <p:spPr>
          <a:xfrm>
            <a:off x="521208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자동지급·자동대환 절감액의 일부를 성과수수료로 수취</a:t>
            </a:r>
            <a:endParaRPr lang="en-US" sz="1050" dirty="0"/>
          </a:p>
        </p:txBody>
      </p:sp>
      <p:sp>
        <p:nvSpPr>
          <p:cNvPr id="13" name="Shape 11"/>
          <p:cNvSpPr/>
          <p:nvPr/>
        </p:nvSpPr>
        <p:spPr>
          <a:xfrm>
            <a:off x="726948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4" name="Text 12"/>
          <p:cNvSpPr txBox="1"/>
          <p:nvPr/>
        </p:nvSpPr>
        <p:spPr>
          <a:xfrm>
            <a:off x="745236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수수료 절감(차별화)</a:t>
            </a:r>
            <a:endParaRPr lang="en-US" sz="1350" dirty="0"/>
          </a:p>
        </p:txBody>
      </p:sp>
      <p:sp>
        <p:nvSpPr>
          <p:cNvPr id="15" name="Text 13"/>
          <p:cNvSpPr txBox="1"/>
          <p:nvPr/>
        </p:nvSpPr>
        <p:spPr>
          <a:xfrm>
            <a:off x="745236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재보험 중개수수료를 온체인 직접연결로 낮추고 절감분 공유</a:t>
            </a:r>
            <a:endParaRPr lang="en-US" sz="1050" dirty="0"/>
          </a:p>
        </p:txBody>
      </p:sp>
      <p:sp>
        <p:nvSpPr>
          <p:cNvPr id="16" name="Shape 14"/>
          <p:cNvSpPr/>
          <p:nvPr/>
        </p:nvSpPr>
        <p:spPr>
          <a:xfrm>
            <a:off x="950976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969264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헬스케어 파트너십</a:t>
            </a:r>
            <a:endParaRPr lang="en-US" sz="1350" dirty="0"/>
          </a:p>
        </p:txBody>
      </p:sp>
      <p:sp>
        <p:nvSpPr>
          <p:cNvPr id="18" name="Text 16"/>
          <p:cNvSpPr txBox="1"/>
          <p:nvPr/>
        </p:nvSpPr>
        <p:spPr>
          <a:xfrm>
            <a:off x="969264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건강검진센터·치과병원×보험사 매칭 CPA/CPS 리퍼럴 수수료 — CareLink 전환 성사 건당 수취</a:t>
            </a:r>
            <a:endParaRPr lang="en-US" sz="1050" dirty="0"/>
          </a:p>
        </p:txBody>
      </p:sp>
      <p:sp>
        <p:nvSpPr>
          <p:cNvPr id="19" name="Text 17"/>
          <p:cNvSpPr txBox="1"/>
          <p:nvPr/>
        </p:nvSpPr>
        <p:spPr>
          <a:xfrm>
            <a:off x="548640" y="4663440"/>
            <a:ext cx="11064240" cy="457200"/>
          </a:xfrm>
          <a:prstGeom prst="rect">
            <a:avLst/>
          </a:prstGeom>
          <a:noFill/>
          <a:ln/>
        </p:spPr>
        <p:txBody>
          <a:bodyPr wrap="square" lIns="0" tIns="0" rIns="0" bIns="0" rtlCol="0" anchor="ctr"/>
          <a:lstStyle/>
          <a:p>
            <a:pPr indent="0" marL="0">
              <a:buNone/>
            </a:pPr>
            <a:r>
              <a:rPr lang="en-US" sz="1350" i="1" dirty="0">
                <a:solidFill>
                  <a:srgbClr val="5A5E68"/>
                </a:solidFill>
                <a:latin typeface="Calibri" pitchFamily="34" charset="0"/>
                <a:ea typeface="Calibri" pitchFamily="34" charset="-122"/>
                <a:cs typeface="Calibri" pitchFamily="34" charset="-120"/>
              </a:rPr>
              <a:t>보험업법·자본시장법 제약상 직접 라이선스 대신, 기존 보험사 대상 B2B 기술공급 + 건강검진센터 제휴 리퍼럴로 포지셔닝</a:t>
            </a:r>
            <a:endParaRPr lang="en-US" sz="135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AUM = 운용자산규모(예치·운용 중인 총자산) · B2B = 기업 간 거래(보험사·GA 대상 기술 공급) · 리퍼럴 = 고객을 연결해 거래가 성사됐을 때 받는 중개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 건강검진센터·치과병원 × 보험사 매칭 플랫폼</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검진·진료 직후가 보험 니즈가 가장 선명한 순간입니다 — 그 타이밍에 AI 상담을 연결해 3자가 함께 수익을 나눕니다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건강검진센터·치과병원</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검진·진료 직후 고객 동의 획득</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즉시 위험분석+맞춤 추천</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보험사</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가입 전환 시 중개수수료 발생</a:t>
            </a:r>
            <a:endParaRPr lang="en-US" sz="1350" dirty="0"/>
          </a:p>
        </p:txBody>
      </p:sp>
      <p:sp>
        <p:nvSpPr>
          <p:cNvPr id="12" name="Shape 10"/>
          <p:cNvSpPr/>
          <p:nvPr/>
        </p:nvSpPr>
        <p:spPr>
          <a:xfrm>
            <a:off x="548640" y="3200400"/>
            <a:ext cx="5303520" cy="2880360"/>
          </a:xfrm>
          <a:prstGeom prst="roundRect">
            <a:avLst>
              <a:gd name="adj" fmla="val 254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47472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검진센터·치과병원 측 가치</a:t>
            </a:r>
            <a:endParaRPr lang="en-US" sz="1600" dirty="0"/>
          </a:p>
        </p:txBody>
      </p:sp>
      <p:sp>
        <p:nvSpPr>
          <p:cNvPr id="14" name="Text 12"/>
          <p:cNvSpPr txBox="1"/>
          <p:nvPr/>
        </p:nvSpPr>
        <p:spPr>
          <a:xfrm>
            <a:off x="822960" y="425196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검진·진료 직후 즉시 연결되는 신규 고객 채널 — 별도 마케팅비 없이 전환 수수료 수취</a:t>
            </a:r>
            <a:endParaRPr lang="en-US" sz="1250" dirty="0"/>
          </a:p>
        </p:txBody>
      </p:sp>
      <p:sp>
        <p:nvSpPr>
          <p:cNvPr id="15" name="Text 13"/>
          <p:cNvSpPr txBox="1"/>
          <p:nvPr/>
        </p:nvSpPr>
        <p:spPr>
          <a:xfrm>
            <a:off x="822960" y="481584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재검진·웰니스 체크인 유도로 재방문율 상승</a:t>
            </a:r>
            <a:endParaRPr lang="en-US" sz="1250" dirty="0"/>
          </a:p>
        </p:txBody>
      </p:sp>
      <p:sp>
        <p:nvSpPr>
          <p:cNvPr id="16" name="Text 14"/>
          <p:cNvSpPr txBox="1"/>
          <p:nvPr/>
        </p:nvSpPr>
        <p:spPr>
          <a:xfrm>
            <a:off x="822960" y="537972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기존 검진 운영 인프라를 그대로 활용 — 추가 설비투자 불필요</a:t>
            </a:r>
            <a:endParaRPr lang="en-US" sz="1250" dirty="0"/>
          </a:p>
        </p:txBody>
      </p:sp>
      <p:sp>
        <p:nvSpPr>
          <p:cNvPr id="17" name="Shape 15"/>
          <p:cNvSpPr/>
          <p:nvPr/>
        </p:nvSpPr>
        <p:spPr>
          <a:xfrm>
            <a:off x="6309360" y="3200400"/>
            <a:ext cx="5303520" cy="2880360"/>
          </a:xfrm>
          <a:prstGeom prst="roundRect">
            <a:avLst>
              <a:gd name="adj" fmla="val 2540"/>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47472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보험사 측 가치</a:t>
            </a:r>
            <a:endParaRPr lang="en-US" sz="1600" dirty="0"/>
          </a:p>
        </p:txBody>
      </p:sp>
      <p:sp>
        <p:nvSpPr>
          <p:cNvPr id="19" name="Text 17"/>
          <p:cNvSpPr txBox="1"/>
          <p:nvPr/>
        </p:nvSpPr>
        <p:spPr>
          <a:xfrm>
            <a:off x="6583680" y="425196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가장 설득력 있는 타이밍(검진·진료 직후)에 유입되는 고전환 리드 — 광고비 대비 효율 개선</a:t>
            </a:r>
            <a:endParaRPr lang="en-US" sz="1250" dirty="0"/>
          </a:p>
        </p:txBody>
      </p:sp>
      <p:sp>
        <p:nvSpPr>
          <p:cNvPr id="20" name="Text 18"/>
          <p:cNvSpPr txBox="1"/>
          <p:nvPr/>
        </p:nvSpPr>
        <p:spPr>
          <a:xfrm>
            <a:off x="6583680" y="481584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가입 후에도 웰니스 체크인으로 지속적 건강데이터 확보 → 손해율 관리에 활용</a:t>
            </a:r>
            <a:endParaRPr lang="en-US" sz="1250" dirty="0"/>
          </a:p>
        </p:txBody>
      </p:sp>
      <p:sp>
        <p:nvSpPr>
          <p:cNvPr id="21" name="Text 19"/>
          <p:cNvSpPr txBox="1"/>
          <p:nvPr/>
        </p:nvSpPr>
        <p:spPr>
          <a:xfrm>
            <a:off x="6583680" y="537972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별도 설계사 조직 없이 데이터 기반 채널 하나를 추가 확보</a:t>
            </a:r>
            <a:endParaRPr lang="en-US" sz="1250" dirty="0"/>
          </a:p>
        </p:txBody>
      </p:sp>
      <p:sp>
        <p:nvSpPr>
          <p:cNvPr id="22" name="Text 20"/>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플랫폼(인슈어체인)은 두 축 모두에서 성사 건당 CPA/CPS 중개수수료를 받는 구조 — 기존 B2B API 수익모델과 동일한 패턴을 헬스케어 채널로 확장한 것입니다. 치과병원 채널도 동일한 CPM·CPC·CPA 체계로 정산하되, 구체 전환율·수수료율은 제휴 협의에 따라 검진센터 사례와 다를 수 있습니다</a:t>
            </a:r>
            <a:endParaRPr lang="en-US" sz="1150" dirty="0"/>
          </a:p>
        </p:txBody>
      </p:sp>
      <p:sp>
        <p:nvSpPr>
          <p:cNvPr id="23" name="Text 2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리퍼럴(referral) 수수료 = 고객을 연결해 거래가 성사됐을 때 받는 중개 수수료 · CareLink = 건강검진 데이터 기반 보험 위험 분석·추천 기능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계속되는 수익 구조 — 연속성 수익 비중이 커지는 설계</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단계가 진행될수록 1회성 구축비 의존도는 낮아지고, B2B API·라이선스·AUM 수수료·헬스케어 리퍼럴 같은 반복 매출이 매출 구성의 중심이 되는 구조</a:t>
            </a:r>
            <a:endParaRPr lang="en-US" sz="1350" dirty="0"/>
          </a:p>
        </p:txBody>
      </p:sp>
      <p:graphicFrame>
        <p:nvGraphicFramePr>
          <p:cNvPr id="4" name="Chart 0" descr=""/>
          <p:cNvGraphicFramePr/>
          <p:nvPr/>
        </p:nvGraphicFramePr>
        <p:xfrm>
          <a:off x="548640" y="201168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연속성 수익 = 매월·매년 반복적으로 쌓이는 매출 · 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기술 검증 현황 — 이미 구현·테스트된 플랫폼</a:t>
            </a:r>
            <a:endParaRPr lang="en-US" sz="3000" dirty="0"/>
          </a:p>
        </p:txBody>
      </p:sp>
      <p:sp>
        <p:nvSpPr>
          <p:cNvPr id="3" name="Shape 1"/>
          <p:cNvSpPr/>
          <p:nvPr/>
        </p:nvSpPr>
        <p:spPr>
          <a:xfrm>
            <a:off x="54864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4" name="Text 2"/>
          <p:cNvSpPr txBox="1"/>
          <p:nvPr/>
        </p:nvSpPr>
        <p:spPr>
          <a:xfrm>
            <a:off x="54864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167+</a:t>
            </a:r>
            <a:endParaRPr lang="en-US" sz="4400" dirty="0"/>
          </a:p>
        </p:txBody>
      </p:sp>
      <p:sp>
        <p:nvSpPr>
          <p:cNvPr id="5" name="Text 3"/>
          <p:cNvSpPr txBox="1"/>
          <p:nvPr/>
        </p:nvSpPr>
        <p:spPr>
          <a:xfrm>
            <a:off x="73152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Hardhat 단위테스트 통과</a:t>
            </a:r>
            <a:endParaRPr lang="en-US" sz="1250" dirty="0"/>
          </a:p>
        </p:txBody>
      </p:sp>
      <p:sp>
        <p:nvSpPr>
          <p:cNvPr id="6" name="Shape 4"/>
          <p:cNvSpPr/>
          <p:nvPr/>
        </p:nvSpPr>
        <p:spPr>
          <a:xfrm>
            <a:off x="342900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7" name="Text 5"/>
          <p:cNvSpPr txBox="1"/>
          <p:nvPr/>
        </p:nvSpPr>
        <p:spPr>
          <a:xfrm>
            <a:off x="342900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11</a:t>
            </a:r>
            <a:endParaRPr lang="en-US" sz="4400" dirty="0"/>
          </a:p>
        </p:txBody>
      </p:sp>
      <p:sp>
        <p:nvSpPr>
          <p:cNvPr id="8" name="Text 6"/>
          <p:cNvSpPr txBox="1"/>
          <p:nvPr/>
        </p:nvSpPr>
        <p:spPr>
          <a:xfrm>
            <a:off x="361188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신규 상품·고도화 기능 구현</a:t>
            </a:r>
            <a:endParaRPr lang="en-US" sz="1250" dirty="0"/>
          </a:p>
        </p:txBody>
      </p:sp>
      <p:sp>
        <p:nvSpPr>
          <p:cNvPr id="9" name="Shape 7"/>
          <p:cNvSpPr/>
          <p:nvPr/>
        </p:nvSpPr>
        <p:spPr>
          <a:xfrm>
            <a:off x="630936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30936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18</a:t>
            </a:r>
            <a:endParaRPr lang="en-US" sz="4400" dirty="0"/>
          </a:p>
        </p:txBody>
      </p:sp>
      <p:sp>
        <p:nvSpPr>
          <p:cNvPr id="11" name="Text 9"/>
          <p:cNvSpPr txBox="1"/>
          <p:nvPr/>
        </p:nvSpPr>
        <p:spPr>
          <a:xfrm>
            <a:off x="649224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언더라이팅 AI 서브에이전트 도구</a:t>
            </a:r>
            <a:endParaRPr lang="en-US" sz="1250" dirty="0"/>
          </a:p>
        </p:txBody>
      </p:sp>
      <p:sp>
        <p:nvSpPr>
          <p:cNvPr id="12" name="Shape 10"/>
          <p:cNvSpPr/>
          <p:nvPr/>
        </p:nvSpPr>
        <p:spPr>
          <a:xfrm>
            <a:off x="918972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11"/>
          <p:cNvSpPr txBox="1"/>
          <p:nvPr/>
        </p:nvSpPr>
        <p:spPr>
          <a:xfrm>
            <a:off x="918972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7</a:t>
            </a:r>
            <a:endParaRPr lang="en-US" sz="4400" dirty="0"/>
          </a:p>
        </p:txBody>
      </p:sp>
      <p:sp>
        <p:nvSpPr>
          <p:cNvPr id="14" name="Text 12"/>
          <p:cNvSpPr txBox="1"/>
          <p:nvPr/>
        </p:nvSpPr>
        <p:spPr>
          <a:xfrm>
            <a:off x="937260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자체 구축 스마트컨트랙트</a:t>
            </a:r>
            <a:endParaRPr lang="en-US" sz="1250" dirty="0"/>
          </a:p>
        </p:txBody>
      </p:sp>
      <p:sp>
        <p:nvSpPr>
          <p:cNvPr id="15" name="Shape 13"/>
          <p:cNvSpPr/>
          <p:nvPr/>
        </p:nvSpPr>
        <p:spPr>
          <a:xfrm>
            <a:off x="594360" y="4096512"/>
            <a:ext cx="91440" cy="91440"/>
          </a:xfrm>
          <a:prstGeom prst="ellipse">
            <a:avLst/>
          </a:prstGeom>
          <a:solidFill>
            <a:srgbClr val="B8862F"/>
          </a:solidFill>
          <a:ln/>
        </p:spPr>
      </p:sp>
      <p:sp>
        <p:nvSpPr>
          <p:cNvPr id="16" name="Text 14"/>
          <p:cNvSpPr txBox="1"/>
          <p:nvPr/>
        </p:nvSpPr>
        <p:spPr>
          <a:xfrm>
            <a:off x="868680" y="4023360"/>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Hardhat 로컬 테스트넷에 실제 스마트컨트랙트(청약·보험료·청구·준비금·파라메트릭·재보험풀) 전 과정 배포·검증</a:t>
            </a:r>
            <a:endParaRPr lang="en-US" sz="1350" dirty="0"/>
          </a:p>
        </p:txBody>
      </p:sp>
      <p:sp>
        <p:nvSpPr>
          <p:cNvPr id="17" name="Shape 15"/>
          <p:cNvSpPr/>
          <p:nvPr/>
        </p:nvSpPr>
        <p:spPr>
          <a:xfrm>
            <a:off x="594360" y="4718304"/>
            <a:ext cx="91440" cy="91440"/>
          </a:xfrm>
          <a:prstGeom prst="ellipse">
            <a:avLst/>
          </a:prstGeom>
          <a:solidFill>
            <a:srgbClr val="B8862F"/>
          </a:solidFill>
          <a:ln/>
        </p:spPr>
      </p:sp>
      <p:sp>
        <p:nvSpPr>
          <p:cNvPr id="18" name="Text 16"/>
          <p:cNvSpPr txBox="1"/>
          <p:nvPr/>
        </p:nvSpPr>
        <p:spPr>
          <a:xfrm>
            <a:off x="868680" y="4645152"/>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관리자 대시보드에 손해율·사업비율·합산비율(보험업 표준 수익성 지표) 실시간 노출</a:t>
            </a:r>
            <a:endParaRPr lang="en-US" sz="1350" dirty="0"/>
          </a:p>
        </p:txBody>
      </p:sp>
      <p:sp>
        <p:nvSpPr>
          <p:cNvPr id="19" name="Shape 17"/>
          <p:cNvSpPr/>
          <p:nvPr/>
        </p:nvSpPr>
        <p:spPr>
          <a:xfrm>
            <a:off x="594360" y="5340096"/>
            <a:ext cx="91440" cy="91440"/>
          </a:xfrm>
          <a:prstGeom prst="ellipse">
            <a:avLst/>
          </a:prstGeom>
          <a:solidFill>
            <a:srgbClr val="B8862F"/>
          </a:solidFill>
          <a:ln/>
        </p:spPr>
      </p:sp>
      <p:sp>
        <p:nvSpPr>
          <p:cNvPr id="20" name="Text 18"/>
          <p:cNvSpPr txBox="1"/>
          <p:nvPr/>
        </p:nvSpPr>
        <p:spPr>
          <a:xfrm>
            <a:off x="868680" y="5266944"/>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청구 오라클: 소액은 즉시 자동처리, 고액(보장한도 20% 초과)은 AI 어드바이저 의견 + 사람 승인으로 이원화</a:t>
            </a:r>
            <a:endParaRPr lang="en-US" sz="135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사업비율 = 보험료 대비 운영 경비 비율 · 합산비율 = 손해율+사업비율(100% 초과 시 보험영업 자체는 적자)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사업화 로드맵</a:t>
            </a:r>
            <a:endParaRPr lang="en-US" sz="3000" dirty="0"/>
          </a:p>
        </p:txBody>
      </p:sp>
      <p:sp>
        <p:nvSpPr>
          <p:cNvPr id="3" name="Shape 1"/>
          <p:cNvSpPr/>
          <p:nvPr/>
        </p:nvSpPr>
        <p:spPr>
          <a:xfrm>
            <a:off x="1188720" y="2240280"/>
            <a:ext cx="10058400" cy="0"/>
          </a:xfrm>
          <a:prstGeom prst="line">
            <a:avLst/>
          </a:prstGeom>
          <a:noFill/>
          <a:ln w="25400">
            <a:solidFill>
              <a:srgbClr val="DCD3BF"/>
            </a:solidFill>
            <a:prstDash val="solid"/>
          </a:ln>
        </p:spPr>
      </p:sp>
      <p:sp>
        <p:nvSpPr>
          <p:cNvPr id="4" name="Shape 2"/>
          <p:cNvSpPr/>
          <p:nvPr/>
        </p:nvSpPr>
        <p:spPr>
          <a:xfrm>
            <a:off x="1531620" y="1828800"/>
            <a:ext cx="640080" cy="640080"/>
          </a:xfrm>
          <a:prstGeom prst="ellipse">
            <a:avLst/>
          </a:prstGeom>
          <a:solidFill>
            <a:srgbClr val="B8862F"/>
          </a:solidFill>
          <a:ln/>
        </p:spPr>
      </p:sp>
      <p:sp>
        <p:nvSpPr>
          <p:cNvPr id="5" name="Text 3"/>
          <p:cNvSpPr txBox="1"/>
          <p:nvPr/>
        </p:nvSpPr>
        <p:spPr>
          <a:xfrm>
            <a:off x="153162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1</a:t>
            </a:r>
            <a:endParaRPr lang="en-US" sz="2000" dirty="0"/>
          </a:p>
        </p:txBody>
      </p:sp>
      <p:sp>
        <p:nvSpPr>
          <p:cNvPr id="6" name="Shape 4"/>
          <p:cNvSpPr/>
          <p:nvPr/>
        </p:nvSpPr>
        <p:spPr>
          <a:xfrm>
            <a:off x="54864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7" name="Text 5"/>
          <p:cNvSpPr txBox="1"/>
          <p:nvPr/>
        </p:nvSpPr>
        <p:spPr>
          <a:xfrm>
            <a:off x="73152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파일럿 준비</a:t>
            </a:r>
            <a:endParaRPr lang="en-US" sz="1450" dirty="0"/>
          </a:p>
        </p:txBody>
      </p:sp>
      <p:sp>
        <p:nvSpPr>
          <p:cNvPr id="8" name="Text 6"/>
          <p:cNvSpPr txBox="1"/>
          <p:nvPr/>
        </p:nvSpPr>
        <p:spPr>
          <a:xfrm>
            <a:off x="73152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0~3개월</a:t>
            </a:r>
            <a:endParaRPr lang="en-US" sz="1150" dirty="0"/>
          </a:p>
        </p:txBody>
      </p:sp>
      <p:sp>
        <p:nvSpPr>
          <p:cNvPr id="9" name="Text 7"/>
          <p:cNvSpPr txBox="1"/>
          <p:nvPr/>
        </p:nvSpPr>
        <p:spPr>
          <a:xfrm>
            <a:off x="77724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법인·사업자등록, 디지털 금융기술 내재화 사업 지원서, 핀테크지원센터 컨설팅</a:t>
            </a:r>
            <a:endParaRPr lang="en-US" sz="1100" dirty="0"/>
          </a:p>
        </p:txBody>
      </p:sp>
      <p:sp>
        <p:nvSpPr>
          <p:cNvPr id="10" name="Shape 8"/>
          <p:cNvSpPr/>
          <p:nvPr/>
        </p:nvSpPr>
        <p:spPr>
          <a:xfrm>
            <a:off x="4411980" y="1828800"/>
            <a:ext cx="640080" cy="640080"/>
          </a:xfrm>
          <a:prstGeom prst="ellipse">
            <a:avLst/>
          </a:prstGeom>
          <a:solidFill>
            <a:srgbClr val="B8862F"/>
          </a:solidFill>
          <a:ln/>
        </p:spPr>
      </p:sp>
      <p:sp>
        <p:nvSpPr>
          <p:cNvPr id="11" name="Text 9"/>
          <p:cNvSpPr txBox="1"/>
          <p:nvPr/>
        </p:nvSpPr>
        <p:spPr>
          <a:xfrm>
            <a:off x="441198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2</a:t>
            </a:r>
            <a:endParaRPr lang="en-US" sz="2000" dirty="0"/>
          </a:p>
        </p:txBody>
      </p:sp>
      <p:sp>
        <p:nvSpPr>
          <p:cNvPr id="12" name="Shape 10"/>
          <p:cNvSpPr/>
          <p:nvPr/>
        </p:nvSpPr>
        <p:spPr>
          <a:xfrm>
            <a:off x="342900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361188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컨소시엄 구축</a:t>
            </a:r>
            <a:endParaRPr lang="en-US" sz="1450" dirty="0"/>
          </a:p>
        </p:txBody>
      </p:sp>
      <p:sp>
        <p:nvSpPr>
          <p:cNvPr id="14" name="Text 12"/>
          <p:cNvSpPr txBox="1"/>
          <p:nvPr/>
        </p:nvSpPr>
        <p:spPr>
          <a:xfrm>
            <a:off x="361188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3~9개월</a:t>
            </a:r>
            <a:endParaRPr lang="en-US" sz="1150" dirty="0"/>
          </a:p>
        </p:txBody>
      </p:sp>
      <p:sp>
        <p:nvSpPr>
          <p:cNvPr id="15" name="Text 13"/>
          <p:cNvSpPr txBox="1"/>
          <p:nvPr/>
        </p:nvSpPr>
        <p:spPr>
          <a:xfrm>
            <a:off x="365760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손보사 1곳 PoC MOU, 혁신금융서비스 공동신청 검토</a:t>
            </a:r>
            <a:endParaRPr lang="en-US" sz="1100" dirty="0"/>
          </a:p>
        </p:txBody>
      </p:sp>
      <p:sp>
        <p:nvSpPr>
          <p:cNvPr id="16" name="Shape 14"/>
          <p:cNvSpPr/>
          <p:nvPr/>
        </p:nvSpPr>
        <p:spPr>
          <a:xfrm>
            <a:off x="7292340" y="1828800"/>
            <a:ext cx="640080" cy="640080"/>
          </a:xfrm>
          <a:prstGeom prst="ellipse">
            <a:avLst/>
          </a:prstGeom>
          <a:solidFill>
            <a:srgbClr val="B8862F"/>
          </a:solidFill>
          <a:ln/>
        </p:spPr>
      </p:sp>
      <p:sp>
        <p:nvSpPr>
          <p:cNvPr id="17" name="Text 15"/>
          <p:cNvSpPr txBox="1"/>
          <p:nvPr/>
        </p:nvSpPr>
        <p:spPr>
          <a:xfrm>
            <a:off x="729234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3</a:t>
            </a:r>
            <a:endParaRPr lang="en-US" sz="2000" dirty="0"/>
          </a:p>
        </p:txBody>
      </p:sp>
      <p:sp>
        <p:nvSpPr>
          <p:cNvPr id="18" name="Shape 16"/>
          <p:cNvSpPr/>
          <p:nvPr/>
        </p:nvSpPr>
        <p:spPr>
          <a:xfrm>
            <a:off x="630936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49224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규제샌드박스 실증</a:t>
            </a:r>
            <a:endParaRPr lang="en-US" sz="1450" dirty="0"/>
          </a:p>
        </p:txBody>
      </p:sp>
      <p:sp>
        <p:nvSpPr>
          <p:cNvPr id="20" name="Text 18"/>
          <p:cNvSpPr txBox="1"/>
          <p:nvPr/>
        </p:nvSpPr>
        <p:spPr>
          <a:xfrm>
            <a:off x="649224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9~24개월</a:t>
            </a:r>
            <a:endParaRPr lang="en-US" sz="1150" dirty="0"/>
          </a:p>
        </p:txBody>
      </p:sp>
      <p:sp>
        <p:nvSpPr>
          <p:cNvPr id="21" name="Text 19"/>
          <p:cNvSpPr txBox="1"/>
          <p:nvPr/>
        </p:nvSpPr>
        <p:spPr>
          <a:xfrm>
            <a:off x="653796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혁신금융서비스 지정(최대 2+2년), B2B API 유료 파트너 확보</a:t>
            </a:r>
            <a:endParaRPr lang="en-US" sz="1100" dirty="0"/>
          </a:p>
        </p:txBody>
      </p:sp>
      <p:sp>
        <p:nvSpPr>
          <p:cNvPr id="22" name="Shape 20"/>
          <p:cNvSpPr/>
          <p:nvPr/>
        </p:nvSpPr>
        <p:spPr>
          <a:xfrm>
            <a:off x="10172700" y="1828800"/>
            <a:ext cx="640080" cy="640080"/>
          </a:xfrm>
          <a:prstGeom prst="ellipse">
            <a:avLst/>
          </a:prstGeom>
          <a:solidFill>
            <a:srgbClr val="B8862F"/>
          </a:solidFill>
          <a:ln/>
        </p:spPr>
      </p:sp>
      <p:sp>
        <p:nvSpPr>
          <p:cNvPr id="23" name="Text 21"/>
          <p:cNvSpPr txBox="1"/>
          <p:nvPr/>
        </p:nvSpPr>
        <p:spPr>
          <a:xfrm>
            <a:off x="1017270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4</a:t>
            </a:r>
            <a:endParaRPr lang="en-US" sz="2000" dirty="0"/>
          </a:p>
        </p:txBody>
      </p:sp>
      <p:sp>
        <p:nvSpPr>
          <p:cNvPr id="24" name="Shape 22"/>
          <p:cNvSpPr/>
          <p:nvPr/>
        </p:nvSpPr>
        <p:spPr>
          <a:xfrm>
            <a:off x="918972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25" name="Text 23"/>
          <p:cNvSpPr txBox="1"/>
          <p:nvPr/>
        </p:nvSpPr>
        <p:spPr>
          <a:xfrm>
            <a:off x="937260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정식 라이선스 전환</a:t>
            </a:r>
            <a:endParaRPr lang="en-US" sz="1450" dirty="0"/>
          </a:p>
        </p:txBody>
      </p:sp>
      <p:sp>
        <p:nvSpPr>
          <p:cNvPr id="26" name="Text 24"/>
          <p:cNvSpPr txBox="1"/>
          <p:nvPr/>
        </p:nvSpPr>
        <p:spPr>
          <a:xfrm>
            <a:off x="937260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24개월~</a:t>
            </a:r>
            <a:endParaRPr lang="en-US" sz="1150" dirty="0"/>
          </a:p>
        </p:txBody>
      </p:sp>
      <p:sp>
        <p:nvSpPr>
          <p:cNvPr id="27" name="Text 25"/>
          <p:cNvSpPr txBox="1"/>
          <p:nvPr/>
        </p:nvSpPr>
        <p:spPr>
          <a:xfrm>
            <a:off x="941832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 등록 또는 보험사 정식 기술공급 계약</a:t>
            </a:r>
            <a:endParaRPr lang="en-US" sz="1100" dirty="0"/>
          </a:p>
        </p:txBody>
      </p:sp>
      <p:sp>
        <p:nvSpPr>
          <p:cNvPr id="28" name="Text 2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혁신금융서비스(규제샌드박스) = 신기술에 한해 규제를 한시 유예하는 제도 · GA = 여러 보험사 상품을 비교판매하는 법인보험대리점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리스크 및 대응 — 사업 성공 가능성의 근거</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474720"/>
                <a:gridCol w="7589520"/>
              </a:tblGrid>
              <a:tr h="0">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리스크</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대응 방안</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보험업법 라이선스</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자체 라이선스 대신 기존 보험사 대상 B2B 기술공급자로 포지셔닝</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자본시장법 유사수신 소지</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실자금 유치 전 법률 자문, 필요 시 투자자를 전문투자자로 제한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특정금융정보법(VASP)</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초기엔 원화 결제만 지원, 블록체인은 백엔드 자동화 레이어로만 사용</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규제특례 한시성(최대 4년)</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특례 기간 중 정식 GA 등록 또는 보험사 정식 계약 전환 목표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bl>
          </a:graphicData>
        </a:graphic>
      </p:graphicFrame>
      <p:sp>
        <p:nvSpPr>
          <p:cNvPr id="4" name="Text 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유사수신 = 무인가로 원금보장을 약속하며 자금을 모으는 불법행위 · VASP = 가상자산사업자(특정금융정보법상 신고 의무)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펀딩 요청 — 자금 운용 계획</a:t>
            </a:r>
            <a:endParaRPr lang="en-US" sz="3000" dirty="0"/>
          </a:p>
        </p:txBody>
      </p:sp>
      <p:sp>
        <p:nvSpPr>
          <p:cNvPr id="3" name="Shape 1"/>
          <p:cNvSpPr/>
          <p:nvPr/>
        </p:nvSpPr>
        <p:spPr>
          <a:xfrm>
            <a:off x="548640" y="1737360"/>
            <a:ext cx="1188720" cy="777240"/>
          </a:xfrm>
          <a:prstGeom prst="roundRect">
            <a:avLst>
              <a:gd name="adj" fmla="val 7059"/>
            </a:avLst>
          </a:prstGeom>
          <a:solidFill>
            <a:srgbClr val="16233F"/>
          </a:solidFill>
          <a:ln/>
        </p:spPr>
      </p:sp>
      <p:sp>
        <p:nvSpPr>
          <p:cNvPr id="4" name="Text 2"/>
          <p:cNvSpPr txBox="1"/>
          <p:nvPr/>
        </p:nvSpPr>
        <p:spPr>
          <a:xfrm>
            <a:off x="548640" y="17373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40%</a:t>
            </a:r>
            <a:endParaRPr lang="en-US" sz="2000" dirty="0"/>
          </a:p>
        </p:txBody>
      </p:sp>
      <p:sp>
        <p:nvSpPr>
          <p:cNvPr id="5" name="Text 3"/>
          <p:cNvSpPr txBox="1"/>
          <p:nvPr/>
        </p:nvSpPr>
        <p:spPr>
          <a:xfrm>
            <a:off x="1920240" y="17373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R&amp;D</a:t>
            </a:r>
            <a:endParaRPr lang="en-US" sz="1500" dirty="0"/>
          </a:p>
        </p:txBody>
      </p:sp>
      <p:sp>
        <p:nvSpPr>
          <p:cNvPr id="6" name="Text 4"/>
          <p:cNvSpPr txBox="1"/>
          <p:nvPr/>
        </p:nvSpPr>
        <p:spPr>
          <a:xfrm>
            <a:off x="4389120" y="17373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스마트컨트랙트 감사·정적분석, 가스리스 온보딩 고도화</a:t>
            </a:r>
            <a:endParaRPr lang="en-US" sz="1300" dirty="0"/>
          </a:p>
        </p:txBody>
      </p:sp>
      <p:sp>
        <p:nvSpPr>
          <p:cNvPr id="7" name="Shape 5"/>
          <p:cNvSpPr/>
          <p:nvPr/>
        </p:nvSpPr>
        <p:spPr>
          <a:xfrm>
            <a:off x="548640" y="2651760"/>
            <a:ext cx="1188720" cy="777240"/>
          </a:xfrm>
          <a:prstGeom prst="roundRect">
            <a:avLst>
              <a:gd name="adj" fmla="val 7059"/>
            </a:avLst>
          </a:prstGeom>
          <a:solidFill>
            <a:srgbClr val="16233F"/>
          </a:solidFill>
          <a:ln/>
        </p:spPr>
      </p:sp>
      <p:sp>
        <p:nvSpPr>
          <p:cNvPr id="8" name="Text 6"/>
          <p:cNvSpPr txBox="1"/>
          <p:nvPr/>
        </p:nvSpPr>
        <p:spPr>
          <a:xfrm>
            <a:off x="548640" y="26517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20%</a:t>
            </a:r>
            <a:endParaRPr lang="en-US" sz="2000" dirty="0"/>
          </a:p>
        </p:txBody>
      </p:sp>
      <p:sp>
        <p:nvSpPr>
          <p:cNvPr id="9" name="Text 7"/>
          <p:cNvSpPr txBox="1"/>
          <p:nvPr/>
        </p:nvSpPr>
        <p:spPr>
          <a:xfrm>
            <a:off x="1920240" y="26517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법률·규제 자문</a:t>
            </a:r>
            <a:endParaRPr lang="en-US" sz="1500" dirty="0"/>
          </a:p>
        </p:txBody>
      </p:sp>
      <p:sp>
        <p:nvSpPr>
          <p:cNvPr id="10" name="Text 8"/>
          <p:cNvSpPr txBox="1"/>
          <p:nvPr/>
        </p:nvSpPr>
        <p:spPr>
          <a:xfrm>
            <a:off x="4389120" y="26517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보험업법·자본시장법·특금법 검토</a:t>
            </a:r>
            <a:endParaRPr lang="en-US" sz="1300" dirty="0"/>
          </a:p>
        </p:txBody>
      </p:sp>
      <p:sp>
        <p:nvSpPr>
          <p:cNvPr id="11" name="Shape 9"/>
          <p:cNvSpPr/>
          <p:nvPr/>
        </p:nvSpPr>
        <p:spPr>
          <a:xfrm>
            <a:off x="548640" y="3566160"/>
            <a:ext cx="1188720" cy="777240"/>
          </a:xfrm>
          <a:prstGeom prst="roundRect">
            <a:avLst>
              <a:gd name="adj" fmla="val 7059"/>
            </a:avLst>
          </a:prstGeom>
          <a:solidFill>
            <a:srgbClr val="16233F"/>
          </a:solidFill>
          <a:ln/>
        </p:spPr>
      </p:sp>
      <p:sp>
        <p:nvSpPr>
          <p:cNvPr id="12" name="Text 10"/>
          <p:cNvSpPr txBox="1"/>
          <p:nvPr/>
        </p:nvSpPr>
        <p:spPr>
          <a:xfrm>
            <a:off x="548640" y="35661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25%</a:t>
            </a:r>
            <a:endParaRPr lang="en-US" sz="2000" dirty="0"/>
          </a:p>
        </p:txBody>
      </p:sp>
      <p:sp>
        <p:nvSpPr>
          <p:cNvPr id="13" name="Text 11"/>
          <p:cNvSpPr txBox="1"/>
          <p:nvPr/>
        </p:nvSpPr>
        <p:spPr>
          <a:xfrm>
            <a:off x="1920240" y="35661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인건비</a:t>
            </a:r>
            <a:endParaRPr lang="en-US" sz="1500" dirty="0"/>
          </a:p>
        </p:txBody>
      </p:sp>
      <p:sp>
        <p:nvSpPr>
          <p:cNvPr id="14" name="Text 12"/>
          <p:cNvSpPr txBox="1"/>
          <p:nvPr/>
        </p:nvSpPr>
        <p:spPr>
          <a:xfrm>
            <a:off x="4389120" y="35661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백엔드·스마트컨트랙트 개발 인력 충원</a:t>
            </a:r>
            <a:endParaRPr lang="en-US" sz="1300" dirty="0"/>
          </a:p>
        </p:txBody>
      </p:sp>
      <p:sp>
        <p:nvSpPr>
          <p:cNvPr id="15" name="Shape 13"/>
          <p:cNvSpPr/>
          <p:nvPr/>
        </p:nvSpPr>
        <p:spPr>
          <a:xfrm>
            <a:off x="548640" y="4480560"/>
            <a:ext cx="1188720" cy="777240"/>
          </a:xfrm>
          <a:prstGeom prst="roundRect">
            <a:avLst>
              <a:gd name="adj" fmla="val 7059"/>
            </a:avLst>
          </a:prstGeom>
          <a:solidFill>
            <a:srgbClr val="16233F"/>
          </a:solidFill>
          <a:ln/>
        </p:spPr>
      </p:sp>
      <p:sp>
        <p:nvSpPr>
          <p:cNvPr id="16" name="Text 14"/>
          <p:cNvSpPr txBox="1"/>
          <p:nvPr/>
        </p:nvSpPr>
        <p:spPr>
          <a:xfrm>
            <a:off x="548640" y="44805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15%</a:t>
            </a:r>
            <a:endParaRPr lang="en-US" sz="2000" dirty="0"/>
          </a:p>
        </p:txBody>
      </p:sp>
      <p:sp>
        <p:nvSpPr>
          <p:cNvPr id="17" name="Text 15"/>
          <p:cNvSpPr txBox="1"/>
          <p:nvPr/>
        </p:nvSpPr>
        <p:spPr>
          <a:xfrm>
            <a:off x="1920240" y="44805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마케팅·파트너십</a:t>
            </a:r>
            <a:endParaRPr lang="en-US" sz="1500" dirty="0"/>
          </a:p>
        </p:txBody>
      </p:sp>
      <p:sp>
        <p:nvSpPr>
          <p:cNvPr id="18" name="Text 16"/>
          <p:cNvSpPr txBox="1"/>
          <p:nvPr/>
        </p:nvSpPr>
        <p:spPr>
          <a:xfrm>
            <a:off x="4389120" y="44805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손보사 PoC 협상, 건강검진센터 제휴, 컨퍼런스</a:t>
            </a:r>
            <a:endParaRPr lang="en-US" sz="130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1차 목표 재원: 한국핀테크지원센터 디지털 금융기술 내재화 사업 + 정부지원사업 연계 (구체적 규모는 확정된 지원사업에 따라 조정)</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R&amp;D = 연구개발 · 스마트컨트랙트 감사 = 외부 전문기관의 코드 보안 점검</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신뢰할 수 있는 인슈어테크,</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함께 만들어갈 파트너를 찾습니다</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상담·리밸런싱부터 가입심사·청구까지 이미 구현·검증된 AI Agent와 수익성 대시보드를 기반으로, </a:t>
            </a:r>
            <a:pPr algn="l" indent="0" marL="0">
              <a:buNone/>
            </a:pPr>
            <a:r>
              <a:rPr lang="en-US" sz="1800" b="1" dirty="0">
                <a:solidFill>
                  <a:srgbClr val="B8862F"/>
                </a:solidFill>
                <a:latin typeface="Calibri" pitchFamily="34" charset="0"/>
                <a:ea typeface="Calibri" pitchFamily="34" charset="-122"/>
                <a:cs typeface="Calibri" pitchFamily="34" charset="-120"/>
              </a:rPr>
              <a:t>정부지원사업·보험사 컨소시엄·투자 파트너</a:t>
            </a:r>
            <a:pPr algn="l" indent="0" marL="0">
              <a:buNone/>
            </a:pPr>
            <a:r>
              <a:rPr lang="en-US" sz="1800" dirty="0">
                <a:solidFill>
                  <a:srgbClr val="F1E4C4"/>
                </a:solidFill>
                <a:latin typeface="Calibri" pitchFamily="34" charset="0"/>
                <a:ea typeface="Calibri" pitchFamily="34" charset="-122"/>
                <a:cs typeface="Calibri" pitchFamily="34" charset="-120"/>
              </a:rPr>
              <a:t>와 함께 다음 단계로 나아가겠습니다.</a:t>
            </a:r>
            <a:endParaRPr lang="en-US" sz="1800" dirty="0"/>
          </a:p>
        </p:txBody>
      </p:sp>
      <p:sp>
        <p:nvSpPr>
          <p:cNvPr id="4"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B2B = 기업 간 거래 · 스마트컨트랙트 = 조건 충족 시 자동 실행되는 블록체인 계약 코드</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구체 사례 — "6개월 후 재검" 판정자 사전가입 유도</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 결과지를 받는 바로 그 순간이 보험 니즈가 가장 선명하면서도, 아직 가입이 가능한 마지막 타이밍입니다</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"6개월 후 재검" 판정자 추출</a:t>
            </a:r>
            <a:endParaRPr lang="en-US" sz="13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결과지 전달 시 동의 획득 + 즉시 위험분석·추천</a:t>
            </a:r>
            <a:endParaRPr lang="en-US" sz="13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가입 전환</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성사 시 검진센터에 리퍼럴 수수료 지급</a:t>
            </a:r>
            <a:endParaRPr lang="en-US" sz="1350" dirty="0"/>
          </a:p>
        </p:txBody>
      </p:sp>
      <p:sp>
        <p:nvSpPr>
          <p:cNvPr id="10" name="Text"/>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1" name="Text"/>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2" name="Shape"/>
          <p:cNvSpPr/>
          <p:nvPr/>
        </p:nvSpPr>
        <p:spPr>
          <a:xfrm>
            <a:off x="5486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p:cNvSpPr txBox="1"/>
          <p:nvPr/>
        </p:nvSpPr>
        <p:spPr>
          <a:xfrm>
            <a:off x="5486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3,000명</a:t>
            </a:r>
            <a:endParaRPr lang="en-US" sz="2600" dirty="0"/>
          </a:p>
        </p:txBody>
      </p:sp>
      <p:sp>
        <p:nvSpPr>
          <p:cNvPr id="14" name="Text"/>
          <p:cNvSpPr txBox="1"/>
          <p:nvPr/>
        </p:nvSpPr>
        <p:spPr>
          <a:xfrm>
            <a:off x="5486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월간 수진자(예시 가정)</a:t>
            </a:r>
            <a:endParaRPr lang="en-US" sz="1150" dirty="0"/>
          </a:p>
        </p:txBody>
      </p:sp>
      <p:sp>
        <p:nvSpPr>
          <p:cNvPr id="15" name="Shape"/>
          <p:cNvSpPr/>
          <p:nvPr/>
        </p:nvSpPr>
        <p:spPr>
          <a:xfrm>
            <a:off x="33680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6" name="Text"/>
          <p:cNvSpPr txBox="1"/>
          <p:nvPr/>
        </p:nvSpPr>
        <p:spPr>
          <a:xfrm>
            <a:off x="33680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450명 (15%)</a:t>
            </a:r>
            <a:endParaRPr lang="en-US" sz="2600" dirty="0"/>
          </a:p>
        </p:txBody>
      </p:sp>
      <p:sp>
        <p:nvSpPr>
          <p:cNvPr id="17" name="Text"/>
          <p:cNvSpPr txBox="1"/>
          <p:nvPr/>
        </p:nvSpPr>
        <p:spPr>
          <a:xfrm>
            <a:off x="33680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"6개월 추적관찰" 판정(예시 가정)</a:t>
            </a:r>
            <a:endParaRPr lang="en-US" sz="1150" dirty="0"/>
          </a:p>
        </p:txBody>
      </p:sp>
      <p:sp>
        <p:nvSpPr>
          <p:cNvPr id="18" name="Shape"/>
          <p:cNvSpPr/>
          <p:nvPr/>
        </p:nvSpPr>
        <p:spPr>
          <a:xfrm>
            <a:off x="61874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9" name="Text"/>
          <p:cNvSpPr txBox="1"/>
          <p:nvPr/>
        </p:nvSpPr>
        <p:spPr>
          <a:xfrm>
            <a:off x="61874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90명 (20%)</a:t>
            </a:r>
            <a:endParaRPr lang="en-US" sz="2600" dirty="0"/>
          </a:p>
        </p:txBody>
      </p:sp>
      <p:sp>
        <p:nvSpPr>
          <p:cNvPr id="20" name="Text"/>
          <p:cNvSpPr txBox="1"/>
          <p:nvPr/>
        </p:nvSpPr>
        <p:spPr>
          <a:xfrm>
            <a:off x="61874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CareLink 연결 동의(예시 가정)</a:t>
            </a:r>
            <a:endParaRPr lang="en-US" sz="1150" dirty="0"/>
          </a:p>
        </p:txBody>
      </p:sp>
      <p:sp>
        <p:nvSpPr>
          <p:cNvPr id="21" name="Shape"/>
          <p:cNvSpPr/>
          <p:nvPr/>
        </p:nvSpPr>
        <p:spPr>
          <a:xfrm>
            <a:off x="90068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22" name="Text"/>
          <p:cNvSpPr txBox="1"/>
          <p:nvPr/>
        </p:nvSpPr>
        <p:spPr>
          <a:xfrm>
            <a:off x="90068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약 11명 (12%)</a:t>
            </a:r>
            <a:endParaRPr lang="en-US" sz="2600" dirty="0"/>
          </a:p>
        </p:txBody>
      </p:sp>
      <p:sp>
        <p:nvSpPr>
          <p:cNvPr id="23" name="Text"/>
          <p:cNvSpPr txBox="1"/>
          <p:nvPr/>
        </p:nvSpPr>
        <p:spPr>
          <a:xfrm>
            <a:off x="90068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가입 전환(예시 가정)</a:t>
            </a:r>
            <a:endParaRPr lang="en-US" sz="1150" dirty="0"/>
          </a:p>
        </p:txBody>
      </p:sp>
      <p:sp>
        <p:nvSpPr>
          <p:cNvPr id="24" name="Text"/>
          <p:cNvSpPr txBox="1"/>
          <p:nvPr/>
        </p:nvSpPr>
        <p:spPr>
          <a:xfrm>
            <a:off x="548640" y="48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예시 가정 — 수진자 수·판정 비율·전환율은 검진기관 규모·검진 항목에 따라 다르며, 실제 통계가 아니라 퍼널 구조를 보여주기 위한 일러스트레이션입니다. 리퍼럴 수수료의 구체적 산정 방식(CPM·CPC·CPA)은 다음 슬라이드에서 다룹니다.</a:t>
            </a:r>
            <a:endParaRPr lang="en-US" sz="780" dirty="0"/>
          </a:p>
        </p:txBody>
      </p:sp>
      <p:sp>
        <p:nvSpPr>
          <p:cNvPr id="2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추적관찰 단계는 아직 가입이 가능한 "마지막 경계 구간" — 소견이 질환으로 확정되면 가입 자체가 막히므로, 이 타이밍을 놓치면 역선택 방지 효과도 함께 사라집니다</a:t>
            </a:r>
            <a:endParaRPr lang="en-US" sz="1150" dirty="0"/>
          </a:p>
        </p:txBody>
      </p:sp>
      <p:sp>
        <p:nvSpPr>
          <p:cNvPr id="2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추적관찰(경계성 소견) = 질환으로 확정되지 않았으나 재검을 권고받은 상태 · 역선택 = 위험이 큰 사람일수록 보험에 더 적극적으로 가입하려는 경향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유입 비용 계산 — 배너광고와 동일한 CPM·CPC·CPA 체계로 환산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검진센터 제휴로 들어오는 고객도 "노출→클릭→전환" 퍼널과 비용 공식은 배너광고와 동일합니다 — 그래야 채널 간 효율을 직접 비교할 수 있습니다</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CPM</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(노출수 ÷ 1,000)</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노출 1,000회당 비용</a:t>
            </a:r>
            <a:endParaRPr lang="en-US" sz="11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CPC</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클릭수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클릭(동의) 1건당 비용</a:t>
            </a:r>
            <a:endParaRPr lang="en-US" sz="11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CPA</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전환수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 CPC ÷ 전환율)</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가입 1건당 비용</a:t>
            </a:r>
            <a:endParaRPr lang="en-US" sz="1150" dirty="0"/>
          </a:p>
        </p:txBody>
      </p:sp>
      <p:graphicFrame>
        <p:nvGraphicFramePr>
          <p:cNvPr id="10" name="Table"/>
          <p:cNvGraphicFramePr>
            <a:graphicFrameLocks noGrp="1"/>
          </p:cNvGraphicFramePr>
          <p:nvPr/>
        </p:nvGraphicFramePr>
        <p:xfrm>
          <a:off x="548640" y="3250000"/>
          <a:ext cx="11064240" cy="2468880"/>
        </p:xfrm>
        <a:graphic>
          <a:graphicData uri="http://schemas.openxmlformats.org/drawingml/2006/table">
            <a:tbl>
              <a:tblPr/>
              <a:tblGrid>
                <a:gridCol w="4358640"/>
                <a:gridCol w="3352800"/>
                <a:gridCol w="3352800"/>
              </a:tblGrid>
              <a:tr h="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구분</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검진센터 리퍼럴(이 사례)</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일반 배너광고(참고,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노출/타겟 모수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450명(추적관찰 판정자)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10,000회(디스플레이 노출)</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클릭(참여·동의)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90명 (CTR 20%)</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50회 (CTR 0.5%)</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전환(가입)</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11명 (CVR 12%)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1명 (CVR 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캠페인 비용(월,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330,000원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CPA(가입 1건당)</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1" name="Text"/>
          <p:cNvSpPr txBox="1"/>
          <p:nvPr/>
        </p:nvSpPr>
        <p:spPr>
          <a:xfrm>
            <a:off x="548640" y="54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 CPA(검진센터) = 전환당 리퍼럴 수수료 30,000원(가정, 초년도 보험료 30만원의 10%) 기준 → 역산 CPC = CPA×CVR = 3,600원, CPM ≈ 73만원(1,000명당) — '모수 1,000명당' 비용은 일반 배너광고보다 높아 보이지만, 전환율(CVR)이 6배 높아 실제 CPA는 비슷한 수준입니다. 배너광고 쪽 수치는 업계 평균을 대표하지 않는 예시 가정치입니다.</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같은 공식으로 계산해야 다른 유입채널과 숫자로 비교할 수 있습니다 — 다만 CPA 숫자만으로는 역선택 방지·가입 가능 시점 선점 같은 질적 가치는 잡히지 않습니다</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CPM/CPC/CPA = 노출/클릭/전환 1건당 비용 · CTR = 클릭률(클릭÷노출) · CVR = 전환율(전환÷클릭)</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d">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수익성 시뮬레이션 — 규모의 경제와 손익분기점</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가정을 고정한 채 가입 건수만 늘려보면, 작은 규모에서는 고정비 때문에 적자이고, 손익분기를 넘으면 흑자로 전환되며, 그 이후로는 변동성도 함께 줄어듭니다</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659636"/>
                <a:gridCol w="2212848"/>
                <a:gridCol w="1659636"/>
                <a:gridCol w="2950464"/>
                <a:gridCol w="258165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가입 건수(N)</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보험료 총액</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사업비율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손해율(평균·95%CI)</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합산비율(평균/95%상단)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608.0%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(38.8~71.2%)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663.0% / 679.2%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(49.9~60.1%)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123.0% / 128.1%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1,622건 (손익분기)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4억 8,660만원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45.0%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55.0% (51.0~59.0%)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100.0% / 104.0%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(53.4~56.6%)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69.0% / 70.6%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8.6%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(54.5~55.5%)</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63.6% / 64.1%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 1,622건</a:t>
            </a:r>
            <a:endParaRPr lang="en-US" sz="2200" dirty="0"/>
          </a:p>
        </p:txBody>
      </p:sp>
      <p:sp>
        <p:nvSpPr>
          <p:cNvPr id="7" name="Text"/>
          <p:cNvSpPr txBox="1"/>
          <p:nvPr/>
        </p:nvSpPr>
        <p:spPr>
          <a:xfrm>
            <a:off x="54864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손익분기점 — 로드맵 2단계(컨소시엄 구축) 목표 규모와 거의 일치</a:t>
            </a:r>
            <a:endParaRPr lang="en-US" sz="1150" dirty="0"/>
          </a:p>
        </p:txBody>
      </p:sp>
      <p:sp>
        <p:nvSpPr>
          <p:cNvPr id="8" name="Shape"/>
          <p:cNvSpPr/>
          <p:nvPr/>
        </p:nvSpPr>
        <p:spPr>
          <a:xfrm>
            <a:off x="630936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630936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15% ↓</a:t>
            </a:r>
            <a:endParaRPr lang="en-US" sz="2200" dirty="0"/>
          </a:p>
        </p:txBody>
      </p:sp>
      <p:sp>
        <p:nvSpPr>
          <p:cNvPr id="10" name="Text"/>
          <p:cNvSpPr txBox="1"/>
          <p:nvPr/>
        </p:nvSpPr>
        <p:spPr>
          <a:xfrm>
            <a:off x="630936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재보험풀 15% ceding 시 필요자본(99%VaR) 절감 (N=1,000 기준 1,824→1,550만원)</a:t>
            </a:r>
            <a:endParaRPr lang="en-US" sz="1150" dirty="0"/>
          </a:p>
        </p:txBody>
      </p:sp>
      <p:sp>
        <p:nvSpPr>
          <p:cNvPr id="11"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가정 — 평균보험료 30만원/건 · 평균 손해율 55% · 개별 손해율 변동계수(CV) 1.5 · 연간 고정비 1.8억원(서버·인프라·소규모 인력) · 가변비 8%(가스비+LLM호출비+PG수수료) · 재보험 ceding 15%(기본값 5~30% 중 중간값) · 95% 신뢰구간은 정규근사(중심극한정리) 기준이며 실제 클레임 분포는 더 두꺼운 꼬리를 가질 수 있어 보수적으로 해석 필요 — 이 모델은 투자자 설명용 시뮬레이션이며 실제 운영 데이터로 재보정이 필요합니다.</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손익분기점(~1,622건)은 로드맵 2단계 '컨소시엄 구축'(3~9개월, 손보사 1곳 PoC) 목표 규모와 거의 일치 — 파일럿을 넘어서는 순간부터 구조적으로 수익이 납니다</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손해율=보험료 대비 지급보험금 비율 · 사업비율=보험료 대비 운영경비 비율 · 합산비율=손해율+사업비율(100% 초과 시 적자) · VaR=특정 신뢰수준에서 발생 가능한 최대손실</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IT 인프라·유지보수 비용 구조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앞선 건별 처리비용 비교(가입심사·청구·결제)에 더해, 서버·DB 라이선스·유지보수 같은 고정 IT비용 구조에서도 근본적인 차이가 있습니다</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844040"/>
                <a:gridCol w="3196336"/>
                <a:gridCol w="3196336"/>
                <a:gridCol w="2827527"/>
              </a:tblGrid>
              <a:tr h="0">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구분</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기존(온프레미스 코어시스템)</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블록체인+오픈소스 자동화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근거/비고</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DB·코어시스템 라이선스</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상용 RDBMS 등 라이선스+유지보수 계약 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오픈소스 스택(스마트컨트랙트가 원장 역할) — 라이선스 비용 0원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이 프로젝트 실제 구성 기준(자체 비교)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장애대응·이중화(BCP)</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중앙 DB·중계서버 이중화 투자 상시 발생</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분산원장 구조상 단일 장애점 없음 — 별도 이중화 투자 불필요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국내 학술 사례(①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레거시 유지보수 비중</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IT예산 중 "운영(Run)" 비중이 구조적으로 높음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신규 스마트컨트랙트는 배포 후 변경 빈도가 낮아 유지보수 비중 축소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Wipro 보험업 조사(②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현대화 참고 사례</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메인프레임 레거시 유지 시 서버자원 소모 큼</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코어시스템 현대화 시 서버자원 대폭 절감 가능</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IBM 케이스(Sompo, ③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0원</a:t>
            </a:r>
            <a:endParaRPr lang="en-US" sz="24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DB·코어시스템 라이선스(자체 비교)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93%</a:t>
            </a:r>
            <a:endParaRPr lang="en-US" sz="24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보험사가 IT예산 절반 이상을 Run에 소모(②)</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54%↓ / 33%↓</a:t>
            </a:r>
            <a:endParaRPr lang="en-US" sz="24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현대화 후 CPU 코어/메모리 절감 사례(③)</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KoreaScience 국내 논문(국민주택채권 정보중계시스템) — 분산원장 전환 시 네트워크·디스크 사용률 각 1.7%/8.53% 개선 보고. ② Wipro, "From Run to Reinvention" — 보험사 93%가 IT예산 절반 이상을 운영(Run)에 사용. ③ IBM 케이스(Sompo Holdings) — 메인프레임 현대화 후 CPU 코어 54%·메모리 33% 감소(벤더 자료, 독립 검증 아님). DB 라이선스 비교는 이 프로젝트의 실제 오픈소스 구성(Hardhat·Node.js·ethers.js) 기준 자체 비교입니다.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라이선스·이중화 투자가 구조적으로 불필요해지는 효과는 건별 처리비용 절감(앞 슬라이드)과 별개로 쌓이는 고정비 절감입니다 — 실제 절감액은 기존 시스템 규모·계약 구조에 따라 달라집니다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Run(운영) = 기존 시스템을 유지·보수하는 데 쓰는 IT예산 · Change(전환) = 신규 디지털 투자에 쓰는 IT예산 · BCP = 재해복구·업무연속성계획</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자동이체 결제 수수료 절감 — 카드·VAN사·은행</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정기 보험료 자동이체는 카드사·VAN사·은행이 차례로 중개하며 수수료를 뗍니다 — 스마트컨트랙트 자동집행은 이 중개 단계를 통째로 건너뜁니다</a:t>
            </a:r>
            <a:endParaRPr lang="en-US" sz="1400" dirty="0"/>
          </a:p>
        </p:txBody>
      </p:sp>
      <p:graphicFrame>
        <p:nvGraphicFramePr>
          <p:cNvPr id="4" name="Table"/>
          <p:cNvGraphicFramePr>
            <a:graphicFrameLocks noGrp="1"/>
          </p:cNvGraphicFramePr>
          <p:nvPr/>
        </p:nvGraphicFramePr>
        <p:xfrm>
          <a:off x="548640" y="1874520"/>
          <a:ext cx="11064240" cy="2257200"/>
        </p:xfrm>
        <a:graphic>
          <a:graphicData uri="http://schemas.openxmlformats.org/drawingml/2006/table">
            <a:tbl>
              <a:tblPr/>
              <a:tblGrid>
                <a:gridCol w="2797853"/>
                <a:gridCol w="3306554"/>
                <a:gridCol w="3306554"/>
                <a:gridCol w="1653277"/>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 자동이체(카드/계좌)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스마트컨트랙트 자동집행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카드 가맹점수수료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결제금액의 2.2%(①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카드망 비경유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VAN사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70~120원(②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 결제 중계 불필요</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CMS 계좌 자동이체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200~550원(③ 참조, 중계기관+은행 이용수수료 합산)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가스비만 — 건당 1원 미만~수원 수준(④, 자체 추정)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약 99%↓</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100%↓</a:t>
            </a:r>
            <a:endParaRPr lang="en-US" sz="22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카드·VAN사 수수료 — 중개 자체가 사라짐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99%↓</a:t>
            </a:r>
            <a:endParaRPr lang="en-US" sz="22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계좌 자동이체(CMS)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4,800만원/년</a:t>
            </a:r>
            <a:endParaRPr lang="en-US" sz="22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1만건×월납 가정 시 CMS수수료 절감 예시(자체 추정)</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생명보험협회 공시 관련 보도(2026) 카드수수료 2.2%(앞 슬라이드 동일 출처). ② 카드사→VAN사 수수료 건당 70~120원(2014년 보도, 이후 정률제 전환 논의). ③ CMS 중계기관 수수료 건당 약 200~250원(포트원, 2026.09)+은행 이용수수료 별도(예: 300원/건, 하나은행 2023년 약관). ④ Polygon 등 L2 평균 수수료 약 $0.0026(2026.02 보도) 수준으로 가스비 자체 추정. 연 4,800만원 예시는 1만건×월납×CMS 400원/건 가정의 단순 추정치입니다.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카드·VAN사 수수료는 중개 자체가 사라져 100% 제거되고, 계좌 자동이체 수수료도 은행 이체망을 거치지 않아 대부분 사라집니다 — 가스비는 블록체인 네트워크·시점에 따라 변동될 수 있습니다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VAN(Value Added Network) = 카드사·가맹점 사이 결제 승인·매입을 중계하는 부가통신사업자 · CMS = 계좌 자동출금(펌뱅킹) 중계 시스템 · 가스비 = 블록체인 네트워크에 트랜잭션을 기록하는 데 드는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설계사(TM/GA) 수수료 절감 — 블록체인 자가가입</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블록체인 스마트컨트랙트는 설계사 없이 고객이 직접 청약·전자서명까지 끝낼 수 있어, 신계약 비용의 가장 큰 축인 모집수수료 자체가 발생하지 않습니다</a:t>
            </a:r>
            <a:endParaRPr lang="en-US" sz="1400" dirty="0"/>
          </a:p>
        </p:txBody>
      </p:sp>
      <p:graphicFrame>
        <p:nvGraphicFramePr>
          <p:cNvPr id="4" name="Table"/>
          <p:cNvGraphicFramePr>
            <a:graphicFrameLocks noGrp="1"/>
          </p:cNvGraphicFramePr>
          <p:nvPr/>
        </p:nvGraphicFramePr>
        <p:xfrm>
          <a:off x="548640" y="1874520"/>
          <a:ext cx="11064240" cy="1657200"/>
        </p:xfrm>
        <a:graphic>
          <a:graphicData uri="http://schemas.openxmlformats.org/drawingml/2006/table">
            <a:tbl>
              <a:tblPr/>
              <a:tblGrid>
                <a:gridCol w="2528969"/>
                <a:gridCol w="3477332"/>
                <a:gridCol w="3477332"/>
                <a:gridCol w="158060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기존(TM/GA 대면채널)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자가가입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1년차 모집수수료 상한</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월납보험료의 1200% 이내(① 참조, 정착지원금·시책 포함)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설계사 미개입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예시(월 보험료 3만원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최대 36만원(① 상한 기준, 3~7년 분급)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1200%</a:t>
            </a:r>
            <a:endParaRPr lang="en-US" sz="26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모집수수료 상한(월납보험료 대비, ①)</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0원</a:t>
            </a:r>
            <a:endParaRPr lang="en-US" sz="26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블록체인 자가가입 시 설계사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100%↓</a:t>
            </a:r>
            <a:endParaRPr lang="en-US" sz="26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신계약 모집비용 절감</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금융위원회 보험업감독규정 개정(2026년 7월 GA 소속 설계사까지 확대 시행) — 1년차 모집수수료·정착지원금·시책 등을 월납보험료의 1200% 이내로 제한하는 '1200%룰'. 이 비교는 모집수수료 1개 항목만 다루며, 유지관리수수료 등 다른 수수료 항목은 포함하지 않습니다.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모집수수료는 신계약 단가에서 가장 큰 비중을 차지하는 항목 중 하나 — 다만 설계사의 설명의무·불완전판매 방지 기능은 AI 상담·전자서명 UX로 별도 보완이 필요합니다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TM = 전화를 통한 비대면 모집(텔레마케팅) · GA(General Agency) = 여러 보험사 상품을 취급하는 법인보험대리점 · 모집수수료 = 신계약 체결 시 설계사·GA에 지급하는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종합 손익 비교 — 일반 보험사 대비 사업비·수익 구조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지금까지 본 개별 비용 절감과 신규 수익원을 하나로 모으면, 같은 손해율 가정에서 사업비율·합산비율이 얼마나 달라지고 수익원 자체가 몇 개나 늘어나는지 보여드립니다</a:t>
            </a:r>
            <a:endParaRPr lang="en-US" sz="1400" dirty="0"/>
          </a:p>
        </p:txBody>
      </p:sp>
      <p:graphicFrame>
        <p:nvGraphicFramePr>
          <p:cNvPr id="4" name="Table"/>
          <p:cNvGraphicFramePr>
            <a:graphicFrameLocks noGrp="1"/>
          </p:cNvGraphicFramePr>
          <p:nvPr/>
        </p:nvGraphicFramePr>
        <p:xfrm>
          <a:off x="548640" y="1874520"/>
          <a:ext cx="11064240" cy="2657200"/>
        </p:xfrm>
        <a:graphic>
          <a:graphicData uri="http://schemas.openxmlformats.org/drawingml/2006/table">
            <a:tbl>
              <a:tblPr/>
              <a:tblGrid>
                <a:gridCol w="2950464"/>
                <a:gridCol w="4056888"/>
                <a:gridCol w="4056888"/>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일반 보험사(참고 평균)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인슈어체인(N=10,000건 기준)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가정 손해율(공통 적용)</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55%(② 공통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55%(② 공통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사업비율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20%(① 보장성보험 평균, 2018년 보도)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14.0%(③ 수익성 시뮬레이션 재인용)</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합산비율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75.0%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69.0%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사업비 총액(보험료 30억원 기준)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4.2억원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6%p↓</a:t>
            </a:r>
            <a:endParaRPr lang="en-US" sz="24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합산비율(75.0%→69.0%)</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1.8억원↓</a:t>
            </a:r>
            <a:endParaRPr lang="en-US" sz="24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사업비 총액 절감(30억원 매출 기준, 30%↓)</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+5개</a:t>
            </a:r>
            <a:endParaRPr lang="en-US" sz="24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수익원 5가지(일반 보험사는 1가지)</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보장성보험 사업비는 납입보험료의 20% 이상(이투데이, 2018년 보도). ② 손해율 55%는 양쪽 공통 가정 — 실제 업계 손해율(예: 2025년 자동차보험 87.5%, 금감원)은 상품군이 달라 직접 비교 대상이 아니며, 사업비율 비교를 위한 가정입니다. ③ 21번 슬라이드 수익성 시뮬레이션 N=10,000건 수치 재인용.</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같은 손해율이라도 사업비 구조가 낮으면 합산비율 전체가 낮아집니다 — 여기에 전통 보험사엔 없는 신규 수익원까지 더해지면 수익성 개선 폭은 사업비 절감만으로 보이는 것보다 더 큽니다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사업비율 = 보험료 대비 운영경비 비율 · 합산비율 = 손해율+사업비율(100% 초과 시 보험영업 자체는 적자) · N=10,000건 가정은 21번 슬라이드 수익성 시뮬레이션과 동일</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InsureChain Pitch">
  <a:themeElements>
    <a:clrScheme name="InsureChain Pitch">
      <a:dk1>
        <a:srgbClr val="16233F"/>
      </a:dk1>
      <a:lt1>
        <a:srgbClr val="FFFFFF"/>
      </a:lt1>
      <a:dk2>
        <a:srgbClr val="2B3A5C"/>
      </a:dk2>
      <a:lt2>
        <a:srgbClr val="F1E4C4"/>
      </a:lt2>
      <a:accent1>
        <a:srgbClr val="B8862F"/>
      </a:accent1>
      <a:accent2>
        <a:srgbClr val="1F7A6C"/>
      </a:accent2>
      <a:accent3>
        <a:srgbClr val="B5573A"/>
      </a:accent3>
      <a:accent4>
        <a:srgbClr val="5A5E68"/>
      </a:accent4>
      <a:accent5>
        <a:srgbClr val="DCD3BF"/>
      </a:accent5>
      <a:accent6>
        <a:srgbClr val="F6F3EC"/>
      </a:accent6>
      <a:hlink>
        <a:srgbClr val="B8862F"/>
      </a:hlink>
      <a:folHlink>
        <a:srgbClr val="8F6A24"/>
      </a:folHlink>
    </a:clrScheme>
    <a:fontScheme name="InsureChain Pi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InsureChain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InsureChain Investor Pitch</dc:title>
  <dc:subject>PptxGenJS Presentation</dc:subject>
  <dc:creator>InsureChain</dc:creator>
  <cp:lastModifiedBy>InsureChain</cp:lastModifiedBy>
  <cp:revision>1</cp:revision>
  <dcterms:created xsi:type="dcterms:W3CDTF">2026-10-19T06:03:23Z</dcterms:created>
  <dcterms:modified xsi:type="dcterms:W3CDTF">2026-10-19T06:03:23Z</dcterms:modified>
</cp:coreProperties>
</file>