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28"/>
    <p:sldId id="278" r:id="rId29"/>
    <p:sldId id="279" r:id="rId30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상담·가입심사·보험금청구 전 과정을 AI Agent가 돕고,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손해율까지 관리하는 사업 모델입니다.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상담·가입·청구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상담의 획일성과 인건비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— 1:1 맞춤 상담은 설계사 인건비에 비례해 비쌈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변화·미납·만기 알림이 사후적, 보장 공백을 고객이 스스로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상담은 여전히 사람 의존, 자동집행 구조는 아직 없음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— 저축성·보장성 상품 비교·추천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나이·예산·가족상황·건강상태·기존보험을 직접 묻고, 보험다모아 실시간 공시 데이터를 기준으로 8개 보장영역을 종합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고객 프로필 수집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(나이·예산·가족·건강)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서브에이전트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(get_personalized_recommendation)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보험다모아 실시간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비교표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보장성보험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종신·정기보험(사망보장), 실손·암·간병·치매보험(질병 리스크) — 가족상황·기존보장을 고려해 과부족 없이 설계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저축성보험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연금보험·변액종신(노후자금·목돈마련) — 납입구조·수익구조를 공시 데이터 기준으로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보험 인지형 추천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existing_insurance 파라미터로 보유 보장을 먼저 파악 — 중복 가입·보장 공백을 구조적으로 피함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추천 엔진이 이미 B2B API로 외부(GA·핀테크사)에 재판매되는 핵심 자산입니다 — 상담은 상품일 뿐 아니라 매출원입니다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보장성보험 = 사망·질병 등 위험 발생 시 보장금을 지급하는 보험(만기환급 없음이 일반적) · 저축성보험 = 노후자금·목돈마련 목적으로 납입금 대비 환급·수익을 기대하는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리밸런싱 — 건강검진 데이터로 보장 공백을 자동 탐지 (CareLink)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상태가 바뀌면 필요한 보장도 바뀝니다 — 매번 설계사를 거치지 않고 AI가 즉시 재설계를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 결과 입력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(PDF·캡처·수기)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위험예측 모델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(로지스틱, AUC≈0.78)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보유 보장 대비 공백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실제 상품 재추천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손쉬운 데이터 연동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국민건강보험공단 앱 4단계 가이드 + PDF 업로드/붙여넣기 자동 파싱 — 수기 입력 부담을 최소화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340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순수 파이썬 추론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당뇨 등 만성질환 위험을 별도 ML 인프라 의존 없이 로지스틱 모델로 즉시 계산 — 서버비용 최소화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DIOBIO 웰니스 연동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치아보험 가입자는 건강개선 체크인 시 실제 온체인 보험료가 즉시 할인(최대 20%) — 리밸런싱이 보험료에 바로 반영되는 유일한 사례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예방·보장 강화 목적에만 사용하며, 가입 거절이나 불이익의 근거로 쓰지 않습니다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AUC = 예측모델의 판별력을 나타내는 지표(1에 가까울수록 정확, 0.5는 무작위 수준) · 웰니스 체크인 = 건강 개선을 인증해 보험료 할인을 받는 절차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부수업무 — 건강데이터로 보험을 넘어선 금융포용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건강검진 데이터를 신용평가·대출심사에도 재사용해, 상담 밖 영역까지 고객 접점을 넓힙니다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신용점수 포트폴리오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NICE·KCB 점수를 5등급 모델(최우량~불량)로 통합 분석 — 신용관리 상담의 진입점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Health-Credit 대안 신용평가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 성실도·바이탈 안정도·라이프로그로 씬파일러 신용점수 가산 — 금융 이력 없는 고객도 대출 심사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건강담보대출(HAS)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건강자산점수로 DSR·LTV 동시 초과자도 승인 경로 제시 — 전통 금융이 막은 고객층을 확보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신용 가산점으로만 사용, 감점·불이익에는 쓰지 않습니다(건강 취약계층 배제 방지)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 판매를 넘어 생애주기 금융 데이터 플랫폼으로 고객을 묶어두는 구조 — 교차판매(cross-sell) 기회와 고객생애가치(LTV)가 함께 늘어납니다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씬파일러 = 금융거래 이력이 부족해 기존 신용평가를 받기 어려운 사람 · DSR/LTV = 소득 대비 대출상환/주택가격 대비 대출한도 비율(동시 초과 시 기존 대출 전부 거절)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상담은 여기까지입니다 — 이제 가입심사와 보험금 지급까지, 사람의 심사 개입 없이 조건 충족 시 온체인에서 즉시 집행합니다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거버넌스① — 언더라이팅(가입심사) AI Agent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상담 Agent는 심사 로직을 몰라도 됩니다 — 정밀심사가 필요하면 전담 서브에이전트 하나만 호출합니다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메인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run_underwriting_review 1개만 호출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서브에이전트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18종 전문도구로 자율심사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구조화 출력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산정 + 코드가 route 결정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멀티에이전트 구조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(agents/orchestrator.py)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메인은 일반상담 전담, 정밀심사 필요 시 run_underwriting_review 하나만 호출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호출되면 독립된 2차 tool-calling 루프 시작 — 전용 프롬프트 + 18종 전문 도구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도구는 27→11개로 축소 — 세부 로직을 몰라도 되는 책임분리 구조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코드 레벨 안전장치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(_UNDERWRITING_TIER_ROUTE)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tier(위험도)는 AI가 판단, route(처리경로)는 코드의 매핑표가 결정 — 모델의 판단 오류가 그대로 실행되지 않음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보완요청은 1회로 강제 — 재심사에서도 애매하면 자동으로 human_review 전환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구조화 출력 실패·응답 없음도 전부 human_review로 수렴 — 절대 자동승인 쪽으로 새지 않음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 가입을 마음대로 결정한다”는 리스크를 설계 단계에서 차단 — 혁신금융서비스 심사의 설명가능성 요건에도 유리하게 작동합니다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tier/route = AI가 판단하는 위험등급과, 코드가 그 등급을 실제 처리 경로로 매핑하는 두 단계 · human_review = 전문 심사역이 직접 확인하는 수동심사 대기열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거버넌스② — 보험금 청구 AI Agent (Human-in-the-Loop)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청구는 가입심사보다 더 엄격합니다 — 실제 자금이 바로 지급되므로, 금액 기준 자체를 스마트컨트랙트가 강제합니다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 제출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오라클이 보장한도 대비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청구금액 비율 확인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20%↓ 자동지급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20%↑ 사람 승인 강제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완전자동 구간 (20% 이하)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보장한도 20% 이하 소액청구는 오라클이 완전자동 검증·승인·지급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처리 — 소액·저위험 청구의 운영비를 구조적으로 제거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모든 처리 기록은 온체인에 남아 고객·보험사가 동일하게 실시간 조회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구간 (20% 초과)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(DentalInsurance.sol + oracle-service.js)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require 조건이 오라클 처리 자체를 코드 레벨에서 거부 — 우회 불가능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AI(GPT-4o)는 치료코드·설명·과거이력 기반 검토의견만 Slack 전송 — 승인·거절·지급 권한은 전혀 없음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관리자가 반드시 직접 서명해 승인/거절/지급 — 최종 결정권은 항상 사람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보험금을 결정한다”는 가장 민감한 신뢰 리스크를 코드 레벨에서 차단 — 설계 의도가 아니라 컨트랙트의 require문이 보장합니다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Human-in-the-Loop = AI가 아닌 사람이 최종 의사결정권을 쥐는 설계 · 오라클 = 현실 데이터를 블록체인에 전달하는 장치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①~⑤ 참조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블록체인+AI 자동화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심사(UW, 1건)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(⑤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 ⑤ 보험인수심사원(언더라이터) 평균임금 6,750만원(2025 조사, 워크넷 직업정보 수치를 옮겨 게재한 자료 기준 — 원자료는 work.go.kr에서 직접 확인 권장) 환산 시급 32,300원 × 심사 30분 가정 · 블록체인+AI 자동화 비용(자체 추정)은 가스비+서버 인프라+LLM 호출비 기준</a:t>
            </a:r>
            <a:endParaRPr lang="en-US" sz="78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8932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항목 평균 약 89% 비용 절감 — 임금·수수료는 공개 통계 기준, 블록체인+AI 쪽 비용은 자체 추정치이므로 실제 절감효과는 운영 규모·구조에 따라 달라질 수 있습니다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AI·블록체인 자동화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5가지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8892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97180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Assistant·언더라이팅 엔진 라이선스, B2B 온체인 API 월정산, 재보험풀 AUM 수수료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9319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1208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50976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헬스케어 파트너십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건강검진센터×보험사 매칭 리퍼럴 수수료 — CareLink 전환 성사 건당 수취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 + 건강검진센터 제휴 리퍼럴로 포지셔닝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 · 리퍼럴 = 고객을 연결해 거래가 성사됐을 때 받는 중개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— 건강검진센터 × 보험사 매칭 플랫폼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직후가 보험 니즈가 가장 선명한 순간입니다 — 그 타이밍에 AI 상담을 연결해 3자가 함께 수익을 나눕니다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 직후 고객 동의 획득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즉시 위험분석+맞춤 추천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 시 중개수수료 발생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검진센터 측 가치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검진 직후 즉시 연결되는 신규 고객 채널 — 별도 마케팅비 없이 전환 수수료 수취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재검진·웰니스 체크인 유도로 재방문율 상승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기존 검진 운영 인프라를 그대로 활용 — 추가 설비투자 불필요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 측 가치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가장 설득력 있는 타이밍(검진 직후)에 유입되는 고전환 리드 — 광고비 대비 효율 개선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가입 후에도 웰니스 체크인으로 지속적 건강데이터 확보 → 손해율 관리에 활용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별도 설계사 조직 없이 데이터 기반 채널 하나를 추가 확보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플랫폼(인슈어체인)은 두 축 모두에서 성사 건당 중개수수료를 받는 구조 — 기존 B2B API 수익모델과 동일한 패턴을 헬스케어 채널로 확장한 것입니다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리퍼럴(referral) 수수료 = 고객을 연결해 거래가 성사됐을 때 받는 중개 수수료 · CareLink = 건강검진 데이터 기반 보험 위험 분석·추천 기능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수수료·헬스케어 리퍼럴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건강검진센터 제휴,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상담·리밸런싱부터 가입심사·청구까지 이미 구현·검증된 AI Agent와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구체 사례 — "6개월 후 재검" 판정자 사전가입 유도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결과지를 받는 바로 그 순간이 보험 니즈가 가장 선명하면서도, 아직 가입이 가능한 마지막 타이밍입니다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"6개월 후 재검" 판정자 추출</a:t>
            </a:r>
            <a:endParaRPr lang="en-US" sz="13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결과지 전달 시 동의 획득 + 즉시 위험분석·추천</a:t>
            </a:r>
            <a:endParaRPr lang="en-US" sz="13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성사 시 검진센터에 리퍼럴 수수료 지급</a:t>
            </a:r>
            <a:endParaRPr lang="en-US" sz="1350" dirty="0"/>
          </a:p>
        </p:txBody>
      </p:sp>
      <p:sp>
        <p:nvSpPr>
          <p:cNvPr id="10" name="Text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"/>
          <p:cNvSpPr/>
          <p:nvPr/>
        </p:nvSpPr>
        <p:spPr>
          <a:xfrm>
            <a:off x="5486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"/>
          <p:cNvSpPr txBox="1"/>
          <p:nvPr/>
        </p:nvSpPr>
        <p:spPr>
          <a:xfrm>
            <a:off x="5486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3,000명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수진자(예시 가정)</a:t>
            </a:r>
            <a:endParaRPr lang="en-US" sz="1150" dirty="0"/>
          </a:p>
        </p:txBody>
      </p:sp>
      <p:sp>
        <p:nvSpPr>
          <p:cNvPr id="15" name="Shape"/>
          <p:cNvSpPr/>
          <p:nvPr/>
        </p:nvSpPr>
        <p:spPr>
          <a:xfrm>
            <a:off x="33680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"/>
          <p:cNvSpPr txBox="1"/>
          <p:nvPr/>
        </p:nvSpPr>
        <p:spPr>
          <a:xfrm>
            <a:off x="33680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450명 (15%)</a:t>
            </a:r>
            <a:endParaRPr lang="en-US" sz="2600" dirty="0"/>
          </a:p>
        </p:txBody>
      </p:sp>
      <p:sp>
        <p:nvSpPr>
          <p:cNvPr id="17" name="Text"/>
          <p:cNvSpPr txBox="1"/>
          <p:nvPr/>
        </p:nvSpPr>
        <p:spPr>
          <a:xfrm>
            <a:off x="33680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"6개월 추적관찰" 판정(예시 가정)</a:t>
            </a:r>
            <a:endParaRPr lang="en-US" sz="1150" dirty="0"/>
          </a:p>
        </p:txBody>
      </p:sp>
      <p:sp>
        <p:nvSpPr>
          <p:cNvPr id="18" name="Shape"/>
          <p:cNvSpPr/>
          <p:nvPr/>
        </p:nvSpPr>
        <p:spPr>
          <a:xfrm>
            <a:off x="61874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"/>
          <p:cNvSpPr txBox="1"/>
          <p:nvPr/>
        </p:nvSpPr>
        <p:spPr>
          <a:xfrm>
            <a:off x="61874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90명 (20%)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1874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CareLink 연결 동의(예시 가정)</a:t>
            </a:r>
            <a:endParaRPr lang="en-US" sz="1150" dirty="0"/>
          </a:p>
        </p:txBody>
      </p:sp>
      <p:sp>
        <p:nvSpPr>
          <p:cNvPr id="21" name="Shape"/>
          <p:cNvSpPr/>
          <p:nvPr/>
        </p:nvSpPr>
        <p:spPr>
          <a:xfrm>
            <a:off x="90068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2" name="Text"/>
          <p:cNvSpPr txBox="1"/>
          <p:nvPr/>
        </p:nvSpPr>
        <p:spPr>
          <a:xfrm>
            <a:off x="90068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11명 (12%)</a:t>
            </a:r>
            <a:endParaRPr lang="en-US" sz="2600" dirty="0"/>
          </a:p>
        </p:txBody>
      </p:sp>
      <p:sp>
        <p:nvSpPr>
          <p:cNvPr id="23" name="Text"/>
          <p:cNvSpPr txBox="1"/>
          <p:nvPr/>
        </p:nvSpPr>
        <p:spPr>
          <a:xfrm>
            <a:off x="90068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 전환(예시 가정)</a:t>
            </a:r>
            <a:endParaRPr lang="en-US" sz="1150" dirty="0"/>
          </a:p>
        </p:txBody>
      </p:sp>
      <p:sp>
        <p:nvSpPr>
          <p:cNvPr id="24" name="Text"/>
          <p:cNvSpPr txBox="1"/>
          <p:nvPr/>
        </p:nvSpPr>
        <p:spPr>
          <a:xfrm>
            <a:off x="548640" y="48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가정 — 수진자 수·판정 비율·전환율은 검진기관 규모·검진 항목에 따라 다르며, 실제 통계가 아니라 퍼널 구조를 보여주기 위한 일러스트레이션입니다. 리퍼럴 수수료의 구체적 산정 방식(CPM·CPC·CPA)은 다음 슬라이드에서 다룹니다.</a:t>
            </a:r>
            <a:endParaRPr lang="en-US" sz="780" dirty="0"/>
          </a:p>
        </p:txBody>
      </p:sp>
      <p:sp>
        <p:nvSpPr>
          <p:cNvPr id="2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추적관찰 단계는 아직 가입이 가능한 "마지막 경계 구간" — 소견이 질환으로 확정되면 가입 자체가 막히므로, 이 타이밍을 놓치면 역선택 방지 효과도 함께 사라집니다</a:t>
            </a:r>
            <a:endParaRPr lang="en-US" sz="1150" dirty="0"/>
          </a:p>
        </p:txBody>
      </p:sp>
      <p:sp>
        <p:nvSpPr>
          <p:cNvPr id="2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추적관찰(경계성 소견) = 질환으로 확정되지 않았으나 재검을 권고받은 상태 · 역선택 = 위험이 큰 사람일수록 보험에 더 적극적으로 가입하려는 경향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유입 비용 계산 — 배너광고와 동일한 CPM·CPC·CPA 체계로 환산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검진센터 제휴로 들어오는 고객도 "노출→클릭→전환" 퍼널과 비용 공식은 배너광고와 동일합니다 — 그래야 채널 간 효율을 직접 비교할 수 있습니다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CPM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(노출수 ÷ 1,000)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노출 1,000회당 비용</a:t>
            </a:r>
            <a:endParaRPr lang="en-US" sz="11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CPC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클릭수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클릭(동의) 1건당 비용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CPA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전환수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(= CPC ÷ 전환율)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1건당 비용</a:t>
            </a:r>
            <a:endParaRPr lang="en-US" sz="115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548640" y="3250000"/>
          <a:ext cx="11064240" cy="2468880"/>
        </p:xfrm>
        <a:graphic>
          <a:graphicData uri="http://schemas.openxmlformats.org/drawingml/2006/table">
            <a:tbl>
              <a:tblPr/>
              <a:tblGrid>
                <a:gridCol w="4358640"/>
                <a:gridCol w="3352800"/>
                <a:gridCol w="3352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검진센터 리퍼럴(이 사례)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 배너광고(참고,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노출/타겟 모수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450명(추적관찰 판정자)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10,000회(디스플레이 노출)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클릭(참여·동의)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90명 (CTR 20%)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50회 (CTR 0.5%)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전환(가입)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11명 (CVR 12%)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1명 (CVR 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캠페인 비용(월,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CPA(가입 1건당)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"/>
          <p:cNvSpPr txBox="1"/>
          <p:nvPr/>
        </p:nvSpPr>
        <p:spPr>
          <a:xfrm>
            <a:off x="548640" y="54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— CPA(검진센터) = 전환당 리퍼럴 수수료 30,000원(가정, 초년도 보험료 30만원의 10%) 기준 → 역산 CPC = CPA×CVR = 3,600원, CPM ≈ 73만원(1,000명당) — '모수 1,000명당' 비용은 일반 배너광고보다 높아 보이지만, 전환율(CVR)이 6배 높아 실제 CPA는 비슷한 수준입니다. 배너광고 쪽 수치는 업계 평균을 대표하지 않는 예시 가정치입니다.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공식으로 계산해야 다른 유입채널과 숫자로 비교할 수 있습니다 — 다만 CPA 숫자만으로는 역선택 방지·가입 가능 시점 선점 같은 질적 가치는 잡히지 않습니다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CPM/CPC/CPA = 노출/클릭/전환 1건당 비용 · CTR = 클릭률(클릭÷노출) · CVR = 전환율(전환÷클릭)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시뮬레이션 — 규모의 경제와 손익분기점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가정을 고정한 채 가입 건수만 늘려보면, 작은 규모에서는 고정비 때문에 적자이고, 손익분기를 넘으면 흑자로 전환되며, 그 이후로는 변동성도 함께 줄어듭니다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40280"/>
        </p:xfrm>
        <a:graphic>
          <a:graphicData uri="http://schemas.openxmlformats.org/drawingml/2006/table">
            <a:tbl>
              <a:tblPr/>
              <a:tblGrid>
                <a:gridCol w="1659636"/>
                <a:gridCol w="2212848"/>
                <a:gridCol w="1659636"/>
                <a:gridCol w="2950464"/>
                <a:gridCol w="2581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건수(N)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총액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사업비율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손해율(평균·95%CI)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합산비율(평균/95%상단)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(38.8~71.2%)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663.0% / 679.2%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(49.9~60.1%)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123.0% / 128.1%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1,622건 (손익분기)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4억 8,660만원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(51.0~59.0%)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 / 104.0%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(53.4~56.6%)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 / 70.6%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(54.5~55.5%)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 / 64.1%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1,622건</a:t>
            </a:r>
            <a:endParaRPr lang="en-US" sz="22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 — 로드맵 2단계(컨소시엄 구축) 목표 규모와 거의 일치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630936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630936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15% ↓</a:t>
            </a:r>
            <a:endParaRPr lang="en-US" sz="2200" dirty="0"/>
          </a:p>
        </p:txBody>
      </p:sp>
      <p:sp>
        <p:nvSpPr>
          <p:cNvPr id="10" name="Text"/>
          <p:cNvSpPr txBox="1"/>
          <p:nvPr/>
        </p:nvSpPr>
        <p:spPr>
          <a:xfrm>
            <a:off x="630936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재보험풀 15% ceding 시 필요자본(99%VaR) 절감 (N=1,000 기준 1,824→1,550만원)</a:t>
            </a:r>
            <a:endParaRPr lang="en-US" sz="1150" dirty="0"/>
          </a:p>
        </p:txBody>
      </p:sp>
      <p:sp>
        <p:nvSpPr>
          <p:cNvPr id="11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 — 평균보험료 30만원/건 · 평균 손해율 55% · 개별 손해율 변동계수(CV) 1.5 · 연간 고정비 1.8억원(서버·인프라·소규모 인력) · 가변비 8%(가스비+LLM호출비+PG수수료) · 재보험 ceding 15%(기본값 5~30% 중 중간값) · 95% 신뢰구간은 정규근사(중심극한정리) 기준이며 실제 클레임 분포는 더 두꺼운 꼬리를 가질 수 있어 보수적으로 해석 필요 — 이 모델은 투자자 설명용 시뮬레이션이며 실제 운영 데이터로 재보정이 필요합니다.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손익분기점(~1,622건)은 로드맵 2단계 '컨소시엄 구축'(3~9개월, 손보사 1곳 PoC) 목표 규모와 거의 일치 — 파일럿을 넘어서는 순간부터 구조적으로 수익이 납니다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손해율=보험료 대비 지급보험금 비율 · 사업비율=보험료 대비 운영경비 비율 · 합산비율=손해율+사업비율(100% 초과 시 적자) · VaR=특정 신뢰수준에서 발생 가능한 최대손실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2026-10-19T06:03:23Z</dcterms:created>
  <dcterms:modified xsi:type="dcterms:W3CDTF">2026-10-19T06:03:23Z</dcterms:modified>
</cp:coreProperties>
</file>