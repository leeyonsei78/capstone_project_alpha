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7" r:id="rId28"/>
    <p:sldId id="278" r:id="rId29"/>
    <p:sldId id="279" r:id="rId30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  <Relationship Id="rId28" Type="http://schemas.openxmlformats.org/officeDocument/2006/relationships/slide" Target="slides/slide22.xml"/>
  <Relationship Id="rId29" Type="http://schemas.openxmlformats.org/officeDocument/2006/relationships/slide" Target="slides/slide23.xml"/>
  <Relationship Id="rId30" Type="http://schemas.openxmlformats.org/officeDocument/2006/relationships/slide" Target="slides/slide24.xml"/>
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6233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6233F"/>
                </a:solidFill>
                <a:latin typeface="+mn-lt"/>
              </a:rPr>
              <a:t>단계별 매출 구성 비중 (예시 시나리오)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1회성 수익 비중(%)</c:v>
                </c:pt>
              </c:strCache>
            </c:strRef>
          </c:tx>
          <c:spPr>
            <a:solidFill>
              <a:srgbClr val="DCD3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33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1단계: 파일럿</c:v>
                  </c:pt>
                  <c:pt idx="1">
                    <c:v>2단계: 컨소시엄</c:v>
                  </c:pt>
                  <c:pt idx="2">
                    <c:v>3단계: 샌드박스 실증</c:v>
                  </c:pt>
                  <c:pt idx="3">
                    <c:v>4단계: 정식 전환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</c:v>
                </c:pt>
                <c:pt idx="1">
                  <c:v>55</c:v>
                </c:pt>
                <c:pt idx="2">
                  <c:v>30</c:v>
                </c:pt>
                <c:pt idx="3">
                  <c:v>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연속성 수익 비중(%)</c:v>
                </c:pt>
              </c:strCache>
            </c:strRef>
          </c:tx>
          <c:spPr>
            <a:solidFill>
              <a:srgbClr val="B886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33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1단계: 파일럿</c:v>
                  </c:pt>
                  <c:pt idx="1">
                    <c:v>2단계: 컨소시엄</c:v>
                  </c:pt>
                  <c:pt idx="2">
                    <c:v>3단계: 샌드박스 실증</c:v>
                  </c:pt>
                  <c:pt idx="3">
                    <c:v>4단계: 정식 전환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</c:v>
                </c:pt>
                <c:pt idx="1">
                  <c:v>45</c:v>
                </c:pt>
                <c:pt idx="2">
                  <c:v>70</c:v>
                </c:pt>
                <c:pt idx="3">
                  <c:v>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6233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33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CD3B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16233F"/>
                    </a:solidFill>
                    <a:latin typeface="+mn-lt"/>
                  </a:defRPr>
                </a:pPr>
                <a:r>
                  <a:rPr b="0" i="0" u="none" strike="noStrike">
                    <a:solidFill>
                      <a:srgbClr val="16233F"/>
                    </a:solidFill>
                    <a:latin typeface="+mn-lt"/>
                  </a:rPr>
                  <a:t>비중(%)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6233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6233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28600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794760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F1E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4" name="Text 0"/>
          <p:cNvSpPr txBox="1"/>
          <p:nvPr/>
        </p:nvSpPr>
        <p:spPr>
          <a:xfrm>
            <a:off x="82296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InsureChain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INSURECHAIN · INVESTOR PITCH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E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E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28600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보험상담 AI Agent × 블록체인 인슈어테크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79476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1E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상담·가입심사·보험금청구 전 과정을 AI Agent가 돕고, </a:t>
            </a:r>
            <a:pPr algn="l" indent="0" marL="0">
              <a:buNone/>
            </a:pPr>
            <a:r>
              <a:rPr lang="en-US" sz="1800" b="1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완전자동 스마트컨트랙트 집행</a:t>
            </a:r>
            <a:pPr algn="l" indent="0" marL="0">
              <a:buNone/>
            </a:pPr>
            <a:r>
              <a:rPr lang="en-US" sz="1800" dirty="0">
                <a:solidFill>
                  <a:srgbClr val="F1E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으로 손해율까지 관리하는 사업 모델입니다.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/ 정부지원사업 피칭 자료  ·  2026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55664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DC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용어 : 지수형(파라메트릭) 보험 = 날씨·항공지연 등 측정 가능한 지표가 기준치를 넘으면 손해사정 없이 정액을 지급하는 보험 · 손해율 = 보험료 대비 지급 보험금 비율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보험 상담·가입·청구 과정의 세 가지 비효율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6F3EC"/>
          </a:solidFill>
          <a:ln/>
          <a:effectLst>
            <a:outerShdw sx="100000" sy="100000" kx="0" ky="0" algn="bl" rotWithShape="0" blurRad="76200" dist="25400" dir="5400000">
              <a:srgbClr val="16233F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2148840"/>
            <a:ext cx="640080" cy="640080"/>
          </a:xfrm>
          <a:prstGeom prst="ellipse">
            <a:avLst/>
          </a:prstGeom>
          <a:solidFill>
            <a:srgbClr val="B8862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718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상담의 획일성과 인건비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9476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복잡한 특약·조건, 영업점·콜센터 의존 — 1:1 맞춤 상담은 설계사 인건비에 비례해 비쌈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82880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6F3EC"/>
          </a:solidFill>
          <a:ln/>
          <a:effectLst>
            <a:outerShdw sx="100000" sy="100000" kx="0" ky="0" algn="bl" rotWithShape="0" blurRad="76200" dist="25400" dir="5400000">
              <a:srgbClr val="16233F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2148840"/>
            <a:ext cx="640080" cy="640080"/>
          </a:xfrm>
          <a:prstGeom prst="ellipse">
            <a:avLst/>
          </a:prstGeom>
          <a:solidFill>
            <a:srgbClr val="B8862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6344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29718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청구·지급의 불투명성·지연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379476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서류 기반 수작업 심사, 고객은 진행 상황을 알 수 없음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182880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6F3EC"/>
          </a:solidFill>
          <a:ln/>
          <a:effectLst>
            <a:outerShdw sx="100000" sy="100000" kx="0" ky="0" algn="bl" rotWithShape="0" blurRad="76200" dist="25400" dir="5400000">
              <a:srgbClr val="16233F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58200" y="2148840"/>
            <a:ext cx="640080" cy="640080"/>
          </a:xfrm>
          <a:prstGeom prst="ellipse">
            <a:avLst/>
          </a:prstGeom>
          <a:solidFill>
            <a:srgbClr val="B8862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5820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29718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가입 후 사후관리 공백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379476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건강 변화·미납·만기 알림이 사후적, 보장 공백을 고객이 스스로 파악 불가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394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국내 손보사들이 2025~2026년 지수형(파라메트릭) 보험을 잇달아 상용화하며 수요는 이미 검증됨 — 다만 상담은 여전히 사람 의존, 자동집행 구조는 아직 없음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55664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용어 : 지수형(파라메트릭) 보험 = 날씨·항공지연 등 측정 가능한 지표가 기준치를 넘으면 손해사정 없이 정액을 지급하는 보험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E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보험상담 AI Agent — 저축성·보장성 상품 비교·추천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나이·예산·가족상황·건강상태·기존보험을 직접 묻고, 보험다모아 실시간 공시 데이터를 기준으로 8개 보장영역을 종합 제안합니다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00400" cy="1005840"/>
          </a:xfrm>
          <a:prstGeom prst="roundRect">
            <a:avLst>
              <a:gd name="adj" fmla="val 9091"/>
            </a:avLst>
          </a:prstGeom>
          <a:solidFill>
            <a:srgbClr val="1623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3200400" cy="10058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고객 프로필 수집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(나이·예산·가족·건강)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023360" y="192024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26280" y="1920240"/>
            <a:ext cx="3200400" cy="1005840"/>
          </a:xfrm>
          <a:prstGeom prst="roundRect">
            <a:avLst>
              <a:gd name="adj" fmla="val 9091"/>
            </a:avLst>
          </a:prstGeom>
          <a:solidFill>
            <a:srgbClr val="16233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26280" y="1920240"/>
            <a:ext cx="3200400" cy="10058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추천 서브에이전트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(get_personalized_recommendation)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26680" y="192024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8229600" y="1920240"/>
            <a:ext cx="3200400" cy="1005840"/>
          </a:xfrm>
          <a:prstGeom prst="roundRect">
            <a:avLst>
              <a:gd name="adj" fmla="val 9091"/>
            </a:avLst>
          </a:prstGeom>
          <a:solidFill>
            <a:srgbClr val="16233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0" y="1920240"/>
            <a:ext cx="3200400" cy="10058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보험다모아 실시간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비교표 제시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6F3EC"/>
          </a:solidFill>
          <a:ln/>
          <a:effectLst>
            <a:outerShdw sx="100000" sy="100000" kx="0" ky="0" algn="bl" rotWithShape="0" blurRad="76200" dist="25400" dir="5400000">
              <a:srgbClr val="16233F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" y="363016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보장성보험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050792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종신·정기보험(사망보장), 실손·암·간병·치매보험(질병 리스크) — 가족상황·기존보장을 고려해 과부족 없이 설계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43400" y="342900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6F3EC"/>
          </a:solidFill>
          <a:ln/>
          <a:effectLst>
            <a:outerShdw sx="100000" sy="100000" kx="0" ky="0" algn="bl" rotWithShape="0" blurRad="76200" dist="25400" dir="5400000">
              <a:srgbClr val="16233F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617720" y="363016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저축성보험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4617720" y="4050792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연금보험·변액종신(노후자금·목돈마련) — 납입구조·수익구조를 공시 데이터 기준으로 비교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38160" y="342900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6F3EC"/>
          </a:solidFill>
          <a:ln/>
          <a:effectLst>
            <a:outerShdw sx="100000" sy="100000" kx="0" ky="0" algn="bl" rotWithShape="0" blurRad="76200" dist="25400" dir="5400000">
              <a:srgbClr val="16233F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412480" y="363016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기존 보험 인지형 추천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4050792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existing_insurance 파라미터로 보유 보장을 먼저 파악 — 중복 가입·보장 공백을 구조적으로 피함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추천 엔진이 이미 B2B API로 외부(GA·핀테크사)에 재판매되는 핵심 자산입니다 — 상담은 상품일 뿐 아니라 매출원입니다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55664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용어 : 보장성보험 = 사망·질병 등 위험 발생 시 보장금을 지급하는 보험(만기환급 없음이 일반적) · 저축성보험 = 노후자금·목돈마련 목적으로 납입금 대비 환급·수익을 기대하는 보험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E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보험 리밸런싱 — 건강검진 데이터로 보장 공백을 자동 탐지 (CareLink)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건강 상태가 바뀌면 필요한 보장도 바뀝니다 — 매번 설계사를 거치지 않고 AI가 즉시 재설계를 제안합니다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3200400" cy="1005840"/>
          </a:xfrm>
          <a:prstGeom prst="roundRect">
            <a:avLst>
              <a:gd name="adj" fmla="val 9091"/>
            </a:avLst>
          </a:prstGeom>
          <a:solidFill>
            <a:srgbClr val="1623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3200400" cy="10058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건강검진 결과 입력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(PDF·캡처·수기)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023360" y="182880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26280" y="1828800"/>
            <a:ext cx="3200400" cy="1005840"/>
          </a:xfrm>
          <a:prstGeom prst="roundRect">
            <a:avLst>
              <a:gd name="adj" fmla="val 9091"/>
            </a:avLst>
          </a:prstGeom>
          <a:solidFill>
            <a:srgbClr val="16233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26280" y="1828800"/>
            <a:ext cx="3200400" cy="10058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위험예측 모델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(로지스틱, AUC≈0.78)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26680" y="182880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8229600" y="1828800"/>
            <a:ext cx="3200400" cy="1005840"/>
          </a:xfrm>
          <a:prstGeom prst="roundRect">
            <a:avLst>
              <a:gd name="adj" fmla="val 9091"/>
            </a:avLst>
          </a:prstGeom>
          <a:solidFill>
            <a:srgbClr val="16233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0" y="1828800"/>
            <a:ext cx="3200400" cy="10058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보유 보장 대비 공백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실제 상품 재추천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6F3EC"/>
          </a:solidFill>
          <a:ln/>
          <a:effectLst>
            <a:outerShdw sx="100000" sy="100000" kx="0" ky="0" algn="bl" rotWithShape="0" blurRad="76200" dist="25400" dir="5400000">
              <a:srgbClr val="16233F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" y="35387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손쉬운 데이터 연동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93192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국민건강보험공단 앱 4단계 가이드 + PDF 업로드/붙여넣기 자동 파싱 — 수기 입력 부담을 최소화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43400" y="33375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6F3EC"/>
          </a:solidFill>
          <a:ln/>
          <a:effectLst>
            <a:outerShdw sx="100000" sy="100000" kx="0" ky="0" algn="bl" rotWithShape="0" blurRad="76200" dist="25400" dir="5400000">
              <a:srgbClr val="16233F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617720" y="35387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순수 파이썬 추론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617720" y="393192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당뇨 등 만성질환 위험을 별도 ML 인프라 의존 없이 로지스틱 모델로 즉시 계산 — 서버비용 최소화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38160" y="33375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6F3EC"/>
          </a:solidFill>
          <a:ln/>
          <a:effectLst>
            <a:outerShdw sx="100000" sy="100000" kx="0" ky="0" algn="bl" rotWithShape="0" blurRad="76200" dist="25400" dir="5400000">
              <a:srgbClr val="16233F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412480" y="35387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DIOBIO 웰니스 연동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393192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블록체인 치아보험 가입자는 건강개선 체크인 시 실제 온체인 보험료가 즉시 할인(최대 20%) — 리밸런싱이 보험료에 바로 반영되는 유일한 사례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윤리 원칙 — 건강 데이터는 예방·보장 강화 목적에만 사용하며, 가입 거절이나 불이익의 근거로 쓰지 않습니다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55664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용어 : AUC = 예측모델의 판별력을 나타내는 지표(1에 가까울수록 정확, 0.5는 무작위 수준) · 웰니스 체크인 = 건강 개선을 인증해 보험료 할인을 받는 절차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E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부수업무 — 건강데이터로 보험을 넘어선 금융포용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건강검진 데이터를 신용평가·대출심사에도 재사용해, 상담 밖 영역까지 고객 접점을 넓힙니다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F6F3EC"/>
          </a:solidFill>
          <a:ln/>
          <a:effectLst>
            <a:outerShdw sx="100000" sy="100000" kx="0" ky="0" algn="bl" rotWithShape="0" blurRad="76200" dist="25400" dir="5400000">
              <a:srgbClr val="16233F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423160"/>
            <a:ext cx="640080" cy="640080"/>
          </a:xfrm>
          <a:prstGeom prst="ellipse">
            <a:avLst/>
          </a:prstGeom>
          <a:solidFill>
            <a:srgbClr val="B8862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461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신용점수 포트폴리오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8862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NICE·KCB 점수를 5등급 모델(최우량~불량)로 통합 분석 — 신용관리 상담의 진입점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210312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F6F3EC"/>
          </a:solidFill>
          <a:ln/>
          <a:effectLst>
            <a:outerShdw sx="100000" sy="100000" kx="0" ky="0" algn="bl" rotWithShape="0" blurRad="76200" dist="25400" dir="5400000">
              <a:srgbClr val="16233F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2423160"/>
            <a:ext cx="640080" cy="640080"/>
          </a:xfrm>
          <a:prstGeom prst="ellipse">
            <a:avLst/>
          </a:prstGeom>
          <a:solidFill>
            <a:srgbClr val="B8862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32461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Health-Credit 대안 신용평가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8862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건강검진 성실도·바이탈 안정도·라이프로그로 씬파일러 신용점수 가산 — 금융 이력 없는 고객도 대출 심사 가능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210312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F6F3EC"/>
          </a:solidFill>
          <a:ln/>
          <a:effectLst>
            <a:outerShdw sx="100000" sy="100000" kx="0" ky="0" algn="bl" rotWithShape="0" blurRad="76200" dist="25400" dir="5400000">
              <a:srgbClr val="16233F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58200" y="2423160"/>
            <a:ext cx="640080" cy="640080"/>
          </a:xfrm>
          <a:prstGeom prst="ellipse">
            <a:avLst/>
          </a:prstGeom>
          <a:solidFill>
            <a:srgbClr val="B8862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5820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32461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건강담보대출(HAS)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8862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건강자산점수로 DSR·LTV 동시 초과자도 승인 경로 제시 — 전통 금융이 막은 고객층을 확보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1663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윤리 원칙 — 건강 데이터는 신용 가산점으로만 사용, 감점·불이익에는 쓰지 않습니다(건강 취약계층 배제 방지)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보험 판매를 넘어 생애주기 금융 데이터 플랫폼으로 고객을 묶어두는 구조 — 교차판매(cross-sell) 기회와 고객생애가치(LTV)가 함께 늘어납니다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55664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용어 : 씬파일러 = 금융거래 이력이 부족해 기존 신용평가를 받기 어려운 사람 · DSR/LTV = 소득 대비 대출상환/주택가격 대비 대출한도 비율(동시 초과 시 기존 대출 전부 거절)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E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솔루션 — 완전자동 스마트컨트랙트 집행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상담은 여기까지입니다 — 이제 가입심사와 보험금 지급까지, 사람의 심사 개입 없이 조건 충족 시 온체인에서 즉시 집행합니다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3200400" cy="1188720"/>
          </a:xfrm>
          <a:prstGeom prst="roundRect">
            <a:avLst>
              <a:gd name="adj" fmla="val 7692"/>
            </a:avLst>
          </a:prstGeom>
          <a:solidFill>
            <a:srgbClr val="1623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286000"/>
            <a:ext cx="3200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상담 AI Agent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023360" y="2286000"/>
            <a:ext cx="594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617720" y="2286000"/>
            <a:ext cx="3200400" cy="1188720"/>
          </a:xfrm>
          <a:prstGeom prst="roundRect">
            <a:avLst>
              <a:gd name="adj" fmla="val 7692"/>
            </a:avLst>
          </a:prstGeom>
          <a:solidFill>
            <a:srgbClr val="16233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17720" y="2286000"/>
            <a:ext cx="3200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온체인 오라클 판정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818120" y="2286000"/>
            <a:ext cx="594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8412480" y="2286000"/>
            <a:ext cx="3200400" cy="1188720"/>
          </a:xfrm>
          <a:prstGeom prst="roundRect">
            <a:avLst>
              <a:gd name="adj" fmla="val 7692"/>
            </a:avLst>
          </a:prstGeom>
          <a:solidFill>
            <a:srgbClr val="16233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0" y="2286000"/>
            <a:ext cx="3200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스마트컨트랙트 자동지급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6F3EC"/>
          </a:solidFill>
          <a:ln/>
          <a:effectLst>
            <a:outerShdw sx="100000" sy="100000" kx="0" ky="0" algn="bl" rotWithShape="0" blurRad="76200" dist="25400" dir="5400000">
              <a:srgbClr val="16233F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" y="425196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18종 언더라이팅 AI 서브에이전트 — 씬파일러·유병자·역선택까지 자율 심사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43400" y="402336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6F3EC"/>
          </a:solidFill>
          <a:ln/>
          <a:effectLst>
            <a:outerShdw sx="100000" sy="100000" kx="0" ky="0" algn="bl" rotWithShape="0" blurRad="76200" dist="25400" dir="5400000">
              <a:srgbClr val="16233F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617720" y="425196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청구~지급 전 과정 온체인 기록 — 고객·보험사가 같은 기록을 실시간 조회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38160" y="402336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6F3EC"/>
          </a:solidFill>
          <a:ln/>
          <a:effectLst>
            <a:outerShdw sx="100000" sy="100000" kx="0" ky="0" algn="bl" rotWithShape="0" blurRad="76200" dist="25400" dir="5400000">
              <a:srgbClr val="16233F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12480" y="425196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USDC·원화 스테이블코인 이중 통화 — 환전 없는 즉시 결제·정산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55664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용어 : 온체인 = 블록체인 위에 기록되어 누구나 검증 가능한 상태 · 오라클 = 현실 데이터를 블록체인에 전달하는 장치 · 스테이블코인 = 법정화폐 가치에 고정된 암호자산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E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거버넌스① — 언더라이팅(가입심사) AI Agent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상담 Agent는 심사 로직을 몰라도 됩니다 — 정밀심사가 필요하면 전담 서브에이전트 하나만 호출합니다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3291840" cy="1051560"/>
          </a:xfrm>
          <a:prstGeom prst="roundRect">
            <a:avLst>
              <a:gd name="adj" fmla="val 8696"/>
            </a:avLst>
          </a:prstGeom>
          <a:solidFill>
            <a:srgbClr val="1623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3291840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메인 Agent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run_underwriting_review 1개만 호출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1874520"/>
            <a:ext cx="411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26280" y="1874520"/>
            <a:ext cx="3291840" cy="1051560"/>
          </a:xfrm>
          <a:prstGeom prst="roundRect">
            <a:avLst>
              <a:gd name="adj" fmla="val 8696"/>
            </a:avLst>
          </a:prstGeom>
          <a:solidFill>
            <a:srgbClr val="16233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26280" y="1874520"/>
            <a:ext cx="3291840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서브에이전트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18종 전문도구로 자율심사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818120" y="1874520"/>
            <a:ext cx="411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8229600" y="1874520"/>
            <a:ext cx="3291840" cy="1051560"/>
          </a:xfrm>
          <a:prstGeom prst="roundRect">
            <a:avLst>
              <a:gd name="adj" fmla="val 8696"/>
            </a:avLst>
          </a:prstGeom>
          <a:solidFill>
            <a:srgbClr val="16233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0" y="1874520"/>
            <a:ext cx="3291840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구조화 출력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산정 + 코드가 route 결정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5303520" cy="2834640"/>
          </a:xfrm>
          <a:prstGeom prst="roundRect">
            <a:avLst>
              <a:gd name="adj" fmla="val 2581"/>
            </a:avLst>
          </a:prstGeom>
          <a:solidFill>
            <a:srgbClr val="F6F3EC"/>
          </a:solidFill>
          <a:ln/>
          <a:effectLst>
            <a:outerShdw sx="100000" sy="100000" kx="0" ky="0" algn="bl" rotWithShape="0" blurRad="76200" dist="25400" dir="5400000">
              <a:srgbClr val="16233F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" y="35204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멀티에이전트 구조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9044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(agents/orchestrator.py)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2976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메인은 일반상담 전담, 정밀심사 필요 시 run_underwriting_review 하나만 호출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8463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호출되면 독립된 2차 tool-calling 루프 시작 — 전용 프롬프트 + 18종 전문 도구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3949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메인 도구는 27→11개로 축소 — 세부 로직을 몰라도 되는 책임분리 구조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09360" y="3246120"/>
            <a:ext cx="5303520" cy="2834640"/>
          </a:xfrm>
          <a:prstGeom prst="roundRect">
            <a:avLst>
              <a:gd name="adj" fmla="val 2581"/>
            </a:avLst>
          </a:prstGeom>
          <a:solidFill>
            <a:srgbClr val="16233F"/>
          </a:solidFill>
          <a:ln/>
          <a:effectLst>
            <a:outerShdw sx="100000" sy="100000" kx="0" ky="0" algn="bl" rotWithShape="0" blurRad="76200" dist="25400" dir="5400000">
              <a:srgbClr val="16233F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583680" y="35204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코드 레벨 안전장치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39044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C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(_UNDERWRITING_TIER_ROUTE)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42976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tier(위험도)는 AI가 판단, route(처리경로)는 코드의 매핑표가 결정 — 모델의 판단 오류가 그대로 실행되지 않음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48463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보완요청은 1회로 강제 — 재심사에서도 애매하면 자동으로 human_review 전환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53949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구조화 출력 실패·응답 없음도 전부 human_review로 수렴 — 절대 자동승인 쪽으로 새지 않음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126480"/>
            <a:ext cx="11064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“AI가 보험 가입을 마음대로 결정한다”는 리스크를 설계 단계에서 차단 — 혁신금융서비스 심사의 설명가능성 요건에도 유리하게 작동합니다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55664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용어 : tier/route = AI가 판단하는 위험등급과, 코드가 그 등급을 실제 처리 경로로 매핑하는 두 단계 · human_review = 전문 심사역이 직접 확인하는 수동심사 대기열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E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거버넌스② — 보험금 청구 AI Agent (Human-in-the-Loop)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청구는 가입심사보다 더 엄격합니다 — 실제 자금이 바로 지급되므로, 금액 기준 자체를 스마트컨트랙트가 강제합니다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3291840" cy="1051560"/>
          </a:xfrm>
          <a:prstGeom prst="roundRect">
            <a:avLst>
              <a:gd name="adj" fmla="val 8696"/>
            </a:avLst>
          </a:prstGeom>
          <a:solidFill>
            <a:srgbClr val="1623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3291840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청구 제출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1874520"/>
            <a:ext cx="411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26280" y="1874520"/>
            <a:ext cx="3291840" cy="1051560"/>
          </a:xfrm>
          <a:prstGeom prst="roundRect">
            <a:avLst>
              <a:gd name="adj" fmla="val 8696"/>
            </a:avLst>
          </a:prstGeom>
          <a:solidFill>
            <a:srgbClr val="16233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26280" y="1874520"/>
            <a:ext cx="3291840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오라클이 보장한도 대비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청구금액 비율 확인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818120" y="1874520"/>
            <a:ext cx="411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8229600" y="1874520"/>
            <a:ext cx="3291840" cy="1051560"/>
          </a:xfrm>
          <a:prstGeom prst="roundRect">
            <a:avLst>
              <a:gd name="adj" fmla="val 8696"/>
            </a:avLst>
          </a:prstGeom>
          <a:solidFill>
            <a:srgbClr val="16233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0" y="1874520"/>
            <a:ext cx="3291840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20%↓ 자동지급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20%↑ 사람 승인 강제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5303520" cy="2834640"/>
          </a:xfrm>
          <a:prstGeom prst="roundRect">
            <a:avLst>
              <a:gd name="adj" fmla="val 2581"/>
            </a:avLst>
          </a:prstGeom>
          <a:solidFill>
            <a:srgbClr val="F6F3EC"/>
          </a:solidFill>
          <a:ln/>
          <a:effectLst>
            <a:outerShdw sx="100000" sy="100000" kx="0" ky="0" algn="bl" rotWithShape="0" blurRad="76200" dist="25400" dir="5400000">
              <a:srgbClr val="16233F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" y="35204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완전자동 구간 (20% 이하)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2976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보장한도 20% 이하 소액청구는 오라클이 완전자동 검증·승인·지급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8463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사람 개입 없이 처리 — 소액·저위험 청구의 운영비를 구조적으로 제거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3949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모든 처리 기록은 온체인에 남아 고객·보험사가 동일하게 실시간 조회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309360" y="3246120"/>
            <a:ext cx="5303520" cy="2834640"/>
          </a:xfrm>
          <a:prstGeom prst="roundRect">
            <a:avLst>
              <a:gd name="adj" fmla="val 2581"/>
            </a:avLst>
          </a:prstGeom>
          <a:solidFill>
            <a:srgbClr val="16233F"/>
          </a:solidFill>
          <a:ln/>
          <a:effectLst>
            <a:outerShdw sx="100000" sy="100000" kx="0" ky="0" algn="bl" rotWithShape="0" blurRad="76200" dist="25400" dir="5400000">
              <a:srgbClr val="16233F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583680" y="35204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 구간 (20% 초과)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39044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C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(DentalInsurance.sol + oracle-service.js)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42976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require 조건이 오라클 처리 자체를 코드 레벨에서 거부 — 우회 불가능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48463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AI(GPT-4o)는 치료코드·설명·과거이력 기반 검토의견만 Slack 전송 — 승인·거절·지급 권한은 전혀 없음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53949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관리자가 반드시 직접 서명해 승인/거절/지급 — 최종 결정권은 항상 사람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126480"/>
            <a:ext cx="11064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“AI가 보험금을 결정한다”는 가장 민감한 신뢰 리스크를 코드 레벨에서 차단 — 설계 의도가 아니라 컨트랙트의 require문이 보장합니다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55664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용어 : Human-in-the-Loop = AI가 아닌 사람이 최종 의사결정권을 쥐는 설계 · 오라클 = 현실 데이터를 블록체인에 전달하는 장치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E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블록체인·AI Agent인가 — 운영비용 관점의 우위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수작업 비용은 공개된 임금·수수료 통계를 근거로 산출한 예시입니다 — 산출 기준은 표 아래 ①~⑤ 참조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651760"/>
                <a:gridCol w="2651760"/>
                <a:gridCol w="1737360"/>
                <a:gridCol w="1737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항목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25400" marB="2540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기존 수작업 운영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25400" marB="2540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블록체인+AI 자동화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25400" marB="2540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86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절감액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25400" marB="2540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절감률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25400" marB="2540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6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가입 심사(UW, 1건)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5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16,100원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5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(⑤ 참조)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1,200원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(자체 추정)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14,900원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7A6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93%↓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25400" marB="2540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소액 청구 심사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(건당)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5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9,500원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5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(① 참조)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(자체 추정)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8,700원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7A6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92%↓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25400" marB="2540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보험료 결제·정산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(10만원 결제 기준)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5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2,200원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5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(② 참조)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(자체 추정)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2,150원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7A6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98%↓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25400" marB="2540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재보험 조달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(재보험료 1,000만원 기준)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5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30만원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5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(③ 참조)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10만원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(자체 추정)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20만원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7A6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67%↓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25400" marB="2540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고객 문의 대응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(건당)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5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4,500원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5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(④ 참조)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(자체 추정)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4,200원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7A6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93%↓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25400" marB="2540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89204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산출 기준 — ① 손해사정사 평균연봉 약 5,950만원(2025, 직업정보) 환산 시급 28,500원 × 처리 20분 가정  ② 보험업계 카드 가맹점수수료 통상 “2%대 초반” 수준(생명보험협회 공시 관련 보도, 2026) 중 2.2% 적용  ③ 글로벌 재보험 브로커(Aon) 공시 표준 중개수수료(원수보험료의 1.5~3.5%) 중 3% 적용  ④ 콜센터 상담원 월평균임금 236만원(한국노동연구원, 2024) 환산 시급 13,580원 × 상담 20분 가정  ⑤ 보험인수심사원(언더라이터) 평균임금 6,750만원(2025 조사, 워크넷 직업정보 수치를 옮겨 게재한 자료 기준 — 원자료는 work.go.kr에서 직접 확인 권장) 환산 시급 32,300원 × 심사 30분 가정 · 블록체인+AI 자동화 비용(자체 추정)은 가스비+서버 인프라+LLM 호출비 기준</a:t>
            </a:r>
            <a:endParaRPr lang="en-US" sz="78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989320"/>
            <a:ext cx="11064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5개 항목 평균 약 89% 비용 절감 — 임금·수수료는 공개 통계 기준, 블록체인+AI 쪽 비용은 자체 추정치이므로 실제 절감효과는 운영 규모·구조에 따라 달라질 수 있습니다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55664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용어 : PG = 결제대행사(Payment Gateway) · 사업비율 = 보험료 대비 운영 경비 비율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E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제품 — 블록체인 자동화 11개 신규 상품·고도화 기능 (대표 6종)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6F3EC"/>
          </a:solidFill>
          <a:ln/>
          <a:effectLst>
            <a:outerShdw sx="100000" sy="100000" kx="0" ky="0" algn="bl" rotWithShape="0" blurRad="76200" dist="25400" dir="5400000">
              <a:srgbClr val="16233F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737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B8862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파라메트릭 자동집행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5176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심사 없이 조건 충족 시 즉시 지급 (항공지연·폭염특보, 실제 기상데이터 연동)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5087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6F3EC"/>
          </a:solidFill>
          <a:ln/>
          <a:effectLst>
            <a:outerShdw sx="100000" sy="100000" kx="0" ky="0" algn="bl" rotWithShape="0" blurRad="76200" dist="25400" dir="5400000">
              <a:srgbClr val="16233F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1737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B8862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22860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재보험풀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65176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유동성 공급 — 지분가치가 실제 보험료 유입에 연동되는 진짜 리스크공유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38160" y="15087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6F3EC"/>
          </a:solidFill>
          <a:ln/>
          <a:effectLst>
            <a:outerShdw sx="100000" sy="100000" kx="0" ky="0" algn="bl" rotWithShape="0" blurRad="76200" dist="25400" dir="5400000">
              <a:srgbClr val="16233F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66760" y="1737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B8862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6676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22860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리스크연동형 대체투자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65176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고정 APR이 아니라 재보험풀 실제 성과를 따라가는 신규 펀드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6F3EC"/>
          </a:solidFill>
          <a:ln/>
          <a:effectLst>
            <a:outerShdw sx="100000" sy="100000" kx="0" ky="0" algn="bl" rotWithShape="0" blurRad="76200" dist="25400" dir="5400000">
              <a:srgbClr val="16233F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39776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B8862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5262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 파트너 API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89204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GA·핀테크가 API 키로 직접 조회, 월별 사용량 정산 리포트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43400" y="37490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6F3EC"/>
          </a:solidFill>
          <a:ln/>
          <a:effectLst>
            <a:outerShdw sx="100000" sy="100000" kx="0" ky="0" algn="bl" rotWithShape="0" blurRad="76200" dist="25400" dir="5400000">
              <a:srgbClr val="16233F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0" y="39776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B8862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7200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617720" y="45262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수익성 지표 대시보드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617720" y="489204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손해율·사업비율·합산비율을 실시간 노출 — 투자자 증빙 자료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138160" y="37490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6F3EC"/>
          </a:solidFill>
          <a:ln/>
          <a:effectLst>
            <a:outerShdw sx="100000" sy="100000" kx="0" ky="0" algn="bl" rotWithShape="0" blurRad="76200" dist="25400" dir="5400000">
              <a:srgbClr val="16233F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366760" y="39776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B8862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36676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412480" y="45262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가스리스 온보딩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412480" y="489204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고객이 지갑·가스비 부담 없이 챗봇 대화만으로 가입 완료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씬파일러 신용보완 유연납입, 웰니스 연동 동적 보험료, 재보험풀 1클릭 정산, 차세대 판단AI(Jev) PoC 검토 등 5종 추가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55664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용어 : APR = 연환산 수익률 · 재보험풀 = 보험금 지급 위험을 외부 투자자와 나누는 자금풀 · 가스리스 = 가스비(수수료) 부담 없이 가입하는 방식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E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지금인가 — 제도·인프라가 함께 움직이고 있음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128016" cy="1143000"/>
          </a:xfrm>
          <a:prstGeom prst="roundRect">
            <a:avLst/>
          </a:prstGeom>
          <a:solidFill>
            <a:srgbClr val="B8862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64592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결제 인프라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3383280" y="1645920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카드사 9개사·람다256이 스테이블코인 결제 승인·취소·환불·정산 전 과정 기술검증 완료, 한국은행 예금토큰 파일럿(프로젝트 한강) 실거래 증명 단계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128016" cy="1143000"/>
          </a:xfrm>
          <a:prstGeom prst="roundRect">
            <a:avLst/>
          </a:prstGeom>
          <a:solidFill>
            <a:srgbClr val="B8862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306324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규제 경로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3063240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디지털자산 기본법 발의 추진, 한국핀테크지원센터 디지털 금융기술 내재화 사업·금융위 혁신금융서비스(규제샌드박스) 등 실증 경로가 제도적으로 열려 있음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4480560"/>
            <a:ext cx="128016" cy="1143000"/>
          </a:xfrm>
          <a:prstGeom prst="roundRect">
            <a:avLst/>
          </a:prstGeom>
          <a:solidFill>
            <a:srgbClr val="B8862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448056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시장 검증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4480560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삼성화재·현대해상·KB손해보험이 지수형 보험을 이미 상용화 — 파라메트릭 보험에 대한 소비자 수용도는 이미 증명됨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55664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용어 : 예금토큰 = 은행 예금을 블록체인에 디지털화한 자산 · 혁신금융서비스(규제샌드박스) = 신기술에 한해 규제를 한시 유예하는 제도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E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경쟁 구도 — 기존 지수형보험과의 차이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지수형(파라메트릭) 보험이란 — 날씨·항공편 지연 등 객관적으로 측정 가능한 지표가 사전에 정한 기준치를 넘으면, 실제 피해 규모를 조사(손해사정)하지 않고도 미리 정해둔 금액을 지급하는 보험 상품입니다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303520" cy="3474720"/>
          </a:xfrm>
          <a:prstGeom prst="roundRect">
            <a:avLst>
              <a:gd name="adj" fmla="val 2105"/>
            </a:avLst>
          </a:prstGeom>
          <a:solidFill>
            <a:srgbClr val="F6F3EC"/>
          </a:solidFill>
          <a:ln/>
          <a:effectLst>
            <a:outerShdw sx="100000" sy="100000" kx="0" ky="0" algn="bl" rotWithShape="0" blurRad="76200" dist="25400" dir="5400000">
              <a:srgbClr val="16233F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24231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A5E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기존 손보사 지수형 보험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632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삼성화재·현대해상·KB손보 등 2025~2026년 상용화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490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공공데이터 확인 후 보험사 시스템이 지급 승인(중앙집중형)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4348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e-티켓 등록 등 서류 간소화 — 완전 자동지급은 아님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2148840"/>
            <a:ext cx="5303520" cy="3474720"/>
          </a:xfrm>
          <a:prstGeom prst="roundRect">
            <a:avLst>
              <a:gd name="adj" fmla="val 2105"/>
            </a:avLst>
          </a:prstGeom>
          <a:solidFill>
            <a:srgbClr val="16233F"/>
          </a:solidFill>
          <a:ln/>
          <a:effectLst>
            <a:outerShdw sx="100000" sy="100000" kx="0" ky="0" algn="bl" rotWithShape="0" blurRad="76200" dist="25400" dir="5400000">
              <a:srgbClr val="16233F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83680" y="24231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8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인슈어체인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30632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사람 개입 없이 스마트컨트랙트가 조건 충족 즉시 자동지급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37490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폭염특보 등 아직 상용화 안 된 기후리스크 상품 선점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44348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청구~지급 전 과정 온체인 투명 기록 + B2B API로 기술 재판매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55664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용어 : 중앙집중형 = 보험사 내부 시스템이 사람의 확인을 거쳐 지급을 최종 승인하는 방식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E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치아보험 — 생명·손해보험 전체를 공략하는 메인 상품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치아보험은 제3보험으로 분류되어 생보사·손보사 모두 판매 가능 — 이미 구현된 메인 상품이며, 손해보험 전용 지수형(파라메트릭) 보험까지 함께 갖춰 보험업권 전체를 커버합니다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6F3EC"/>
          </a:solidFill>
          <a:ln/>
          <a:effectLst>
            <a:outerShdw sx="100000" sy="100000" kx="0" ky="0" algn="bl" rotWithShape="0" blurRad="76200" dist="25400" dir="5400000">
              <a:srgbClr val="16233F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468880"/>
            <a:ext cx="640080" cy="640080"/>
          </a:xfrm>
          <a:prstGeom prst="ellipse">
            <a:avLst/>
          </a:prstGeom>
          <a:solidFill>
            <a:srgbClr val="B8862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918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이미 구현된 메인 상품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11480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자사 치아보험 상품으로 청약·증권발급·보험료납입·청구·만기환급 전 과정이 이미 블록체인 스마트컨트랙트로 자동화되어 동작 중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214884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6F3EC"/>
          </a:solidFill>
          <a:ln/>
          <a:effectLst>
            <a:outerShdw sx="100000" sy="100000" kx="0" ky="0" algn="bl" rotWithShape="0" blurRad="76200" dist="25400" dir="5400000">
              <a:srgbClr val="16233F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2468880"/>
            <a:ext cx="640080" cy="640080"/>
          </a:xfrm>
          <a:prstGeom prst="ellipse">
            <a:avLst/>
          </a:prstGeom>
          <a:solidFill>
            <a:srgbClr val="B8862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32918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생명보험·손해보험 모두 판매 가능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411480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질병·상해·간병을 보장하는 ‘제3보험’은 2003년 보험업법 개정 이후 생보사·손보사 구분 없이 양측 모두 취급 가능한 독립 보험 영역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214884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6F3EC"/>
          </a:solidFill>
          <a:ln/>
          <a:effectLst>
            <a:outerShdw sx="100000" sy="100000" kx="0" ky="0" algn="bl" rotWithShape="0" blurRad="76200" dist="25400" dir="5400000">
              <a:srgbClr val="16233F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58200" y="2468880"/>
            <a:ext cx="640080" cy="640080"/>
          </a:xfrm>
          <a:prstGeom prst="ellipse">
            <a:avLst/>
          </a:prstGeom>
          <a:solidFill>
            <a:srgbClr val="B8862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5820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32918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손보 전용 지수형 보험도 함께 보유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411480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치아보험(생보+손보)에 더해, 손해보험사만 판매 가능한 지수형(파라메트릭) 보험(항공지연·폭염특보)도 포트폴리오에 포함 — 생보·손보 각 채널에 맞춘 투트랙 전략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5778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치아보험(생보+손보 겸용)을 메인으로, 손보 전용 지수형 보험을 더한 포트폴리오로 단일 채널에 갇히지 않고 보험업권 전체를 공략할 수 있는 B2B 기술기반을 확보했습니다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55664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용어 : 제3보험 = 질병·상해·간병 보장 보험으로 생명·손해보험사 모두 판매 가능 · 지수형(파라메트릭) 보험 = 측정 가능한 지표가 기준치를 넘으면 자동 지급되는 손해보험 전용 상품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E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비즈니스 모델 — 5가지 유형의 수익이 함께 쌓이는 구조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2048256" cy="2743200"/>
          </a:xfrm>
          <a:prstGeom prst="roundRect">
            <a:avLst>
              <a:gd name="adj" fmla="val 3571"/>
            </a:avLst>
          </a:prstGeom>
          <a:solidFill>
            <a:srgbClr val="F6F3EC"/>
          </a:solidFill>
          <a:ln/>
          <a:effectLst>
            <a:outerShdw sx="100000" sy="100000" kx="0" ky="0" algn="bl" rotWithShape="0" blurRad="76200" dist="25400" dir="5400000">
              <a:srgbClr val="16233F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874520"/>
            <a:ext cx="16824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1회성 수익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743200"/>
            <a:ext cx="16824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보험사 초기 구축비, B2B API 온보딩 수수료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88920" y="1645920"/>
            <a:ext cx="2048256" cy="2743200"/>
          </a:xfrm>
          <a:prstGeom prst="roundRect">
            <a:avLst>
              <a:gd name="adj" fmla="val 3571"/>
            </a:avLst>
          </a:prstGeom>
          <a:solidFill>
            <a:srgbClr val="B8862F"/>
          </a:solidFill>
          <a:ln/>
          <a:effectLst>
            <a:outerShdw sx="100000" sy="100000" kx="0" ky="0" algn="bl" rotWithShape="0" blurRad="76200" dist="25400" dir="5400000">
              <a:srgbClr val="16233F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971800" y="1874520"/>
            <a:ext cx="16824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연속성 수익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2971800" y="2743200"/>
            <a:ext cx="16824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API 월정산·라이선스 유지보수료·재보험풀 AUM 수수료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2971800" y="3931920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매출 기반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0" y="1645920"/>
            <a:ext cx="2048256" cy="2743200"/>
          </a:xfrm>
          <a:prstGeom prst="roundRect">
            <a:avLst>
              <a:gd name="adj" fmla="val 3571"/>
            </a:avLst>
          </a:prstGeom>
          <a:solidFill>
            <a:srgbClr val="F6F3EC"/>
          </a:solidFill>
          <a:ln/>
          <a:effectLst>
            <a:outerShdw sx="100000" sy="100000" kx="0" ky="0" algn="bl" rotWithShape="0" blurRad="76200" dist="25400" dir="5400000">
              <a:srgbClr val="16233F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212080" y="1874520"/>
            <a:ext cx="16824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비용절감→수익전환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2743200"/>
            <a:ext cx="16824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자동지급·자동대환 절감액의 일부를 성과수수료로 수취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269480" y="1645920"/>
            <a:ext cx="2048256" cy="2743200"/>
          </a:xfrm>
          <a:prstGeom prst="roundRect">
            <a:avLst>
              <a:gd name="adj" fmla="val 3571"/>
            </a:avLst>
          </a:prstGeom>
          <a:solidFill>
            <a:srgbClr val="F6F3EC"/>
          </a:solidFill>
          <a:ln/>
          <a:effectLst>
            <a:outerShdw sx="100000" sy="100000" kx="0" ky="0" algn="bl" rotWithShape="0" blurRad="76200" dist="25400" dir="5400000">
              <a:srgbClr val="16233F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452360" y="1874520"/>
            <a:ext cx="16824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수수료 절감(차별화)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7452360" y="2743200"/>
            <a:ext cx="16824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재보험 중개수수료를 온체인 직접연결로 낮추고 절감분 공유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509760" y="1645920"/>
            <a:ext cx="2048256" cy="2743200"/>
          </a:xfrm>
          <a:prstGeom prst="roundRect">
            <a:avLst>
              <a:gd name="adj" fmla="val 3571"/>
            </a:avLst>
          </a:prstGeom>
          <a:solidFill>
            <a:srgbClr val="F6F3EC"/>
          </a:solidFill>
          <a:ln/>
          <a:effectLst>
            <a:outerShdw sx="100000" sy="100000" kx="0" ky="0" algn="bl" rotWithShape="0" blurRad="76200" dist="25400" dir="5400000">
              <a:srgbClr val="16233F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692640" y="1874520"/>
            <a:ext cx="16824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헬스케어 파트너십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9692640" y="2743200"/>
            <a:ext cx="16824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건강검진센터×보험사 매칭 리퍼럴 수수료 — CareLink 전환 성사 건당 수취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663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보험업법·자본시장법 제약상 직접 라이선스 대신, 기존 보험사 대상 B2B 기술공급 + 건강검진센터 제휴 리퍼럴로 포지셔닝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55664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용어 : AUM = 운용자산규모(예치·운용 중인 총자산) · B2B = 기업 간 거래(보험사·GA 대상 기술 공급) · 리퍼럴 = 고객을 연결해 거래가 성사됐을 때 받는 중개 수수료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E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사업 제휴 — 건강검진센터 × 보험사 매칭 플랫폼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검진 직후가 보험 니즈가 가장 선명한 순간입니다 — 그 타이밍에 AI 상담을 연결해 3자가 함께 수익을 나눕니다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3291840" cy="1051560"/>
          </a:xfrm>
          <a:prstGeom prst="roundRect">
            <a:avLst>
              <a:gd name="adj" fmla="val 8696"/>
            </a:avLst>
          </a:prstGeom>
          <a:solidFill>
            <a:srgbClr val="1623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3291840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건강검진센터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검진 직후 고객 동의 획득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1874520"/>
            <a:ext cx="411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26280" y="1874520"/>
            <a:ext cx="3291840" cy="1051560"/>
          </a:xfrm>
          <a:prstGeom prst="roundRect">
            <a:avLst>
              <a:gd name="adj" fmla="val 8696"/>
            </a:avLst>
          </a:prstGeom>
          <a:solidFill>
            <a:srgbClr val="16233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26280" y="1874520"/>
            <a:ext cx="3291840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CareLink AI Agent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즉시 위험분석+맞춤 추천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818120" y="1874520"/>
            <a:ext cx="411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8229600" y="1874520"/>
            <a:ext cx="3291840" cy="1051560"/>
          </a:xfrm>
          <a:prstGeom prst="roundRect">
            <a:avLst>
              <a:gd name="adj" fmla="val 8696"/>
            </a:avLst>
          </a:prstGeom>
          <a:solidFill>
            <a:srgbClr val="16233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0" y="1874520"/>
            <a:ext cx="3291840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보험사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가입 전환 시 중개수수료 발생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5303520" cy="2880360"/>
          </a:xfrm>
          <a:prstGeom prst="roundRect">
            <a:avLst>
              <a:gd name="adj" fmla="val 2540"/>
            </a:avLst>
          </a:prstGeom>
          <a:solidFill>
            <a:srgbClr val="F6F3EC"/>
          </a:solidFill>
          <a:ln/>
          <a:effectLst>
            <a:outerShdw sx="100000" sy="100000" kx="0" ky="0" algn="bl" rotWithShape="0" blurRad="76200" dist="25400" dir="5400000">
              <a:srgbClr val="16233F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" y="34747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검진센터 측 가치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251960"/>
            <a:ext cx="475488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검진 직후 즉시 연결되는 신규 고객 채널 — 별도 마케팅비 없이 전환 수수료 수취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815840"/>
            <a:ext cx="475488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재검진·웰니스 체크인 유도로 재방문율 상승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379720"/>
            <a:ext cx="475488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기존 검진 운영 인프라를 그대로 활용 — 추가 설비투자 불필요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309360" y="3200400"/>
            <a:ext cx="5303520" cy="2880360"/>
          </a:xfrm>
          <a:prstGeom prst="roundRect">
            <a:avLst>
              <a:gd name="adj" fmla="val 2540"/>
            </a:avLst>
          </a:prstGeom>
          <a:solidFill>
            <a:srgbClr val="16233F"/>
          </a:solidFill>
          <a:ln/>
          <a:effectLst>
            <a:outerShdw sx="100000" sy="100000" kx="0" ky="0" algn="bl" rotWithShape="0" blurRad="76200" dist="25400" dir="5400000">
              <a:srgbClr val="16233F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583680" y="34747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보험사 측 가치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4251960"/>
            <a:ext cx="475488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가장 설득력 있는 타이밍(검진 직후)에 유입되는 고전환 리드 — 광고비 대비 효율 개선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4815840"/>
            <a:ext cx="475488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가입 후에도 웰니스 체크인으로 지속적 건강데이터 확보 → 손해율 관리에 활용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5379720"/>
            <a:ext cx="475488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별도 설계사 조직 없이 데이터 기반 채널 하나를 추가 확보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126480"/>
            <a:ext cx="11064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플랫폼(인슈어체인)은 두 축 모두에서 성사 건당 중개수수료를 받는 구조 — 기존 B2B API 수익모델과 동일한 패턴을 헬스케어 채널로 확장한 것입니다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55664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용어 : 리퍼럴(referral) 수수료 = 고객을 연결해 거래가 성사됐을 때 받는 중개 수수료 · CareLink = 건강검진 데이터 기반 보험 위험 분석·추천 기능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E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계속되는 수익 구조 — 연속성 수익 비중이 커지는 설계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단계가 진행될수록 1회성 구축비 의존도는 낮아지고, B2B API·라이선스·AUM 수수료·헬스케어 리퍼럴 같은 반복 매출이 매출 구성의 중심이 되는 구조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2011680"/>
          <a:ext cx="11064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55664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용어 : 연속성 수익 = 매월·매년 반복적으로 쌓이는 매출 · 규제샌드박스 = 신기술에 한해 규제를 한시 유예하는 제도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E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기술 검증 현황 — 이미 구현·테스트된 플랫폼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16233F"/>
          </a:solidFill>
          <a:ln/>
          <a:effectLst>
            <a:outerShdw sx="100000" sy="100000" kx="0" ky="0" algn="bl" rotWithShape="0" blurRad="76200" dist="25400" dir="5400000">
              <a:srgbClr val="16233F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196596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88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167+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9718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Hardhat 단위테스트 통과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429000" y="173736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16233F"/>
          </a:solidFill>
          <a:ln/>
          <a:effectLst>
            <a:outerShdw sx="100000" sy="100000" kx="0" ky="0" algn="bl" rotWithShape="0" blurRad="76200" dist="25400" dir="5400000">
              <a:srgbClr val="16233F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429000" y="196596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88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3611880" y="29718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상품·고도화 기능 구현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73736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16233F"/>
          </a:solidFill>
          <a:ln/>
          <a:effectLst>
            <a:outerShdw sx="100000" sy="100000" kx="0" ky="0" algn="bl" rotWithShape="0" blurRad="76200" dist="25400" dir="5400000">
              <a:srgbClr val="16233F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309360" y="196596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88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9718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언더라이팅 AI 서브에이전트 도구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89720" y="173736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16233F"/>
          </a:solidFill>
          <a:ln/>
          <a:effectLst>
            <a:outerShdw sx="100000" sy="100000" kx="0" ky="0" algn="bl" rotWithShape="0" blurRad="76200" dist="25400" dir="5400000">
              <a:srgbClr val="16233F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189720" y="196596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88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9372600" y="29718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자체 구축 스마트컨트랙트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4360" y="4096512"/>
            <a:ext cx="91440" cy="91440"/>
          </a:xfrm>
          <a:prstGeom prst="ellipse">
            <a:avLst/>
          </a:prstGeom>
          <a:solidFill>
            <a:srgbClr val="B8862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0233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Hardhat 로컬 테스트넷에 실제 스마트컨트랙트(청약·보험료·청구·준비금·파라메트릭·재보험풀) 전 과정 배포·검증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94360" y="4718304"/>
            <a:ext cx="91440" cy="91440"/>
          </a:xfrm>
          <a:prstGeom prst="ellipse">
            <a:avLst/>
          </a:prstGeom>
          <a:solidFill>
            <a:srgbClr val="B8862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464515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 대시보드에 손해율·사업비율·합산비율(보험업 표준 수익성 지표) 실시간 노출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94360" y="5340096"/>
            <a:ext cx="91440" cy="91440"/>
          </a:xfrm>
          <a:prstGeom prst="ellipse">
            <a:avLst/>
          </a:prstGeom>
          <a:solidFill>
            <a:srgbClr val="B8862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8680" y="5266944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청구 오라클: 소액은 즉시 자동처리, 고액(보장한도 20% 초과)은 AI 어드바이저 의견 + 사람 승인으로 이원화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55664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용어 : 사업비율 = 보험료 대비 운영 경비 비율 · 합산비율 = 손해율+사업비율(100% 초과 시 보험영업 자체는 적자)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E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사업화 로드맵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188720" y="2240280"/>
            <a:ext cx="10058400" cy="0"/>
          </a:xfrm>
          <a:prstGeom prst="line">
            <a:avLst/>
          </a:prstGeom>
          <a:noFill/>
          <a:ln w="25400">
            <a:solidFill>
              <a:srgbClr val="DCD3B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31620" y="1828800"/>
            <a:ext cx="640080" cy="640080"/>
          </a:xfrm>
          <a:prstGeom prst="ellipse">
            <a:avLst/>
          </a:prstGeom>
          <a:solidFill>
            <a:srgbClr val="B8862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53162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2606040" cy="2423160"/>
          </a:xfrm>
          <a:prstGeom prst="roundRect">
            <a:avLst>
              <a:gd name="adj" fmla="val 3019"/>
            </a:avLst>
          </a:prstGeom>
          <a:solidFill>
            <a:srgbClr val="F6F3EC"/>
          </a:solidFill>
          <a:ln/>
          <a:effectLst>
            <a:outerShdw sx="100000" sy="100000" kx="0" ky="0" algn="bl" rotWithShape="0" blurRad="76200" dist="25400" dir="5400000">
              <a:srgbClr val="16233F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2926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파일럿 준비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383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0~3개월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79476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법인·사업자등록, 디지털 금융기술 내재화 사업 지원서, 핀테크지원센터 컨설팅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11980" y="1828800"/>
            <a:ext cx="640080" cy="640080"/>
          </a:xfrm>
          <a:prstGeom prst="ellipse">
            <a:avLst/>
          </a:prstGeom>
          <a:solidFill>
            <a:srgbClr val="B8862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1198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429000" y="2697480"/>
            <a:ext cx="2606040" cy="2423160"/>
          </a:xfrm>
          <a:prstGeom prst="roundRect">
            <a:avLst>
              <a:gd name="adj" fmla="val 3019"/>
            </a:avLst>
          </a:prstGeom>
          <a:solidFill>
            <a:srgbClr val="F6F3EC"/>
          </a:solidFill>
          <a:ln/>
          <a:effectLst>
            <a:outerShdw sx="100000" sy="100000" kx="0" ky="0" algn="bl" rotWithShape="0" blurRad="76200" dist="25400" dir="5400000">
              <a:srgbClr val="16233F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611880" y="2926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컨소시엄 구축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3383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3~9개월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379476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손보사 1곳 PoC MOU, 혁신금융서비스 공동신청 검토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292340" y="1828800"/>
            <a:ext cx="640080" cy="640080"/>
          </a:xfrm>
          <a:prstGeom prst="ellipse">
            <a:avLst/>
          </a:prstGeom>
          <a:solidFill>
            <a:srgbClr val="B8862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29234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309360" y="2697480"/>
            <a:ext cx="2606040" cy="2423160"/>
          </a:xfrm>
          <a:prstGeom prst="roundRect">
            <a:avLst>
              <a:gd name="adj" fmla="val 3019"/>
            </a:avLst>
          </a:prstGeom>
          <a:solidFill>
            <a:srgbClr val="F6F3EC"/>
          </a:solidFill>
          <a:ln/>
          <a:effectLst>
            <a:outerShdw sx="100000" sy="100000" kx="0" ky="0" algn="bl" rotWithShape="0" blurRad="76200" dist="25400" dir="5400000">
              <a:srgbClr val="16233F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492240" y="2926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규제샌드박스 실증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3383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9~24개월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379476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혁신금융서비스 지정(최대 2+2년), B2B API 유료 파트너 확보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172700" y="1828800"/>
            <a:ext cx="640080" cy="640080"/>
          </a:xfrm>
          <a:prstGeom prst="ellipse">
            <a:avLst/>
          </a:prstGeom>
          <a:solidFill>
            <a:srgbClr val="B8862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17270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189720" y="2697480"/>
            <a:ext cx="2606040" cy="2423160"/>
          </a:xfrm>
          <a:prstGeom prst="roundRect">
            <a:avLst>
              <a:gd name="adj" fmla="val 3019"/>
            </a:avLst>
          </a:prstGeom>
          <a:solidFill>
            <a:srgbClr val="F6F3EC"/>
          </a:solidFill>
          <a:ln/>
          <a:effectLst>
            <a:outerShdw sx="100000" sy="100000" kx="0" ky="0" algn="bl" rotWithShape="0" blurRad="76200" dist="25400" dir="5400000">
              <a:srgbClr val="16233F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372600" y="2926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정식 라이선스 전환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9372600" y="3383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24개월~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9418320" y="379476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등록 또는 보험사 정식 기술공급 계약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55664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용어 : 혁신금융서비스(규제샌드박스) = 신기술에 한해 규제를 한시 유예하는 제도 · GA = 여러 보험사 상품을 비교판매하는 법인보험대리점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E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리스크 및 대응 — 사업 성공 가능성의 근거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7589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리스크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27000" marR="127000" marT="76200" marB="7620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대응 방안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27000" marR="127000" marT="76200" marB="7620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보험업법 라이선스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5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자체 라이선스 대신 기존 보험사 대상 B2B 기술공급자로 포지셔닝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자본시장법 유사수신 소지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5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실자금 유치 전 법률 자문, 필요 시 투자자를 전문투자자로 제한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특정금융정보법(VASP)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5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초기엔 원화 결제만 지원, 블록체인은 백엔드 자동화 레이어로만 사용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규제특례 한시성(최대 4년)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5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특례 기간 중 정식 GA 등록 또는 보험사 정식 계약 전환 목표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C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455664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용어 : 유사수신 = 무인가로 원금보장을 약속하며 자금을 모으는 불법행위 · VASP = 가상자산사업자(특정금융정보법상 신고 의무)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E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펀딩 요청 — 자금 운용 계획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188720" cy="777240"/>
          </a:xfrm>
          <a:prstGeom prst="roundRect">
            <a:avLst>
              <a:gd name="adj" fmla="val 7059"/>
            </a:avLst>
          </a:prstGeom>
          <a:solidFill>
            <a:srgbClr val="16233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8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7373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R&amp;D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389120" y="173736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스마트컨트랙트 감사·정적분석, 가스리스 온보딩 고도화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1188720" cy="777240"/>
          </a:xfrm>
          <a:prstGeom prst="roundRect">
            <a:avLst>
              <a:gd name="adj" fmla="val 7059"/>
            </a:avLst>
          </a:prstGeom>
          <a:solidFill>
            <a:srgbClr val="16233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6517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8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26517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법률·규제 자문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389120" y="265176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보험업법·자본시장법·특금법 검토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566160"/>
            <a:ext cx="1188720" cy="777240"/>
          </a:xfrm>
          <a:prstGeom prst="roundRect">
            <a:avLst>
              <a:gd name="adj" fmla="val 7059"/>
            </a:avLst>
          </a:prstGeom>
          <a:solidFill>
            <a:srgbClr val="16233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5661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8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920240" y="35661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인건비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0" y="356616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백엔드·스마트컨트랙트 개발 인력 충원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480560"/>
            <a:ext cx="1188720" cy="777240"/>
          </a:xfrm>
          <a:prstGeom prst="roundRect">
            <a:avLst>
              <a:gd name="adj" fmla="val 7059"/>
            </a:avLst>
          </a:prstGeom>
          <a:solidFill>
            <a:srgbClr val="16233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4805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8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920240" y="44805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마케팅·파트너십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389120" y="448056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손보사 PoC 협상, 건강검진센터 제휴, 컨퍼런스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5778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1차 목표 재원: 한국핀테크지원센터 디지털 금융기술 내재화 사업 + 정부지원사업 연계 (구체적 규모는 확정된 지원사업에 따라 조정)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55664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용어 : R&amp;D = 연구개발 · 스마트컨트랙트 감사 = 외부 전문기관의 코드 보안 점검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E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28600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신뢰할 수 있는 인슈어테크,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함께 만들어갈 파트너를 찾습니다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79476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1E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상담·리밸런싱부터 가입심사·청구까지 이미 구현·검증된 AI Agent와 수익성 대시보드를 기반으로, </a:t>
            </a:r>
            <a:pPr algn="l" indent="0" marL="0">
              <a:buNone/>
            </a:pPr>
            <a:r>
              <a:rPr lang="en-US" sz="1800" b="1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정부지원사업·보험사 컨소시엄·투자 파트너</a:t>
            </a:r>
            <a:pPr algn="l" indent="0" marL="0">
              <a:buNone/>
            </a:pPr>
            <a:r>
              <a:rPr lang="en-US" sz="1800" dirty="0">
                <a:solidFill>
                  <a:srgbClr val="F1E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와 함께 다음 단계로 나아가겠습니다.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55664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DC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용어 : B2B = 기업 간 거래 · 스마트컨트랙트 = 조건 충족 시 자동 실행되는 블록체인 계약 코드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사업 제휴 구체 사례 — "6개월 후 재검" 판정자 사전가입 유도</a:t>
            </a:r>
            <a:endParaRPr lang="en-US" sz="3000" dirty="0"/>
          </a:p>
        </p:txBody>
      </p:sp>
      <p:sp>
        <p:nvSpPr>
          <p:cNvPr id="3" name="Text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검진 결과지를 받는 바로 그 순간이 보험 니즈가 가장 선명하면서도, 아직 가입이 가능한 마지막 타이밍입니다</a:t>
            </a:r>
            <a:endParaRPr lang="en-US" sz="1400" dirty="0"/>
          </a:p>
        </p:txBody>
      </p:sp>
      <p:sp>
        <p:nvSpPr>
          <p:cNvPr id="4" name="Shape"/>
          <p:cNvSpPr/>
          <p:nvPr/>
        </p:nvSpPr>
        <p:spPr>
          <a:xfrm>
            <a:off x="822960" y="1874520"/>
            <a:ext cx="3291840" cy="1051560"/>
          </a:xfrm>
          <a:prstGeom prst="roundRect">
            <a:avLst>
              <a:gd name="adj" fmla="val 8696"/>
            </a:avLst>
          </a:prstGeom>
          <a:solidFill>
            <a:srgbClr val="16233F"/>
          </a:solidFill>
          <a:ln/>
          <a:effectLst>
            <a:outerShdw sx="100000" sy="100000" kx="0" ky="0" algn="bl" rotWithShape="0" blurRad="76200" dist="25400" dir="5400000">
              <a:srgbClr val="16233F">
                <a:alpha val="12000"/>
              </a:srgbClr>
            </a:outerShdw>
          </a:effectLst>
        </p:spPr>
      </p:sp>
      <p:sp>
        <p:nvSpPr>
          <p:cNvPr id="5" name="Text"/>
          <p:cNvSpPr txBox="1"/>
          <p:nvPr/>
        </p:nvSpPr>
        <p:spPr>
          <a:xfrm>
            <a:off x="822960" y="1874520"/>
            <a:ext cx="3291840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건강검진센터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"6개월 후 재검" 판정자 추출</a:t>
            </a:r>
            <a:endParaRPr lang="en-US" sz="1350" dirty="0"/>
          </a:p>
        </p:txBody>
      </p:sp>
      <p:sp>
        <p:nvSpPr>
          <p:cNvPr id="6" name="Shape"/>
          <p:cNvSpPr/>
          <p:nvPr/>
        </p:nvSpPr>
        <p:spPr>
          <a:xfrm>
            <a:off x="4526280" y="1874520"/>
            <a:ext cx="3291840" cy="1051560"/>
          </a:xfrm>
          <a:prstGeom prst="roundRect">
            <a:avLst>
              <a:gd name="adj" fmla="val 8696"/>
            </a:avLst>
          </a:prstGeom>
          <a:solidFill>
            <a:srgbClr val="16233F"/>
          </a:solidFill>
          <a:ln/>
          <a:effectLst>
            <a:outerShdw sx="100000" sy="100000" kx="0" ky="0" algn="bl" rotWithShape="0" blurRad="76200" dist="25400" dir="5400000">
              <a:srgbClr val="16233F">
                <a:alpha val="12000"/>
              </a:srgbClr>
            </a:outerShdw>
          </a:effectLst>
        </p:spPr>
      </p:sp>
      <p:sp>
        <p:nvSpPr>
          <p:cNvPr id="7" name="Text"/>
          <p:cNvSpPr txBox="1"/>
          <p:nvPr/>
        </p:nvSpPr>
        <p:spPr>
          <a:xfrm>
            <a:off x="4526280" y="1874520"/>
            <a:ext cx="3291840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CareLink AI Agent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결과지 전달 시 동의 획득 + 즉시 위험분석·추천</a:t>
            </a:r>
            <a:endParaRPr lang="en-US" sz="1350" dirty="0"/>
          </a:p>
        </p:txBody>
      </p:sp>
      <p:sp>
        <p:nvSpPr>
          <p:cNvPr id="8" name="Shape"/>
          <p:cNvSpPr/>
          <p:nvPr/>
        </p:nvSpPr>
        <p:spPr>
          <a:xfrm>
            <a:off x="8229600" y="1874520"/>
            <a:ext cx="3291840" cy="1051560"/>
          </a:xfrm>
          <a:prstGeom prst="roundRect">
            <a:avLst>
              <a:gd name="adj" fmla="val 8696"/>
            </a:avLst>
          </a:prstGeom>
          <a:solidFill>
            <a:srgbClr val="16233F"/>
          </a:solidFill>
          <a:ln/>
          <a:effectLst>
            <a:outerShdw sx="100000" sy="100000" kx="0" ky="0" algn="bl" rotWithShape="0" blurRad="76200" dist="25400" dir="5400000">
              <a:srgbClr val="16233F">
                <a:alpha val="12000"/>
              </a:srgbClr>
            </a:outerShdw>
          </a:effectLst>
        </p:spPr>
      </p:sp>
      <p:sp>
        <p:nvSpPr>
          <p:cNvPr id="9" name="Text"/>
          <p:cNvSpPr txBox="1"/>
          <p:nvPr/>
        </p:nvSpPr>
        <p:spPr>
          <a:xfrm>
            <a:off x="8229600" y="1874520"/>
            <a:ext cx="3291840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가입 전환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성사 시 검진센터에 리퍼럴 수수료 지급</a:t>
            </a:r>
            <a:endParaRPr lang="en-US" sz="1350" dirty="0"/>
          </a:p>
        </p:txBody>
      </p:sp>
      <p:sp>
        <p:nvSpPr>
          <p:cNvPr id="10" name="Text"/>
          <p:cNvSpPr txBox="1"/>
          <p:nvPr/>
        </p:nvSpPr>
        <p:spPr>
          <a:xfrm>
            <a:off x="4114800" y="1874520"/>
            <a:ext cx="411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Text"/>
          <p:cNvSpPr txBox="1"/>
          <p:nvPr/>
        </p:nvSpPr>
        <p:spPr>
          <a:xfrm>
            <a:off x="7818120" y="1874520"/>
            <a:ext cx="411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"/>
          <p:cNvSpPr/>
          <p:nvPr/>
        </p:nvSpPr>
        <p:spPr>
          <a:xfrm>
            <a:off x="548640" y="3150000"/>
            <a:ext cx="2606040" cy="1150000"/>
          </a:xfrm>
          <a:prstGeom prst="roundRect">
            <a:avLst>
              <a:gd name="adj" fmla="val 3810"/>
            </a:avLst>
          </a:prstGeom>
          <a:solidFill>
            <a:srgbClr val="16233F"/>
          </a:solidFill>
          <a:ln/>
          <a:effectLst>
            <a:outerShdw sx="100000" sy="100000" kx="0" ky="0" algn="bl" rotWithShape="0" blurRad="76200" dist="25400" dir="5400000">
              <a:srgbClr val="16233F">
                <a:alpha val="12000"/>
              </a:srgbClr>
            </a:outerShdw>
          </a:effectLst>
        </p:spPr>
      </p:sp>
      <p:sp>
        <p:nvSpPr>
          <p:cNvPr id="13" name="Text"/>
          <p:cNvSpPr txBox="1"/>
          <p:nvPr/>
        </p:nvSpPr>
        <p:spPr>
          <a:xfrm>
            <a:off x="548640" y="3150000"/>
            <a:ext cx="2606040" cy="1150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8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3,000명</a:t>
            </a:r>
            <a:endParaRPr lang="en-US" sz="2600" dirty="0"/>
          </a:p>
        </p:txBody>
      </p:sp>
      <p:sp>
        <p:nvSpPr>
          <p:cNvPr id="14" name="Text"/>
          <p:cNvSpPr txBox="1"/>
          <p:nvPr/>
        </p:nvSpPr>
        <p:spPr>
          <a:xfrm>
            <a:off x="548640" y="4350000"/>
            <a:ext cx="260604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월간 수진자(예시 가정)</a:t>
            </a:r>
            <a:endParaRPr lang="en-US" sz="1150" dirty="0"/>
          </a:p>
        </p:txBody>
      </p:sp>
      <p:sp>
        <p:nvSpPr>
          <p:cNvPr id="15" name="Shape"/>
          <p:cNvSpPr/>
          <p:nvPr/>
        </p:nvSpPr>
        <p:spPr>
          <a:xfrm>
            <a:off x="3368040" y="3150000"/>
            <a:ext cx="2606040" cy="1150000"/>
          </a:xfrm>
          <a:prstGeom prst="roundRect">
            <a:avLst>
              <a:gd name="adj" fmla="val 3810"/>
            </a:avLst>
          </a:prstGeom>
          <a:solidFill>
            <a:srgbClr val="16233F"/>
          </a:solidFill>
          <a:ln/>
          <a:effectLst>
            <a:outerShdw sx="100000" sy="100000" kx="0" ky="0" algn="bl" rotWithShape="0" blurRad="76200" dist="25400" dir="5400000">
              <a:srgbClr val="16233F">
                <a:alpha val="12000"/>
              </a:srgbClr>
            </a:outerShdw>
          </a:effectLst>
        </p:spPr>
      </p:sp>
      <p:sp>
        <p:nvSpPr>
          <p:cNvPr id="16" name="Text"/>
          <p:cNvSpPr txBox="1"/>
          <p:nvPr/>
        </p:nvSpPr>
        <p:spPr>
          <a:xfrm>
            <a:off x="3368040" y="3150000"/>
            <a:ext cx="2606040" cy="1150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8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450명 (15%)</a:t>
            </a:r>
            <a:endParaRPr lang="en-US" sz="2600" dirty="0"/>
          </a:p>
        </p:txBody>
      </p:sp>
      <p:sp>
        <p:nvSpPr>
          <p:cNvPr id="17" name="Text"/>
          <p:cNvSpPr txBox="1"/>
          <p:nvPr/>
        </p:nvSpPr>
        <p:spPr>
          <a:xfrm>
            <a:off x="3368040" y="4350000"/>
            <a:ext cx="260604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"6개월 추적관찰" 판정(예시 가정)</a:t>
            </a:r>
            <a:endParaRPr lang="en-US" sz="1150" dirty="0"/>
          </a:p>
        </p:txBody>
      </p:sp>
      <p:sp>
        <p:nvSpPr>
          <p:cNvPr id="18" name="Shape"/>
          <p:cNvSpPr/>
          <p:nvPr/>
        </p:nvSpPr>
        <p:spPr>
          <a:xfrm>
            <a:off x="6187440" y="3150000"/>
            <a:ext cx="2606040" cy="1150000"/>
          </a:xfrm>
          <a:prstGeom prst="roundRect">
            <a:avLst>
              <a:gd name="adj" fmla="val 3810"/>
            </a:avLst>
          </a:prstGeom>
          <a:solidFill>
            <a:srgbClr val="16233F"/>
          </a:solidFill>
          <a:ln/>
          <a:effectLst>
            <a:outerShdw sx="100000" sy="100000" kx="0" ky="0" algn="bl" rotWithShape="0" blurRad="76200" dist="25400" dir="5400000">
              <a:srgbClr val="16233F">
                <a:alpha val="12000"/>
              </a:srgbClr>
            </a:outerShdw>
          </a:effectLst>
        </p:spPr>
      </p:sp>
      <p:sp>
        <p:nvSpPr>
          <p:cNvPr id="19" name="Text"/>
          <p:cNvSpPr txBox="1"/>
          <p:nvPr/>
        </p:nvSpPr>
        <p:spPr>
          <a:xfrm>
            <a:off x="6187440" y="3150000"/>
            <a:ext cx="2606040" cy="1150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8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90명 (20%)</a:t>
            </a:r>
            <a:endParaRPr lang="en-US" sz="2600" dirty="0"/>
          </a:p>
        </p:txBody>
      </p:sp>
      <p:sp>
        <p:nvSpPr>
          <p:cNvPr id="20" name="Text"/>
          <p:cNvSpPr txBox="1"/>
          <p:nvPr/>
        </p:nvSpPr>
        <p:spPr>
          <a:xfrm>
            <a:off x="6187440" y="4350000"/>
            <a:ext cx="260604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CareLink 연결 동의(예시 가정)</a:t>
            </a:r>
            <a:endParaRPr lang="en-US" sz="1150" dirty="0"/>
          </a:p>
        </p:txBody>
      </p:sp>
      <p:sp>
        <p:nvSpPr>
          <p:cNvPr id="21" name="Shape"/>
          <p:cNvSpPr/>
          <p:nvPr/>
        </p:nvSpPr>
        <p:spPr>
          <a:xfrm>
            <a:off x="9006840" y="3150000"/>
            <a:ext cx="2606040" cy="1150000"/>
          </a:xfrm>
          <a:prstGeom prst="roundRect">
            <a:avLst>
              <a:gd name="adj" fmla="val 3810"/>
            </a:avLst>
          </a:prstGeom>
          <a:solidFill>
            <a:srgbClr val="16233F"/>
          </a:solidFill>
          <a:ln/>
          <a:effectLst>
            <a:outerShdw sx="100000" sy="100000" kx="0" ky="0" algn="bl" rotWithShape="0" blurRad="76200" dist="25400" dir="5400000">
              <a:srgbClr val="16233F">
                <a:alpha val="12000"/>
              </a:srgbClr>
            </a:outerShdw>
          </a:effectLst>
        </p:spPr>
      </p:sp>
      <p:sp>
        <p:nvSpPr>
          <p:cNvPr id="22" name="Text"/>
          <p:cNvSpPr txBox="1"/>
          <p:nvPr/>
        </p:nvSpPr>
        <p:spPr>
          <a:xfrm>
            <a:off x="9006840" y="3150000"/>
            <a:ext cx="2606040" cy="1150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8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약 11명 (12%)</a:t>
            </a:r>
            <a:endParaRPr lang="en-US" sz="2600" dirty="0"/>
          </a:p>
        </p:txBody>
      </p:sp>
      <p:sp>
        <p:nvSpPr>
          <p:cNvPr id="23" name="Text"/>
          <p:cNvSpPr txBox="1"/>
          <p:nvPr/>
        </p:nvSpPr>
        <p:spPr>
          <a:xfrm>
            <a:off x="9006840" y="4350000"/>
            <a:ext cx="260604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가입 전환(예시 가정)</a:t>
            </a:r>
            <a:endParaRPr lang="en-US" sz="1150" dirty="0"/>
          </a:p>
        </p:txBody>
      </p:sp>
      <p:sp>
        <p:nvSpPr>
          <p:cNvPr id="24" name="Text"/>
          <p:cNvSpPr txBox="1"/>
          <p:nvPr/>
        </p:nvSpPr>
        <p:spPr>
          <a:xfrm>
            <a:off x="548640" y="4850000"/>
            <a:ext cx="1106424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 가정 — 수진자 수·판정 비율·전환율은 검진기관 규모·검진 항목에 따라 다르며, 실제 통계가 아니라 퍼널 구조를 보여주기 위한 일러스트레이션입니다. 리퍼럴 수수료의 구체적 산정 방식(CPM·CPC·CPA)은 다음 슬라이드에서 다룹니다.</a:t>
            </a:r>
            <a:endParaRPr lang="en-US" sz="780" dirty="0"/>
          </a:p>
        </p:txBody>
      </p:sp>
      <p:sp>
        <p:nvSpPr>
          <p:cNvPr id="25" name="Text"/>
          <p:cNvSpPr txBox="1"/>
          <p:nvPr/>
        </p:nvSpPr>
        <p:spPr>
          <a:xfrm>
            <a:off x="548640" y="6126480"/>
            <a:ext cx="11064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추적관찰 단계는 아직 가입이 가능한 "마지막 경계 구간" — 소견이 질환으로 확정되면 가입 자체가 막히므로, 이 타이밍을 놓치면 역선택 방지 효과도 함께 사라집니다</a:t>
            </a:r>
            <a:endParaRPr lang="en-US" sz="1150" dirty="0"/>
          </a:p>
        </p:txBody>
      </p:sp>
      <p:sp>
        <p:nvSpPr>
          <p:cNvPr id="26" name="Text"/>
          <p:cNvSpPr txBox="1"/>
          <p:nvPr/>
        </p:nvSpPr>
        <p:spPr>
          <a:xfrm>
            <a:off x="548640" y="6455664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용어 : 추적관찰(경계성 소견) = 질환으로 확정되지 않았으나 재검을 권고받은 상태 · 역선택 = 위험이 큰 사람일수록 보험에 더 적극적으로 가입하려는 경향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E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유입 비용 계산 — 배너광고와 동일한 CPM·CPC·CPA 체계로 환산</a:t>
            </a:r>
            <a:endParaRPr lang="en-US" sz="3000" dirty="0"/>
          </a:p>
        </p:txBody>
      </p:sp>
      <p:sp>
        <p:nvSpPr>
          <p:cNvPr id="3" name="Text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검진센터 제휴로 들어오는 고객도 "노출→클릭→전환" 퍼널과 비용 공식은 배너광고와 동일합니다 — 그래야 채널 간 효율을 직접 비교할 수 있습니다</a:t>
            </a:r>
            <a:endParaRPr lang="en-US" sz="1400" dirty="0"/>
          </a:p>
        </p:txBody>
      </p:sp>
      <p:sp>
        <p:nvSpPr>
          <p:cNvPr id="4" name="Shape"/>
          <p:cNvSpPr/>
          <p:nvPr/>
        </p:nvSpPr>
        <p:spPr>
          <a:xfrm>
            <a:off x="822960" y="1874520"/>
            <a:ext cx="3291840" cy="1051560"/>
          </a:xfrm>
          <a:prstGeom prst="roundRect">
            <a:avLst>
              <a:gd name="adj" fmla="val 8696"/>
            </a:avLst>
          </a:prstGeom>
          <a:solidFill>
            <a:srgbClr val="16233F"/>
          </a:solidFill>
          <a:ln/>
          <a:effectLst>
            <a:outerShdw sx="100000" sy="100000" kx="0" ky="0" algn="bl" rotWithShape="0" blurRad="76200" dist="25400" dir="5400000">
              <a:srgbClr val="16233F">
                <a:alpha val="12000"/>
              </a:srgbClr>
            </a:outerShdw>
          </a:effectLst>
        </p:spPr>
      </p:sp>
      <p:sp>
        <p:nvSpPr>
          <p:cNvPr id="5" name="Text"/>
          <p:cNvSpPr txBox="1"/>
          <p:nvPr/>
        </p:nvSpPr>
        <p:spPr>
          <a:xfrm>
            <a:off x="822960" y="1874520"/>
            <a:ext cx="3291840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8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CPM</a:t>
            </a:r>
            <a:endParaRPr lang="en-US" sz="20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비용 ÷ (노출수 ÷ 1,000)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노출 1,000회당 비용</a:t>
            </a:r>
            <a:endParaRPr lang="en-US" sz="1150" dirty="0"/>
          </a:p>
        </p:txBody>
      </p:sp>
      <p:sp>
        <p:nvSpPr>
          <p:cNvPr id="6" name="Shape"/>
          <p:cNvSpPr/>
          <p:nvPr/>
        </p:nvSpPr>
        <p:spPr>
          <a:xfrm>
            <a:off x="4526280" y="1874520"/>
            <a:ext cx="3291840" cy="1051560"/>
          </a:xfrm>
          <a:prstGeom prst="roundRect">
            <a:avLst>
              <a:gd name="adj" fmla="val 8696"/>
            </a:avLst>
          </a:prstGeom>
          <a:solidFill>
            <a:srgbClr val="16233F"/>
          </a:solidFill>
          <a:ln/>
          <a:effectLst>
            <a:outerShdw sx="100000" sy="100000" kx="0" ky="0" algn="bl" rotWithShape="0" blurRad="76200" dist="25400" dir="5400000">
              <a:srgbClr val="16233F">
                <a:alpha val="12000"/>
              </a:srgbClr>
            </a:outerShdw>
          </a:effectLst>
        </p:spPr>
      </p:sp>
      <p:sp>
        <p:nvSpPr>
          <p:cNvPr id="7" name="Text"/>
          <p:cNvSpPr txBox="1"/>
          <p:nvPr/>
        </p:nvSpPr>
        <p:spPr>
          <a:xfrm>
            <a:off x="4526280" y="1874520"/>
            <a:ext cx="3291840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8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CPC</a:t>
            </a:r>
            <a:endParaRPr lang="en-US" sz="20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비용 ÷ 클릭수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클릭(동의) 1건당 비용</a:t>
            </a:r>
            <a:endParaRPr lang="en-US" sz="1150" dirty="0"/>
          </a:p>
        </p:txBody>
      </p:sp>
      <p:sp>
        <p:nvSpPr>
          <p:cNvPr id="8" name="Shape"/>
          <p:cNvSpPr/>
          <p:nvPr/>
        </p:nvSpPr>
        <p:spPr>
          <a:xfrm>
            <a:off x="8229600" y="1874520"/>
            <a:ext cx="3291840" cy="1051560"/>
          </a:xfrm>
          <a:prstGeom prst="roundRect">
            <a:avLst>
              <a:gd name="adj" fmla="val 8696"/>
            </a:avLst>
          </a:prstGeom>
          <a:solidFill>
            <a:srgbClr val="16233F"/>
          </a:solidFill>
          <a:ln/>
          <a:effectLst>
            <a:outerShdw sx="100000" sy="100000" kx="0" ky="0" algn="bl" rotWithShape="0" blurRad="76200" dist="25400" dir="5400000">
              <a:srgbClr val="16233F">
                <a:alpha val="12000"/>
              </a:srgbClr>
            </a:outerShdw>
          </a:effectLst>
        </p:spPr>
      </p:sp>
      <p:sp>
        <p:nvSpPr>
          <p:cNvPr id="9" name="Text"/>
          <p:cNvSpPr txBox="1"/>
          <p:nvPr/>
        </p:nvSpPr>
        <p:spPr>
          <a:xfrm>
            <a:off x="8229600" y="1874520"/>
            <a:ext cx="3291840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8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CPA</a:t>
            </a:r>
            <a:endParaRPr lang="en-US" sz="20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비용 ÷ 전환수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(= CPC ÷ 전환율)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가입 1건당 비용</a:t>
            </a:r>
            <a:endParaRPr lang="en-US" sz="1150" dirty="0"/>
          </a:p>
        </p:txBody>
      </p:sp>
      <p:graphicFrame>
        <p:nvGraphicFramePr>
          <p:cNvPr id="10" name="Table"/>
          <p:cNvGraphicFramePr>
            <a:graphicFrameLocks noGrp="1"/>
          </p:cNvGraphicFramePr>
          <p:nvPr/>
        </p:nvGraphicFramePr>
        <p:xfrm>
          <a:off x="548640" y="3250000"/>
          <a:ext cx="11064240" cy="2468880"/>
        </p:xfrm>
        <a:graphic>
          <a:graphicData uri="http://schemas.openxmlformats.org/drawingml/2006/table">
            <a:tbl>
              <a:tblPr/>
              <a:tblGrid>
                <a:gridCol w="4358640"/>
                <a:gridCol w="3352800"/>
                <a:gridCol w="33528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</a:t>
                      </a:r>
                      <a:endParaRPr lang="en-US" sz="1050" dirty="0"/>
                    </a:p>
                  </a:txBody>
                  <a:tcPr marL="54864" marR="54864" marT="25400" marB="254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검진센터 리퍼럴(이 사례)</a:t>
                      </a:r>
                      <a:endParaRPr lang="en-US" sz="1050" dirty="0"/>
                    </a:p>
                  </a:txBody>
                  <a:tcPr marL="54864" marR="54864" marT="25400" marB="254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일반 배너광고(참고, 가정)</a:t>
                      </a:r>
                      <a:endParaRPr lang="en-US" sz="1050" dirty="0"/>
                    </a:p>
                  </a:txBody>
                  <a:tcPr marL="54864" marR="54864" marT="25400" marB="254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노출/타겟 모수</a:t>
                      </a:r>
                      <a:endParaRPr lang="en-US" sz="1050" dirty="0"/>
                    </a:p>
                  </a:txBody>
                  <a:tcPr marL="54864" marR="54864" marT="25400" marB="254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450명(추적관찰 판정자)</a:t>
                      </a:r>
                      <a:endParaRPr lang="en-US" sz="1050" dirty="0"/>
                    </a:p>
                  </a:txBody>
                  <a:tcPr marL="54864" marR="54864" marT="25400" marB="254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10,000회(디스플레이 노출)</a:t>
                      </a:r>
                      <a:endParaRPr lang="en-US" sz="1050" dirty="0"/>
                    </a:p>
                  </a:txBody>
                  <a:tcPr marL="54864" marR="54864" marT="25400" marB="254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클릭(참여·동의)</a:t>
                      </a:r>
                      <a:endParaRPr lang="en-US" sz="1050" dirty="0"/>
                    </a:p>
                  </a:txBody>
                  <a:tcPr marL="54864" marR="54864" marT="25400" marB="254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90명 (CTR 20%)</a:t>
                      </a:r>
                      <a:endParaRPr lang="en-US" sz="1050" dirty="0"/>
                    </a:p>
                  </a:txBody>
                  <a:tcPr marL="54864" marR="54864" marT="25400" marB="254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50회 (CTR 0.5%)</a:t>
                      </a:r>
                      <a:endParaRPr lang="en-US" sz="1050" dirty="0"/>
                    </a:p>
                  </a:txBody>
                  <a:tcPr marL="54864" marR="54864" marT="25400" marB="254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전환(가입)</a:t>
                      </a:r>
                      <a:endParaRPr lang="en-US" sz="1050" dirty="0"/>
                    </a:p>
                  </a:txBody>
                  <a:tcPr marL="54864" marR="54864" marT="25400" marB="254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 11명 (CVR 12%)</a:t>
                      </a:r>
                      <a:endParaRPr lang="en-US" sz="1050" dirty="0"/>
                    </a:p>
                  </a:txBody>
                  <a:tcPr marL="54864" marR="54864" marT="25400" marB="254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 1명 (CVR 2%)</a:t>
                      </a:r>
                      <a:endParaRPr lang="en-US" sz="1050" dirty="0"/>
                    </a:p>
                  </a:txBody>
                  <a:tcPr marL="54864" marR="54864" marT="25400" marB="254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캠페인 비용(월, 가정)</a:t>
                      </a:r>
                      <a:endParaRPr lang="en-US" sz="1050" dirty="0"/>
                    </a:p>
                  </a:txBody>
                  <a:tcPr marL="54864" marR="54864" marT="25400" marB="254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330,000원</a:t>
                      </a:r>
                      <a:endParaRPr lang="en-US" sz="1050" dirty="0"/>
                    </a:p>
                  </a:txBody>
                  <a:tcPr marL="54864" marR="54864" marT="25400" marB="254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25,000원</a:t>
                      </a:r>
                      <a:endParaRPr lang="en-US" sz="1050" dirty="0"/>
                    </a:p>
                  </a:txBody>
                  <a:tcPr marL="54864" marR="54864" marT="25400" marB="254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CPA(가입 1건당)</a:t>
                      </a:r>
                      <a:endParaRPr lang="en-US" sz="1050" dirty="0"/>
                    </a:p>
                  </a:txBody>
                  <a:tcPr marL="54864" marR="54864" marT="25400" marB="254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 30,000원</a:t>
                      </a:r>
                      <a:endParaRPr lang="en-US" sz="1050" dirty="0"/>
                    </a:p>
                  </a:txBody>
                  <a:tcPr marL="54864" marR="54864" marT="25400" marB="254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 25,000원</a:t>
                      </a:r>
                      <a:endParaRPr lang="en-US" sz="1050" dirty="0"/>
                    </a:p>
                  </a:txBody>
                  <a:tcPr marL="54864" marR="54864" marT="25400" marB="254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"/>
          <p:cNvSpPr txBox="1"/>
          <p:nvPr/>
        </p:nvSpPr>
        <p:spPr>
          <a:xfrm>
            <a:off x="548640" y="5450000"/>
            <a:ext cx="1106424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산출 — CPA(검진센터) = 전환당 리퍼럴 수수료 30,000원(가정, 초년도 보험료 30만원의 10%) 기준 → 역산 CPC = CPA×CVR = 3,600원, CPM ≈ 73만원(1,000명당) — '모수 1,000명당' 비용은 일반 배너광고보다 높아 보이지만, 전환율(CVR)이 6배 높아 실제 CPA는 비슷한 수준입니다. 배너광고 쪽 수치는 업계 평균을 대표하지 않는 예시 가정치입니다.</a:t>
            </a:r>
            <a:endParaRPr lang="en-US" sz="780" dirty="0"/>
          </a:p>
        </p:txBody>
      </p:sp>
      <p:sp>
        <p:nvSpPr>
          <p:cNvPr id="12" name="Text"/>
          <p:cNvSpPr txBox="1"/>
          <p:nvPr/>
        </p:nvSpPr>
        <p:spPr>
          <a:xfrm>
            <a:off x="548640" y="6126480"/>
            <a:ext cx="11064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공식으로 계산해야 다른 유입채널과 숫자로 비교할 수 있습니다 — 다만 CPA 숫자만으로는 역선택 방지·가입 가능 시점 선점 같은 질적 가치는 잡히지 않습니다</a:t>
            </a:r>
            <a:endParaRPr lang="en-US" sz="1150" dirty="0"/>
          </a:p>
        </p:txBody>
      </p:sp>
      <p:sp>
        <p:nvSpPr>
          <p:cNvPr id="13" name="Text"/>
          <p:cNvSpPr txBox="1"/>
          <p:nvPr/>
        </p:nvSpPr>
        <p:spPr>
          <a:xfrm>
            <a:off x="548640" y="6455664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용어 : CPM/CPC/CPA = 노출/클릭/전환 1건당 비용 · CTR = 클릭률(클릭÷노출) · CVR = 전환율(전환÷클릭)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E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수익성 시뮬레이션 — 규모의 경제와 손익분기점</a:t>
            </a:r>
            <a:endParaRPr lang="en-US" sz="3000" dirty="0"/>
          </a:p>
        </p:txBody>
      </p:sp>
      <p:sp>
        <p:nvSpPr>
          <p:cNvPr id="3" name="Text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가정을 고정한 채 가입 건수만 늘려보면, 작은 규모에서는 고정비 때문에 적자이고, 손익분기를 넘으면 흑자로 전환되며, 그 이후로는 변동성도 함께 줄어듭니다</a:t>
            </a:r>
            <a:endParaRPr lang="en-US" sz="1400" dirty="0"/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548640" y="1874520"/>
          <a:ext cx="11064240" cy="2240280"/>
        </p:xfrm>
        <a:graphic>
          <a:graphicData uri="http://schemas.openxmlformats.org/drawingml/2006/table">
            <a:tbl>
              <a:tblPr/>
              <a:tblGrid>
                <a:gridCol w="1659636"/>
                <a:gridCol w="2212848"/>
                <a:gridCol w="1659636"/>
                <a:gridCol w="2950464"/>
                <a:gridCol w="2581655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가입 건수(N)</a:t>
                      </a:r>
                      <a:endParaRPr lang="en-US" sz="1000" dirty="0"/>
                    </a:p>
                  </a:txBody>
                  <a:tcPr marL="54864" marR="54864" marT="25400" marB="254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보험료 총액</a:t>
                      </a:r>
                      <a:endParaRPr lang="en-US" sz="1000" dirty="0"/>
                    </a:p>
                  </a:txBody>
                  <a:tcPr marL="54864" marR="54864" marT="25400" marB="254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사업비율</a:t>
                      </a:r>
                      <a:endParaRPr lang="en-US" sz="1000" dirty="0"/>
                    </a:p>
                  </a:txBody>
                  <a:tcPr marL="54864" marR="54864" marT="25400" marB="254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손해율(평균·95%CI)</a:t>
                      </a:r>
                      <a:endParaRPr lang="en-US" sz="1000" dirty="0"/>
                    </a:p>
                  </a:txBody>
                  <a:tcPr marL="54864" marR="54864" marT="25400" marB="254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합산비율(평균/95%상단)</a:t>
                      </a:r>
                      <a:endParaRPr lang="en-US" sz="1000" dirty="0"/>
                    </a:p>
                  </a:txBody>
                  <a:tcPr marL="54864" marR="54864" marT="25400" marB="254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100건</a:t>
                      </a:r>
                      <a:endParaRPr lang="en-US" sz="1000" dirty="0"/>
                    </a:p>
                  </a:txBody>
                  <a:tcPr marL="54864" marR="54864" marT="25400" marB="254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3,000만원</a:t>
                      </a:r>
                      <a:endParaRPr lang="en-US" sz="1000" dirty="0"/>
                    </a:p>
                  </a:txBody>
                  <a:tcPr marL="54864" marR="54864" marT="25400" marB="254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608.0%</a:t>
                      </a:r>
                      <a:endParaRPr lang="en-US" sz="1000" dirty="0"/>
                    </a:p>
                  </a:txBody>
                  <a:tcPr marL="54864" marR="54864" marT="25400" marB="254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55.0% (38.8~71.2%)</a:t>
                      </a:r>
                      <a:endParaRPr lang="en-US" sz="1000" dirty="0"/>
                    </a:p>
                  </a:txBody>
                  <a:tcPr marL="54864" marR="54864" marT="25400" marB="254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663.0% / 679.2%</a:t>
                      </a:r>
                      <a:endParaRPr lang="en-US" sz="1000" dirty="0"/>
                    </a:p>
                  </a:txBody>
                  <a:tcPr marL="54864" marR="54864" marT="25400" marB="254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1,000건</a:t>
                      </a:r>
                      <a:endParaRPr lang="en-US" sz="1000" dirty="0"/>
                    </a:p>
                  </a:txBody>
                  <a:tcPr marL="54864" marR="54864" marT="25400" marB="254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3억원</a:t>
                      </a:r>
                      <a:endParaRPr lang="en-US" sz="1000" dirty="0"/>
                    </a:p>
                  </a:txBody>
                  <a:tcPr marL="54864" marR="54864" marT="25400" marB="254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68.0%</a:t>
                      </a:r>
                      <a:endParaRPr lang="en-US" sz="1000" dirty="0"/>
                    </a:p>
                  </a:txBody>
                  <a:tcPr marL="54864" marR="54864" marT="25400" marB="254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55.0% (49.9~60.1%)</a:t>
                      </a:r>
                      <a:endParaRPr lang="en-US" sz="1000" dirty="0"/>
                    </a:p>
                  </a:txBody>
                  <a:tcPr marL="54864" marR="54864" marT="25400" marB="254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123.0% / 128.1%</a:t>
                      </a:r>
                      <a:endParaRPr lang="en-US" sz="1000" dirty="0"/>
                    </a:p>
                  </a:txBody>
                  <a:tcPr marL="54864" marR="54864" marT="25400" marB="254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1,622건 (손익분기)</a:t>
                      </a:r>
                      <a:endParaRPr lang="en-US" sz="1000" dirty="0"/>
                    </a:p>
                  </a:txBody>
                  <a:tcPr marL="54864" marR="54864" marT="25400" marB="254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86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4억 8,660만원</a:t>
                      </a:r>
                      <a:endParaRPr lang="en-US" sz="1000" dirty="0"/>
                    </a:p>
                  </a:txBody>
                  <a:tcPr marL="54864" marR="54864" marT="25400" marB="254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86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45.0%</a:t>
                      </a:r>
                      <a:endParaRPr lang="en-US" sz="1000" dirty="0"/>
                    </a:p>
                  </a:txBody>
                  <a:tcPr marL="54864" marR="54864" marT="25400" marB="254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86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55.0% (51.0~59.0%)</a:t>
                      </a:r>
                      <a:endParaRPr lang="en-US" sz="1000" dirty="0"/>
                    </a:p>
                  </a:txBody>
                  <a:tcPr marL="54864" marR="54864" marT="25400" marB="254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86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 / 104.0%</a:t>
                      </a:r>
                      <a:endParaRPr lang="en-US" sz="1000" dirty="0"/>
                    </a:p>
                  </a:txBody>
                  <a:tcPr marL="54864" marR="54864" marT="25400" marB="254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862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10,000건</a:t>
                      </a:r>
                      <a:endParaRPr lang="en-US" sz="1000" dirty="0"/>
                    </a:p>
                  </a:txBody>
                  <a:tcPr marL="54864" marR="54864" marT="25400" marB="254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30억원</a:t>
                      </a:r>
                      <a:endParaRPr lang="en-US" sz="1000" dirty="0"/>
                    </a:p>
                  </a:txBody>
                  <a:tcPr marL="54864" marR="54864" marT="25400" marB="254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14.0%</a:t>
                      </a:r>
                      <a:endParaRPr lang="en-US" sz="1000" dirty="0"/>
                    </a:p>
                  </a:txBody>
                  <a:tcPr marL="54864" marR="54864" marT="25400" marB="254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55.0% (53.4~56.6%)</a:t>
                      </a:r>
                      <a:endParaRPr lang="en-US" sz="1000" dirty="0"/>
                    </a:p>
                  </a:txBody>
                  <a:tcPr marL="54864" marR="54864" marT="25400" marB="254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69.0% / 70.6%</a:t>
                      </a:r>
                      <a:endParaRPr lang="en-US" sz="1000" dirty="0"/>
                    </a:p>
                  </a:txBody>
                  <a:tcPr marL="54864" marR="54864" marT="25400" marB="254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100,000건</a:t>
                      </a:r>
                      <a:endParaRPr lang="en-US" sz="1000" dirty="0"/>
                    </a:p>
                  </a:txBody>
                  <a:tcPr marL="54864" marR="54864" marT="25400" marB="254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300억원</a:t>
                      </a:r>
                      <a:endParaRPr lang="en-US" sz="1000" dirty="0"/>
                    </a:p>
                  </a:txBody>
                  <a:tcPr marL="54864" marR="54864" marT="25400" marB="254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8.6%</a:t>
                      </a:r>
                      <a:endParaRPr lang="en-US" sz="1000" dirty="0"/>
                    </a:p>
                  </a:txBody>
                  <a:tcPr marL="54864" marR="54864" marT="25400" marB="254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55.0% (54.5~55.5%)</a:t>
                      </a:r>
                      <a:endParaRPr lang="en-US" sz="1000" dirty="0"/>
                    </a:p>
                  </a:txBody>
                  <a:tcPr marL="54864" marR="54864" marT="25400" marB="254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63.6% / 64.1%</a:t>
                      </a:r>
                      <a:endParaRPr lang="en-US" sz="1000" dirty="0"/>
                    </a:p>
                  </a:txBody>
                  <a:tcPr marL="54864" marR="54864" marT="25400" marB="254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"/>
          <p:cNvSpPr/>
          <p:nvPr/>
        </p:nvSpPr>
        <p:spPr>
          <a:xfrm>
            <a:off x="548640" y="3300000"/>
            <a:ext cx="5303520" cy="1150000"/>
          </a:xfrm>
          <a:prstGeom prst="roundRect">
            <a:avLst>
              <a:gd name="adj" fmla="val 3810"/>
            </a:avLst>
          </a:prstGeom>
          <a:solidFill>
            <a:srgbClr val="16233F"/>
          </a:solidFill>
          <a:ln/>
          <a:effectLst>
            <a:outerShdw sx="100000" sy="100000" kx="0" ky="0" algn="bl" rotWithShape="0" blurRad="76200" dist="25400" dir="5400000">
              <a:srgbClr val="16233F">
                <a:alpha val="12000"/>
              </a:srgbClr>
            </a:outerShdw>
          </a:effectLst>
        </p:spPr>
      </p:sp>
      <p:sp>
        <p:nvSpPr>
          <p:cNvPr id="6" name="Text"/>
          <p:cNvSpPr txBox="1"/>
          <p:nvPr/>
        </p:nvSpPr>
        <p:spPr>
          <a:xfrm>
            <a:off x="548640" y="3300000"/>
            <a:ext cx="5303520" cy="1150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8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1,622건</a:t>
            </a:r>
            <a:endParaRPr lang="en-US" sz="2200" dirty="0"/>
          </a:p>
        </p:txBody>
      </p:sp>
      <p:sp>
        <p:nvSpPr>
          <p:cNvPr id="7" name="Text"/>
          <p:cNvSpPr txBox="1"/>
          <p:nvPr/>
        </p:nvSpPr>
        <p:spPr>
          <a:xfrm>
            <a:off x="548640" y="4500000"/>
            <a:ext cx="530352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손익분기점 — 로드맵 2단계(컨소시엄 구축) 목표 규모와 거의 일치</a:t>
            </a:r>
            <a:endParaRPr lang="en-US" sz="1150" dirty="0"/>
          </a:p>
        </p:txBody>
      </p:sp>
      <p:sp>
        <p:nvSpPr>
          <p:cNvPr id="8" name="Shape"/>
          <p:cNvSpPr/>
          <p:nvPr/>
        </p:nvSpPr>
        <p:spPr>
          <a:xfrm>
            <a:off x="6309360" y="3300000"/>
            <a:ext cx="5303520" cy="1150000"/>
          </a:xfrm>
          <a:prstGeom prst="roundRect">
            <a:avLst>
              <a:gd name="adj" fmla="val 3810"/>
            </a:avLst>
          </a:prstGeom>
          <a:solidFill>
            <a:srgbClr val="16233F"/>
          </a:solidFill>
          <a:ln/>
          <a:effectLst>
            <a:outerShdw sx="100000" sy="100000" kx="0" ky="0" algn="bl" rotWithShape="0" blurRad="76200" dist="25400" dir="5400000">
              <a:srgbClr val="16233F">
                <a:alpha val="12000"/>
              </a:srgbClr>
            </a:outerShdw>
          </a:effectLst>
        </p:spPr>
      </p:sp>
      <p:sp>
        <p:nvSpPr>
          <p:cNvPr id="9" name="Text"/>
          <p:cNvSpPr txBox="1"/>
          <p:nvPr/>
        </p:nvSpPr>
        <p:spPr>
          <a:xfrm>
            <a:off x="6309360" y="3300000"/>
            <a:ext cx="5303520" cy="1150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8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약 15% ↓</a:t>
            </a:r>
            <a:endParaRPr lang="en-US" sz="2200" dirty="0"/>
          </a:p>
        </p:txBody>
      </p:sp>
      <p:sp>
        <p:nvSpPr>
          <p:cNvPr id="10" name="Text"/>
          <p:cNvSpPr txBox="1"/>
          <p:nvPr/>
        </p:nvSpPr>
        <p:spPr>
          <a:xfrm>
            <a:off x="6309360" y="4500000"/>
            <a:ext cx="530352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재보험풀 15% ceding 시 필요자본(99%VaR) 절감 (N=1,000 기준 1,824→1,550만원)</a:t>
            </a:r>
            <a:endParaRPr lang="en-US" sz="1150" dirty="0"/>
          </a:p>
        </p:txBody>
      </p:sp>
      <p:sp>
        <p:nvSpPr>
          <p:cNvPr id="11" name="Text"/>
          <p:cNvSpPr txBox="1"/>
          <p:nvPr/>
        </p:nvSpPr>
        <p:spPr>
          <a:xfrm>
            <a:off x="548640" y="5100000"/>
            <a:ext cx="1106424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가정 — 평균보험료 30만원/건 · 평균 손해율 55% · 개별 손해율 변동계수(CV) 1.5 · 연간 고정비 1.8억원(서버·인프라·소규모 인력) · 가변비 8%(가스비+LLM호출비+PG수수료) · 재보험 ceding 15%(기본값 5~30% 중 중간값) · 95% 신뢰구간은 정규근사(중심극한정리) 기준이며 실제 클레임 분포는 더 두꺼운 꼬리를 가질 수 있어 보수적으로 해석 필요 — 이 모델은 투자자 설명용 시뮬레이션이며 실제 운영 데이터로 재보정이 필요합니다.</a:t>
            </a:r>
            <a:endParaRPr lang="en-US" sz="780" dirty="0"/>
          </a:p>
        </p:txBody>
      </p:sp>
      <p:sp>
        <p:nvSpPr>
          <p:cNvPr id="12" name="Text"/>
          <p:cNvSpPr txBox="1"/>
          <p:nvPr/>
        </p:nvSpPr>
        <p:spPr>
          <a:xfrm>
            <a:off x="548640" y="6126480"/>
            <a:ext cx="11064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손익분기점(~1,622건)은 로드맵 2단계 '컨소시엄 구축'(3~9개월, 손보사 1곳 PoC) 목표 규모와 거의 일치 — 파일럿을 넘어서는 순간부터 구조적으로 수익이 납니다</a:t>
            </a:r>
            <a:endParaRPr lang="en-US" sz="1150" dirty="0"/>
          </a:p>
        </p:txBody>
      </p:sp>
      <p:sp>
        <p:nvSpPr>
          <p:cNvPr id="13" name="Text"/>
          <p:cNvSpPr txBox="1"/>
          <p:nvPr/>
        </p:nvSpPr>
        <p:spPr>
          <a:xfrm>
            <a:off x="548640" y="6455664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A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용어 : 손해율=보험료 대비 지급보험금 비율 · 사업비율=보험료 대비 운영경비 비율 · 합산비율=손해율+사업비율(100% 초과 시 적자) · VaR=특정 신뢰수준에서 발생 가능한 최대손실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E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sureChain Pitch">
  <a:themeElements>
    <a:clrScheme name="InsureChain Pitch">
      <a:dk1>
        <a:srgbClr val="16233F"/>
      </a:dk1>
      <a:lt1>
        <a:srgbClr val="FFFFFF"/>
      </a:lt1>
      <a:dk2>
        <a:srgbClr val="2B3A5C"/>
      </a:dk2>
      <a:lt2>
        <a:srgbClr val="F1E4C4"/>
      </a:lt2>
      <a:accent1>
        <a:srgbClr val="B8862F"/>
      </a:accent1>
      <a:accent2>
        <a:srgbClr val="1F7A6C"/>
      </a:accent2>
      <a:accent3>
        <a:srgbClr val="B5573A"/>
      </a:accent3>
      <a:accent4>
        <a:srgbClr val="5A5E68"/>
      </a:accent4>
      <a:accent5>
        <a:srgbClr val="DCD3BF"/>
      </a:accent5>
      <a:accent6>
        <a:srgbClr val="F6F3EC"/>
      </a:accent6>
      <a:hlink>
        <a:srgbClr val="B8862F"/>
      </a:hlink>
      <a:folHlink>
        <a:srgbClr val="8F6A24"/>
      </a:folHlink>
    </a:clrScheme>
    <a:fontScheme name="InsureChain Pitch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InsureChain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InsureChain Investor Pitch</dc:title>
  <dc:subject>PptxGenJS Presentation</dc:subject>
  <dc:creator>InsureChain</dc:creator>
  <cp:lastModifiedBy>InsureChain</cp:lastModifiedBy>
  <cp:revision>1</cp:revision>
  <dcterms:created xsi:type="dcterms:W3CDTF">2026-10-19T06:03:23Z</dcterms:created>
  <dcterms:modified xsi:type="dcterms:W3CDTF">2026-10-19T06:03:23Z</dcterms:modified>
</cp:coreProperties>
</file>