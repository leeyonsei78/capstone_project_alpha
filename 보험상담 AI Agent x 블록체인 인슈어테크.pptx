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4660"/>
  </p:normalViewPr>
  <p:slideViewPr>
    <p:cSldViewPr snapToGrid="0">
      <p:cViewPr varScale="1">
        <p:scale>
          <a:sx n="86" d="100"/>
          <a:sy n="86" d="100"/>
        </p:scale>
        <p:origin x="56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A1617-741B-4DB2-BDAD-E3F01E1836ED}" type="datetimeFigureOut">
              <a:rPr lang="ko-KR" altLang="en-US" smtClean="0"/>
              <a:t>2026-09-20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55412-3AF6-418A-91B6-9429D41086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26018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A1617-741B-4DB2-BDAD-E3F01E1836ED}" type="datetimeFigureOut">
              <a:rPr lang="ko-KR" altLang="en-US" smtClean="0"/>
              <a:t>2026-09-20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55412-3AF6-418A-91B6-9429D41086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19792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A1617-741B-4DB2-BDAD-E3F01E1836ED}" type="datetimeFigureOut">
              <a:rPr lang="ko-KR" altLang="en-US" smtClean="0"/>
              <a:t>2026-09-20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55412-3AF6-418A-91B6-9429D41086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7492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A1617-741B-4DB2-BDAD-E3F01E1836ED}" type="datetimeFigureOut">
              <a:rPr lang="ko-KR" altLang="en-US" smtClean="0"/>
              <a:t>2026-09-20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55412-3AF6-418A-91B6-9429D41086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50840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A1617-741B-4DB2-BDAD-E3F01E1836ED}" type="datetimeFigureOut">
              <a:rPr lang="ko-KR" altLang="en-US" smtClean="0"/>
              <a:t>2026-09-20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55412-3AF6-418A-91B6-9429D41086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08479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A1617-741B-4DB2-BDAD-E3F01E1836ED}" type="datetimeFigureOut">
              <a:rPr lang="ko-KR" altLang="en-US" smtClean="0"/>
              <a:t>2026-09-20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55412-3AF6-418A-91B6-9429D41086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16799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A1617-741B-4DB2-BDAD-E3F01E1836ED}" type="datetimeFigureOut">
              <a:rPr lang="ko-KR" altLang="en-US" smtClean="0"/>
              <a:t>2026-09-20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55412-3AF6-418A-91B6-9429D41086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25177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A1617-741B-4DB2-BDAD-E3F01E1836ED}" type="datetimeFigureOut">
              <a:rPr lang="ko-KR" altLang="en-US" smtClean="0"/>
              <a:t>2026-09-20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55412-3AF6-418A-91B6-9429D41086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90214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A1617-741B-4DB2-BDAD-E3F01E1836ED}" type="datetimeFigureOut">
              <a:rPr lang="ko-KR" altLang="en-US" smtClean="0"/>
              <a:t>2026-09-20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55412-3AF6-418A-91B6-9429D41086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43704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A1617-741B-4DB2-BDAD-E3F01E1836ED}" type="datetimeFigureOut">
              <a:rPr lang="ko-KR" altLang="en-US" smtClean="0"/>
              <a:t>2026-09-20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55412-3AF6-418A-91B6-9429D41086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52131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A1617-741B-4DB2-BDAD-E3F01E1836ED}" type="datetimeFigureOut">
              <a:rPr lang="ko-KR" altLang="en-US" smtClean="0"/>
              <a:t>2026-09-20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55412-3AF6-418A-91B6-9429D41086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27675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0A1617-741B-4DB2-BDAD-E3F01E1836ED}" type="datetimeFigureOut">
              <a:rPr lang="ko-KR" altLang="en-US" smtClean="0"/>
              <a:t>2026-09-20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855412-3AF6-418A-91B6-9429D41086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25266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118" y="90250"/>
            <a:ext cx="5547841" cy="1013548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9979" y="1112677"/>
            <a:ext cx="8015256" cy="5678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08699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339" y="119596"/>
            <a:ext cx="7040261" cy="1621688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8194" y="1741284"/>
            <a:ext cx="7812350" cy="5116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26600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7829" y="407408"/>
            <a:ext cx="9716342" cy="6043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6416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6482" y="1198485"/>
            <a:ext cx="8044365" cy="5668392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060" y="92764"/>
            <a:ext cx="4366638" cy="1044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6674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0208" y="1691489"/>
            <a:ext cx="9731583" cy="3475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71177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35619" y="220201"/>
            <a:ext cx="11324948" cy="56938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dirty="0"/>
              <a:t>기존 </a:t>
            </a:r>
            <a:r>
              <a:rPr lang="ko-KR" altLang="en-US" sz="1400" dirty="0" err="1"/>
              <a:t>전략맵</a:t>
            </a:r>
            <a:r>
              <a:rPr lang="ko-KR" altLang="en-US" sz="1400" dirty="0"/>
              <a:t>(3C/PEST/SWOT)과 </a:t>
            </a:r>
            <a:r>
              <a:rPr lang="ko-KR" altLang="en-US" sz="1400" dirty="0" err="1"/>
              <a:t>케어링크</a:t>
            </a:r>
            <a:r>
              <a:rPr lang="ko-KR" altLang="en-US" sz="1400" dirty="0"/>
              <a:t>(</a:t>
            </a:r>
            <a:r>
              <a:rPr lang="ko-KR" altLang="en-US" sz="1400" dirty="0" err="1"/>
              <a:t>CareLink</a:t>
            </a:r>
            <a:r>
              <a:rPr lang="ko-KR" altLang="en-US" sz="1400" dirty="0"/>
              <a:t>) 문서를 먼저 확인했습니다. 이미 "</a:t>
            </a:r>
            <a:r>
              <a:rPr lang="ko-KR" altLang="en-US" sz="1400" dirty="0" err="1"/>
              <a:t>AI상담+온체인</a:t>
            </a:r>
            <a:r>
              <a:rPr lang="ko-KR" altLang="en-US" sz="1400" dirty="0"/>
              <a:t> 자동화" 포지셔닝, </a:t>
            </a:r>
            <a:r>
              <a:rPr lang="ko-KR" altLang="en-US" sz="1400" dirty="0" err="1"/>
              <a:t>씬파일러·유병자</a:t>
            </a:r>
            <a:r>
              <a:rPr lang="ko-KR" altLang="en-US" sz="1400" dirty="0"/>
              <a:t> 포용 </a:t>
            </a:r>
            <a:r>
              <a:rPr lang="ko-KR" altLang="en-US" sz="1400" dirty="0" err="1"/>
              <a:t>언더라이팅</a:t>
            </a:r>
            <a:r>
              <a:rPr lang="ko-KR" altLang="en-US" sz="1400" dirty="0"/>
              <a:t>, </a:t>
            </a:r>
            <a:r>
              <a:rPr lang="ko-KR" altLang="en-US" sz="1400" dirty="0" err="1"/>
              <a:t>스테이블코인</a:t>
            </a:r>
            <a:r>
              <a:rPr lang="ko-KR" altLang="en-US" sz="1400" dirty="0"/>
              <a:t> 결제, 준비금 기반 대체투자까지는 다뤄져 있어서, 그 위에 얹을 수 있는 새 상품/서비스 후보를 현재 인프라(오라클, </a:t>
            </a:r>
            <a:r>
              <a:rPr lang="ko-KR" altLang="en-US" sz="1400" dirty="0" err="1"/>
              <a:t>언더라이팅</a:t>
            </a:r>
            <a:r>
              <a:rPr lang="ko-KR" altLang="en-US" sz="1400" dirty="0"/>
              <a:t> 서브에이전트, 준비금 계좌, 신용점수/건강위험 모델)에 실제로 붙일 수 있는 것 위주로 </a:t>
            </a:r>
            <a:r>
              <a:rPr lang="ko-KR" altLang="en-US" sz="1400" dirty="0" err="1"/>
              <a:t>정리했습니다.A</a:t>
            </a:r>
            <a:r>
              <a:rPr lang="ko-KR" altLang="en-US" sz="1400" dirty="0"/>
              <a:t>. </a:t>
            </a:r>
            <a:r>
              <a:rPr lang="ko-KR" altLang="en-US" sz="1400" dirty="0" err="1"/>
              <a:t>파라메트릭</a:t>
            </a:r>
            <a:r>
              <a:rPr lang="ko-KR" altLang="en-US" sz="1400" dirty="0"/>
              <a:t>(</a:t>
            </a:r>
            <a:r>
              <a:rPr lang="ko-KR" altLang="en-US" sz="1400" dirty="0" err="1"/>
              <a:t>자동집행</a:t>
            </a:r>
            <a:r>
              <a:rPr lang="ko-KR" altLang="en-US" sz="1400" dirty="0"/>
              <a:t>) 보험 라인 </a:t>
            </a:r>
            <a:r>
              <a:rPr lang="ko-KR" altLang="en-US" sz="1400" dirty="0" err="1"/>
              <a:t>확장여행지연·폭염</a:t>
            </a:r>
            <a:r>
              <a:rPr lang="ko-KR" altLang="en-US" sz="1400" dirty="0"/>
              <a:t>/</a:t>
            </a:r>
            <a:r>
              <a:rPr lang="ko-KR" altLang="en-US" sz="1400" dirty="0" err="1"/>
              <a:t>한파·미세먼지</a:t>
            </a:r>
            <a:r>
              <a:rPr lang="ko-KR" altLang="en-US" sz="1400" dirty="0"/>
              <a:t> 등 외부 지표가 조건을 충족하면 오라클이 사람 개입 없이 즉시 지급하는 신규 </a:t>
            </a:r>
            <a:r>
              <a:rPr lang="ko-KR" altLang="en-US" sz="1400" dirty="0" err="1"/>
              <a:t>상품군</a:t>
            </a:r>
            <a:r>
              <a:rPr lang="ko-KR" altLang="en-US" sz="1400" dirty="0"/>
              <a:t> (여행자보험 </a:t>
            </a:r>
            <a:r>
              <a:rPr lang="ko-KR" altLang="en-US" sz="1400" dirty="0" err="1"/>
              <a:t>항공지연</a:t>
            </a:r>
            <a:r>
              <a:rPr lang="ko-KR" altLang="en-US" sz="1400" dirty="0"/>
              <a:t> 특약, 호흡기질환 미세먼지 특약 등).- 재사용: 자동납부/</a:t>
            </a:r>
            <a:r>
              <a:rPr lang="ko-KR" altLang="en-US" sz="1400" dirty="0" err="1"/>
              <a:t>만기환급에</a:t>
            </a:r>
            <a:r>
              <a:rPr lang="ko-KR" altLang="en-US" sz="1400" dirty="0"/>
              <a:t> 이미 쓰는 오라클 서비스 구조(</a:t>
            </a:r>
            <a:r>
              <a:rPr lang="ko-KR" altLang="en-US" sz="1400" dirty="0" err="1"/>
              <a:t>scripts</a:t>
            </a:r>
            <a:r>
              <a:rPr lang="ko-KR" altLang="en-US" sz="1400" dirty="0"/>
              <a:t>/oracle-service.js 계열)</a:t>
            </a:r>
            <a:r>
              <a:rPr lang="ko-KR" altLang="en-US" sz="1400" dirty="0" err="1"/>
              <a:t>를</a:t>
            </a:r>
            <a:r>
              <a:rPr lang="ko-KR" altLang="en-US" sz="1400" dirty="0"/>
              <a:t> "청구 조건 충족 </a:t>
            </a:r>
            <a:r>
              <a:rPr lang="ko-KR" altLang="en-US" sz="1400" dirty="0" err="1"/>
              <a:t>감시"로</a:t>
            </a:r>
            <a:r>
              <a:rPr lang="ko-KR" altLang="en-US" sz="1400" dirty="0"/>
              <a:t> 확장하면 됨 — 새 인프라 불필요.- </a:t>
            </a:r>
            <a:r>
              <a:rPr lang="ko-KR" altLang="en-US" sz="1400" dirty="0" err="1"/>
              <a:t>차별점</a:t>
            </a:r>
            <a:r>
              <a:rPr lang="ko-KR" altLang="en-US" sz="1400" dirty="0"/>
              <a:t>: 국내에도 </a:t>
            </a:r>
            <a:r>
              <a:rPr lang="ko-KR" altLang="en-US" sz="1400" dirty="0" err="1"/>
              <a:t>파라메트릭</a:t>
            </a:r>
            <a:r>
              <a:rPr lang="ko-KR" altLang="en-US" sz="1400" dirty="0"/>
              <a:t> 상품 자체는 소수 있지만(카카오페이손보 등), "AI </a:t>
            </a:r>
            <a:r>
              <a:rPr lang="ko-KR" altLang="en-US" sz="1400" dirty="0" err="1"/>
              <a:t>챗봇</a:t>
            </a:r>
            <a:r>
              <a:rPr lang="ko-KR" altLang="en-US" sz="1400" dirty="0"/>
              <a:t> 상담 → 가입 → </a:t>
            </a:r>
            <a:r>
              <a:rPr lang="ko-KR" altLang="en-US" sz="1400" dirty="0" err="1"/>
              <a:t>온체인</a:t>
            </a:r>
            <a:r>
              <a:rPr lang="ko-KR" altLang="en-US" sz="1400" dirty="0"/>
              <a:t> </a:t>
            </a:r>
            <a:r>
              <a:rPr lang="ko-KR" altLang="en-US" sz="1400" dirty="0" err="1"/>
              <a:t>자동지급"까지</a:t>
            </a:r>
            <a:r>
              <a:rPr lang="ko-KR" altLang="en-US" sz="1400" dirty="0"/>
              <a:t> </a:t>
            </a:r>
            <a:r>
              <a:rPr lang="ko-KR" altLang="en-US" sz="1400" dirty="0" err="1"/>
              <a:t>엔드투엔드로</a:t>
            </a:r>
            <a:r>
              <a:rPr lang="ko-KR" altLang="en-US" sz="1400" dirty="0"/>
              <a:t> 묶은 사례는 없음. </a:t>
            </a:r>
            <a:r>
              <a:rPr lang="ko-KR" altLang="en-US" sz="1400" dirty="0" err="1"/>
              <a:t>전략맵에</a:t>
            </a:r>
            <a:r>
              <a:rPr lang="ko-KR" altLang="en-US" sz="1400" dirty="0"/>
              <a:t> 이미 쓴 "청구 없는 </a:t>
            </a:r>
            <a:r>
              <a:rPr lang="ko-KR" altLang="en-US" sz="1400" dirty="0" err="1"/>
              <a:t>보험"을</a:t>
            </a:r>
            <a:r>
              <a:rPr lang="ko-KR" altLang="en-US" sz="1400" dirty="0"/>
              <a:t> 극단까지 밀어붙이는 것.- 수익성: 손해사정 인건비가 사실상 0에 수렴 — </a:t>
            </a:r>
            <a:r>
              <a:rPr lang="ko-KR" altLang="en-US" sz="1400" dirty="0" err="1"/>
              <a:t>사업비율</a:t>
            </a:r>
            <a:r>
              <a:rPr lang="ko-KR" altLang="en-US" sz="1400" dirty="0"/>
              <a:t> 대폭 </a:t>
            </a:r>
            <a:r>
              <a:rPr lang="ko-KR" altLang="en-US" sz="1400" dirty="0" err="1"/>
              <a:t>절감분을</a:t>
            </a:r>
            <a:r>
              <a:rPr lang="ko-KR" altLang="en-US" sz="1400" dirty="0"/>
              <a:t> 보험료 인하(가입 유인) 또는 마진으로 가져갈 수 있음. </a:t>
            </a:r>
            <a:r>
              <a:rPr lang="ko-KR" altLang="en-US" sz="1400" dirty="0" err="1"/>
              <a:t>소액·고빈도</a:t>
            </a:r>
            <a:r>
              <a:rPr lang="ko-KR" altLang="en-US" sz="1400" dirty="0"/>
              <a:t> 상품이라 회전율도 </a:t>
            </a:r>
            <a:r>
              <a:rPr lang="ko-KR" altLang="en-US" sz="1400" dirty="0" err="1"/>
              <a:t>높음.B</a:t>
            </a:r>
            <a:r>
              <a:rPr lang="ko-KR" altLang="en-US" sz="1400" dirty="0"/>
              <a:t>. </a:t>
            </a:r>
            <a:r>
              <a:rPr lang="ko-KR" altLang="en-US" sz="1400" dirty="0" err="1"/>
              <a:t>씬파일러</a:t>
            </a:r>
            <a:r>
              <a:rPr lang="ko-KR" altLang="en-US" sz="1400" dirty="0"/>
              <a:t> 전용 "보험료 </a:t>
            </a:r>
            <a:r>
              <a:rPr lang="ko-KR" altLang="en-US" sz="1400" dirty="0" err="1"/>
              <a:t>유연납입</a:t>
            </a:r>
            <a:r>
              <a:rPr lang="ko-KR" altLang="en-US" sz="1400" dirty="0"/>
              <a:t>" </a:t>
            </a:r>
            <a:r>
              <a:rPr lang="ko-KR" altLang="en-US" sz="1400" dirty="0" err="1"/>
              <a:t>상품이미</a:t>
            </a:r>
            <a:r>
              <a:rPr lang="ko-KR" altLang="en-US" sz="1400" dirty="0"/>
              <a:t> 있는 신용점수(NICE+KCB)·</a:t>
            </a:r>
            <a:r>
              <a:rPr lang="ko-KR" altLang="en-US" sz="1400" dirty="0" err="1"/>
              <a:t>씬파일러</a:t>
            </a:r>
            <a:r>
              <a:rPr lang="ko-KR" altLang="en-US" sz="1400" dirty="0"/>
              <a:t> </a:t>
            </a:r>
            <a:r>
              <a:rPr lang="ko-KR" altLang="en-US" sz="1400" dirty="0" err="1"/>
              <a:t>신용보완</a:t>
            </a:r>
            <a:r>
              <a:rPr lang="ko-KR" altLang="en-US" sz="1400" dirty="0"/>
              <a:t> </a:t>
            </a:r>
            <a:r>
              <a:rPr lang="ko-KR" altLang="en-US" sz="1400" dirty="0" err="1"/>
              <a:t>언더라이팅을</a:t>
            </a:r>
            <a:r>
              <a:rPr lang="ko-KR" altLang="en-US" sz="1400" dirty="0"/>
              <a:t> 보험료 납입 쪽에도 적용 — 신용점수 낮은 가입자에게 </a:t>
            </a:r>
            <a:r>
              <a:rPr lang="ko-KR" altLang="en-US" sz="1400" dirty="0" err="1"/>
              <a:t>초회보험료</a:t>
            </a:r>
            <a:r>
              <a:rPr lang="ko-KR" altLang="en-US" sz="1400" dirty="0"/>
              <a:t> 유예/분할납부를 자동 승인하고, 연체 시 이미 구현된 약관대출(</a:t>
            </a:r>
            <a:r>
              <a:rPr lang="ko-KR" altLang="en-US" sz="1400" dirty="0" err="1"/>
              <a:t>해지환급금</a:t>
            </a:r>
            <a:r>
              <a:rPr lang="ko-KR" altLang="en-US" sz="1400" dirty="0"/>
              <a:t> 담보) 기능으로 자동 대환.- 재사용: </a:t>
            </a:r>
            <a:r>
              <a:rPr lang="ko-KR" altLang="en-US" sz="1400" dirty="0" err="1"/>
              <a:t>언더라이팅</a:t>
            </a:r>
            <a:r>
              <a:rPr lang="ko-KR" altLang="en-US" sz="1400" dirty="0"/>
              <a:t> 서브에이전트의 </a:t>
            </a:r>
            <a:r>
              <a:rPr lang="ko-KR" altLang="en-US" sz="1400" dirty="0" err="1"/>
              <a:t>씬파일러</a:t>
            </a:r>
            <a:r>
              <a:rPr lang="ko-KR" altLang="en-US" sz="1400" dirty="0"/>
              <a:t> 판단 </a:t>
            </a:r>
            <a:r>
              <a:rPr lang="ko-KR" altLang="en-US" sz="1400" dirty="0" err="1"/>
              <a:t>로직</a:t>
            </a:r>
            <a:r>
              <a:rPr lang="ko-KR" altLang="en-US" sz="1400" dirty="0"/>
              <a:t> + 자동납부/약관대출 </a:t>
            </a:r>
            <a:r>
              <a:rPr lang="ko-KR" altLang="en-US" sz="1400" dirty="0" err="1"/>
              <a:t>컨트랙트</a:t>
            </a:r>
            <a:r>
              <a:rPr lang="ko-KR" altLang="en-US" sz="1400" dirty="0"/>
              <a:t> 그대로.- </a:t>
            </a:r>
            <a:r>
              <a:rPr lang="ko-KR" altLang="en-US" sz="1400" dirty="0" err="1"/>
              <a:t>차별점</a:t>
            </a:r>
            <a:r>
              <a:rPr lang="ko-KR" altLang="en-US" sz="1400" dirty="0"/>
              <a:t>: 전통 보험사는 </a:t>
            </a:r>
            <a:r>
              <a:rPr lang="ko-KR" altLang="en-US" sz="1400" dirty="0" err="1"/>
              <a:t>씬파일러에게</a:t>
            </a:r>
            <a:r>
              <a:rPr lang="ko-KR" altLang="en-US" sz="1400" dirty="0"/>
              <a:t> 아예 청약을 거절하거나 고비용 안내로 끝나는데, 여긴 "가입은 시켜주되 납입 유연성으로 리스크 </a:t>
            </a:r>
            <a:r>
              <a:rPr lang="ko-KR" altLang="en-US" sz="1400" dirty="0" err="1"/>
              <a:t>관리"라는</a:t>
            </a:r>
            <a:r>
              <a:rPr lang="ko-KR" altLang="en-US" sz="1400" dirty="0"/>
              <a:t> 제3의 길.- 수익성: 기존엔 놓치던 고객층(</a:t>
            </a:r>
            <a:r>
              <a:rPr lang="ko-KR" altLang="en-US" sz="1400" dirty="0" err="1"/>
              <a:t>신파일러</a:t>
            </a:r>
            <a:r>
              <a:rPr lang="ko-KR" altLang="en-US" sz="1400" dirty="0"/>
              <a:t>) 획득 + 약관대출 </a:t>
            </a:r>
            <a:r>
              <a:rPr lang="ko-KR" altLang="en-US" sz="1400" dirty="0" err="1"/>
              <a:t>이자마진이</a:t>
            </a:r>
            <a:r>
              <a:rPr lang="ko-KR" altLang="en-US" sz="1400" dirty="0"/>
              <a:t> 추가 </a:t>
            </a:r>
            <a:r>
              <a:rPr lang="ko-KR" altLang="en-US" sz="1400" dirty="0" err="1"/>
              <a:t>수익원</a:t>
            </a:r>
            <a:r>
              <a:rPr lang="ko-KR" altLang="en-US" sz="1400" dirty="0"/>
              <a:t>. 다만 </a:t>
            </a:r>
            <a:r>
              <a:rPr lang="ko-KR" altLang="en-US" sz="1400" dirty="0" err="1"/>
              <a:t>손해율</a:t>
            </a:r>
            <a:r>
              <a:rPr lang="ko-KR" altLang="en-US" sz="1400" dirty="0"/>
              <a:t> 관리를 위해 유예 </a:t>
            </a:r>
            <a:r>
              <a:rPr lang="ko-KR" altLang="en-US" sz="1400" dirty="0" err="1"/>
              <a:t>한도·재원</a:t>
            </a:r>
            <a:r>
              <a:rPr lang="ko-KR" altLang="en-US" sz="1400" dirty="0"/>
              <a:t>(준비금) 설계가 </a:t>
            </a:r>
            <a:r>
              <a:rPr lang="ko-KR" altLang="en-US" sz="1400" dirty="0" err="1"/>
              <a:t>필요.C</a:t>
            </a:r>
            <a:r>
              <a:rPr lang="ko-KR" altLang="en-US" sz="1400" dirty="0"/>
              <a:t>. </a:t>
            </a:r>
            <a:r>
              <a:rPr lang="ko-KR" altLang="en-US" sz="1400" dirty="0" err="1"/>
              <a:t>웨어러블</a:t>
            </a:r>
            <a:r>
              <a:rPr lang="ko-KR" altLang="en-US" sz="1400" dirty="0"/>
              <a:t> 연동 동적 보험료 (</a:t>
            </a:r>
            <a:r>
              <a:rPr lang="ko-KR" altLang="en-US" sz="1400" dirty="0" err="1"/>
              <a:t>CareLink</a:t>
            </a:r>
            <a:r>
              <a:rPr lang="ko-KR" altLang="en-US" sz="1400" dirty="0"/>
              <a:t> 확장)</a:t>
            </a:r>
            <a:r>
              <a:rPr lang="ko-KR" altLang="en-US" sz="1400" dirty="0" err="1"/>
              <a:t>CareLink는</a:t>
            </a:r>
            <a:r>
              <a:rPr lang="ko-KR" altLang="en-US" sz="1400" dirty="0"/>
              <a:t> 지금 "가입 시 1회성 위험 </a:t>
            </a:r>
            <a:r>
              <a:rPr lang="ko-KR" altLang="en-US" sz="1400" dirty="0" err="1"/>
              <a:t>평가"인데</a:t>
            </a:r>
            <a:r>
              <a:rPr lang="ko-KR" altLang="en-US" sz="1400" dirty="0"/>
              <a:t>, 이를 "가입 후 주기적 데이터 제출 → 위험 개선 시 </a:t>
            </a:r>
            <a:r>
              <a:rPr lang="ko-KR" altLang="en-US" sz="1400" dirty="0" err="1"/>
              <a:t>온체인</a:t>
            </a:r>
            <a:r>
              <a:rPr lang="ko-KR" altLang="en-US" sz="1400" dirty="0"/>
              <a:t> 보험료 자동 </a:t>
            </a:r>
            <a:r>
              <a:rPr lang="ko-KR" altLang="en-US" sz="1400" dirty="0" err="1"/>
              <a:t>할인"으로</a:t>
            </a:r>
            <a:r>
              <a:rPr lang="ko-KR" altLang="en-US" sz="1400" dirty="0"/>
              <a:t> 바꿈.- 재사용: </a:t>
            </a:r>
            <a:r>
              <a:rPr lang="ko-KR" altLang="en-US" sz="1400" dirty="0" err="1"/>
              <a:t>health_risk_tool.py의</a:t>
            </a:r>
            <a:r>
              <a:rPr lang="ko-KR" altLang="en-US" sz="1400" dirty="0"/>
              <a:t> 위험 스코어 </a:t>
            </a:r>
            <a:r>
              <a:rPr lang="ko-KR" altLang="en-US" sz="1400" dirty="0" err="1"/>
              <a:t>로직</a:t>
            </a:r>
            <a:r>
              <a:rPr lang="ko-KR" altLang="en-US" sz="1400" dirty="0"/>
              <a:t> + 자동납부 </a:t>
            </a:r>
            <a:r>
              <a:rPr lang="ko-KR" altLang="en-US" sz="1400" dirty="0" err="1"/>
              <a:t>컨트랙트의</a:t>
            </a:r>
            <a:r>
              <a:rPr lang="ko-KR" altLang="en-US" sz="1400" dirty="0"/>
              <a:t> 보험료 </a:t>
            </a:r>
            <a:r>
              <a:rPr lang="ko-KR" altLang="en-US" sz="1400" dirty="0" err="1"/>
              <a:t>파라미터</a:t>
            </a:r>
            <a:r>
              <a:rPr lang="ko-KR" altLang="en-US" sz="1400" dirty="0"/>
              <a:t> 조정.- </a:t>
            </a:r>
            <a:r>
              <a:rPr lang="ko-KR" altLang="en-US" sz="1400" dirty="0" err="1"/>
              <a:t>차별점</a:t>
            </a:r>
            <a:r>
              <a:rPr lang="ko-KR" altLang="en-US" sz="1400" dirty="0"/>
              <a:t>: 국내 </a:t>
            </a:r>
            <a:r>
              <a:rPr lang="ko-KR" altLang="en-US" sz="1400" dirty="0" err="1"/>
              <a:t>건강증진형</a:t>
            </a:r>
            <a:r>
              <a:rPr lang="ko-KR" altLang="en-US" sz="1400" dirty="0"/>
              <a:t> 보험은 대부분 포인트 </a:t>
            </a:r>
            <a:r>
              <a:rPr lang="ko-KR" altLang="en-US" sz="1400" dirty="0" err="1"/>
              <a:t>리워드</a:t>
            </a:r>
            <a:r>
              <a:rPr lang="ko-KR" altLang="en-US" sz="1400" dirty="0"/>
              <a:t> 수준(</a:t>
            </a:r>
            <a:r>
              <a:rPr lang="ko-KR" altLang="en-US" sz="1400" dirty="0" err="1"/>
              <a:t>교보</a:t>
            </a:r>
            <a:r>
              <a:rPr lang="ko-KR" altLang="en-US" sz="1400" dirty="0"/>
              <a:t> 등)인데, 실제 </a:t>
            </a:r>
            <a:r>
              <a:rPr lang="ko-KR" altLang="en-US" sz="1400" dirty="0" err="1"/>
              <a:t>스마트컨트랙트가</a:t>
            </a:r>
            <a:r>
              <a:rPr lang="ko-KR" altLang="en-US" sz="1400" dirty="0"/>
              <a:t> 보험료 자체를 조정하는 사례는 거의 없음.- 수익성: </a:t>
            </a:r>
            <a:r>
              <a:rPr lang="ko-KR" altLang="en-US" sz="1400" dirty="0" err="1"/>
              <a:t>저위험군</a:t>
            </a:r>
            <a:r>
              <a:rPr lang="ko-KR" altLang="en-US" sz="1400" dirty="0"/>
              <a:t> </a:t>
            </a:r>
            <a:r>
              <a:rPr lang="ko-KR" altLang="en-US" sz="1400" dirty="0" err="1"/>
              <a:t>리텐션</a:t>
            </a:r>
            <a:r>
              <a:rPr lang="ko-KR" altLang="en-US" sz="1400" dirty="0"/>
              <a:t>↑, 역선택 감소로 장기 </a:t>
            </a:r>
            <a:r>
              <a:rPr lang="ko-KR" altLang="en-US" sz="1400" dirty="0" err="1"/>
              <a:t>손해율</a:t>
            </a:r>
            <a:r>
              <a:rPr lang="ko-KR" altLang="en-US" sz="1400" dirty="0"/>
              <a:t> 개선 — 단기 매출보다 </a:t>
            </a:r>
            <a:r>
              <a:rPr lang="ko-KR" altLang="en-US" sz="1400" dirty="0" err="1"/>
              <a:t>손해율</a:t>
            </a:r>
            <a:r>
              <a:rPr lang="ko-KR" altLang="en-US" sz="1400" dirty="0"/>
              <a:t> </a:t>
            </a:r>
            <a:r>
              <a:rPr lang="ko-KR" altLang="en-US" sz="1400" dirty="0" err="1"/>
              <a:t>관리형</a:t>
            </a:r>
            <a:r>
              <a:rPr lang="ko-KR" altLang="en-US" sz="1400" dirty="0"/>
              <a:t> </a:t>
            </a:r>
            <a:r>
              <a:rPr lang="ko-KR" altLang="en-US" sz="1400" dirty="0" err="1"/>
              <a:t>수익.D</a:t>
            </a:r>
            <a:r>
              <a:rPr lang="ko-KR" altLang="en-US" sz="1400" dirty="0"/>
              <a:t>. 준비금 기반 외부 유동성 공급(</a:t>
            </a:r>
            <a:r>
              <a:rPr lang="ko-KR" altLang="en-US" sz="1400" dirty="0" err="1"/>
              <a:t>탈중앙</a:t>
            </a:r>
            <a:r>
              <a:rPr lang="ko-KR" altLang="en-US" sz="1400" dirty="0"/>
              <a:t> 재보험 유사 모델)</a:t>
            </a:r>
            <a:r>
              <a:rPr lang="ko-KR" altLang="en-US" sz="1400" dirty="0" err="1"/>
              <a:t>ReserveFund</a:t>
            </a:r>
            <a:r>
              <a:rPr lang="ko-KR" altLang="en-US" sz="1400" dirty="0"/>
              <a:t>/</a:t>
            </a:r>
            <a:r>
              <a:rPr lang="ko-KR" altLang="en-US" sz="1400" dirty="0" err="1"/>
              <a:t>AltInvestmentFund를</a:t>
            </a:r>
            <a:r>
              <a:rPr lang="ko-KR" altLang="en-US" sz="1400" dirty="0"/>
              <a:t> 확장해 외부 투자자(LP)가 준비금 풀에 </a:t>
            </a:r>
            <a:r>
              <a:rPr lang="ko-KR" altLang="en-US" sz="1400" dirty="0" err="1"/>
              <a:t>스테이블코인을</a:t>
            </a:r>
            <a:r>
              <a:rPr lang="ko-KR" altLang="en-US" sz="1400" dirty="0"/>
              <a:t> 넣고, 보험료 수입 일부를 수익으로 </a:t>
            </a:r>
            <a:r>
              <a:rPr lang="ko-KR" altLang="en-US" sz="1400" dirty="0" err="1"/>
              <a:t>배분받는</a:t>
            </a:r>
            <a:r>
              <a:rPr lang="ko-KR" altLang="en-US" sz="1400" dirty="0"/>
              <a:t> 구조.- 재사용: </a:t>
            </a:r>
            <a:r>
              <a:rPr lang="ko-KR" altLang="en-US" sz="1400" dirty="0" err="1"/>
              <a:t>AltInvestmentFund가</a:t>
            </a:r>
            <a:r>
              <a:rPr lang="ko-KR" altLang="en-US" sz="1400" dirty="0"/>
              <a:t> 이미 준비금에서 재원을 끌어오는 패턴으로 </a:t>
            </a:r>
            <a:r>
              <a:rPr lang="ko-KR" altLang="en-US" sz="1400" dirty="0" err="1"/>
              <a:t>재작성되어</a:t>
            </a:r>
            <a:r>
              <a:rPr lang="ko-KR" altLang="en-US" sz="1400" dirty="0"/>
              <a:t> 있어 반대 방향(</a:t>
            </a:r>
            <a:r>
              <a:rPr lang="ko-KR" altLang="en-US" sz="1400" dirty="0" err="1"/>
              <a:t>외부→준비금</a:t>
            </a:r>
            <a:r>
              <a:rPr lang="ko-KR" altLang="en-US" sz="1400" dirty="0"/>
              <a:t> 유입)만 추가하면 됨.- </a:t>
            </a:r>
            <a:r>
              <a:rPr lang="ko-KR" altLang="en-US" sz="1400" dirty="0" err="1"/>
              <a:t>차별점</a:t>
            </a:r>
            <a:r>
              <a:rPr lang="ko-KR" altLang="en-US" sz="1400" dirty="0"/>
              <a:t>: </a:t>
            </a:r>
            <a:r>
              <a:rPr lang="ko-KR" altLang="en-US" sz="1400" dirty="0" err="1"/>
              <a:t>Nexus</a:t>
            </a:r>
            <a:r>
              <a:rPr lang="ko-KR" altLang="en-US" sz="1400" dirty="0"/>
              <a:t> </a:t>
            </a:r>
            <a:r>
              <a:rPr lang="ko-KR" altLang="en-US" sz="1400" dirty="0" err="1"/>
              <a:t>Mutual류</a:t>
            </a:r>
            <a:r>
              <a:rPr lang="ko-KR" altLang="en-US" sz="1400" dirty="0"/>
              <a:t> </a:t>
            </a:r>
            <a:r>
              <a:rPr lang="ko-KR" altLang="en-US" sz="1400" dirty="0" err="1"/>
              <a:t>탈중앙</a:t>
            </a:r>
            <a:r>
              <a:rPr lang="ko-KR" altLang="en-US" sz="1400" dirty="0"/>
              <a:t> 재보험은 청구 자체가 </a:t>
            </a:r>
            <a:r>
              <a:rPr lang="ko-KR" altLang="en-US" sz="1400" dirty="0" err="1"/>
              <a:t>온체인</a:t>
            </a:r>
            <a:r>
              <a:rPr lang="ko-KR" altLang="en-US" sz="1400" dirty="0"/>
              <a:t> 트리거인 경우가 많은데, 여긴 실제 </a:t>
            </a:r>
            <a:r>
              <a:rPr lang="ko-KR" altLang="en-US" sz="1400" dirty="0" err="1"/>
              <a:t>전통형</a:t>
            </a:r>
            <a:r>
              <a:rPr lang="ko-KR" altLang="en-US" sz="1400" dirty="0"/>
              <a:t> 보험 </a:t>
            </a:r>
            <a:r>
              <a:rPr lang="ko-KR" altLang="en-US" sz="1400" dirty="0" err="1"/>
              <a:t>익스포저에</a:t>
            </a:r>
            <a:r>
              <a:rPr lang="ko-KR" altLang="en-US" sz="1400" dirty="0"/>
              <a:t> 외부 자본이 재보험 역할을 하는 </a:t>
            </a:r>
            <a:r>
              <a:rPr lang="ko-KR" altLang="en-US" sz="1400" dirty="0" err="1"/>
              <a:t>하이브리드</a:t>
            </a:r>
            <a:r>
              <a:rPr lang="ko-KR" altLang="en-US" sz="1400" dirty="0"/>
              <a:t> — 국내 사례 없음</a:t>
            </a:r>
            <a:r>
              <a:rPr lang="ko-KR" altLang="en-US" sz="1400" dirty="0" smtClean="0"/>
              <a:t>.</a:t>
            </a:r>
            <a:endParaRPr lang="en-US" altLang="ko-KR" sz="1400" dirty="0" smtClean="0"/>
          </a:p>
          <a:p>
            <a:r>
              <a:rPr lang="en-US" altLang="ko-KR" sz="1400" dirty="0" smtClean="0"/>
              <a:t>- </a:t>
            </a:r>
            <a:r>
              <a:rPr lang="ko-KR" altLang="en-US" sz="1400" dirty="0"/>
              <a:t>수익성</a:t>
            </a:r>
            <a:r>
              <a:rPr lang="en-US" altLang="ko-KR" sz="1400" dirty="0"/>
              <a:t>: </a:t>
            </a:r>
            <a:r>
              <a:rPr lang="ko-KR" altLang="en-US" sz="1400" dirty="0"/>
              <a:t>자기자본 부담 없이 인수 여력</a:t>
            </a:r>
            <a:r>
              <a:rPr lang="en-US" altLang="ko-KR" sz="1400" dirty="0"/>
              <a:t>(underwriting capacity) </a:t>
            </a:r>
            <a:r>
              <a:rPr lang="ko-KR" altLang="en-US" sz="1400" dirty="0"/>
              <a:t>확장 가능 </a:t>
            </a:r>
            <a:r>
              <a:rPr lang="en-US" altLang="ko-KR" sz="1400" dirty="0"/>
              <a:t>— </a:t>
            </a:r>
            <a:r>
              <a:rPr lang="ko-KR" altLang="en-US" sz="1400" dirty="0"/>
              <a:t>다만 규제</a:t>
            </a:r>
            <a:r>
              <a:rPr lang="en-US" altLang="ko-KR" sz="1400" dirty="0"/>
              <a:t>(</a:t>
            </a:r>
            <a:r>
              <a:rPr lang="ko-KR" altLang="en-US" sz="1400" dirty="0"/>
              <a:t>자본시장법</a:t>
            </a:r>
            <a:r>
              <a:rPr lang="en-US" altLang="ko-KR" sz="1400" dirty="0"/>
              <a:t>·</a:t>
            </a:r>
            <a:r>
              <a:rPr lang="ko-KR" altLang="en-US" sz="1400" dirty="0" err="1"/>
              <a:t>보험업법상</a:t>
            </a:r>
            <a:r>
              <a:rPr lang="ko-KR" altLang="en-US" sz="1400" dirty="0"/>
              <a:t> 재보험 요건</a:t>
            </a:r>
            <a:r>
              <a:rPr lang="en-US" altLang="ko-KR" sz="1400" dirty="0"/>
              <a:t>) </a:t>
            </a:r>
            <a:r>
              <a:rPr lang="ko-KR" altLang="en-US" sz="1400" dirty="0"/>
              <a:t>검토가 선행돼야 해서 리스크가 가장 큼</a:t>
            </a:r>
            <a:r>
              <a:rPr lang="en-US" altLang="ko-KR" sz="1400" dirty="0"/>
              <a:t>.E. AI+</a:t>
            </a:r>
            <a:r>
              <a:rPr lang="ko-KR" altLang="en-US" sz="1400" dirty="0" err="1"/>
              <a:t>온체인</a:t>
            </a:r>
            <a:r>
              <a:rPr lang="ko-KR" altLang="en-US" sz="1400" dirty="0"/>
              <a:t> 엔진 </a:t>
            </a:r>
            <a:r>
              <a:rPr lang="en-US" altLang="ko-KR" sz="1400" dirty="0"/>
              <a:t>B2B </a:t>
            </a:r>
            <a:r>
              <a:rPr lang="ko-KR" altLang="en-US" sz="1400" dirty="0" err="1"/>
              <a:t>화이트라벨</a:t>
            </a:r>
            <a:r>
              <a:rPr lang="ko-KR" altLang="en-US" sz="1400" dirty="0"/>
              <a:t> </a:t>
            </a:r>
            <a:r>
              <a:rPr lang="ko-KR" altLang="en-US" sz="1400" dirty="0" err="1"/>
              <a:t>라이선싱전략맵</a:t>
            </a:r>
            <a:r>
              <a:rPr lang="ko-KR" altLang="en-US" sz="1400" dirty="0"/>
              <a:t> </a:t>
            </a:r>
            <a:r>
              <a:rPr lang="en-US" altLang="ko-KR" sz="1400" dirty="0"/>
              <a:t>SWOT</a:t>
            </a:r>
            <a:r>
              <a:rPr lang="ko-KR" altLang="en-US" sz="1400" dirty="0"/>
              <a:t>에 위협 대응책으로 이미 언급된 </a:t>
            </a:r>
            <a:r>
              <a:rPr lang="en-US" altLang="ko-KR" sz="1400" dirty="0"/>
              <a:t>"</a:t>
            </a:r>
            <a:r>
              <a:rPr lang="ko-KR" altLang="en-US" sz="1400" dirty="0" err="1"/>
              <a:t>백오피스</a:t>
            </a:r>
            <a:r>
              <a:rPr lang="ko-KR" altLang="en-US" sz="1400" dirty="0"/>
              <a:t> 솔루션 라이선스</a:t>
            </a:r>
            <a:r>
              <a:rPr lang="en-US" altLang="ko-KR" sz="1400" dirty="0"/>
              <a:t>"</a:t>
            </a:r>
            <a:r>
              <a:rPr lang="ko-KR" altLang="en-US" sz="1400" dirty="0"/>
              <a:t>를 실제 상품화 </a:t>
            </a:r>
            <a:r>
              <a:rPr lang="en-US" altLang="ko-KR" sz="1400" dirty="0"/>
              <a:t>— </a:t>
            </a:r>
            <a:r>
              <a:rPr lang="ko-KR" altLang="en-US" sz="1400" dirty="0"/>
              <a:t>이 엔진</a:t>
            </a:r>
            <a:r>
              <a:rPr lang="en-US" altLang="ko-KR" sz="1400" dirty="0"/>
              <a:t>(</a:t>
            </a:r>
            <a:r>
              <a:rPr lang="ko-KR" altLang="en-US" sz="1400" dirty="0"/>
              <a:t>상담</a:t>
            </a:r>
            <a:r>
              <a:rPr lang="en-US" altLang="ko-KR" sz="1400" dirty="0"/>
              <a:t>+</a:t>
            </a:r>
            <a:r>
              <a:rPr lang="ko-KR" altLang="en-US" sz="1400" dirty="0" err="1"/>
              <a:t>언더라이팅</a:t>
            </a:r>
            <a:r>
              <a:rPr lang="en-US" altLang="ko-KR" sz="1400" dirty="0"/>
              <a:t>+</a:t>
            </a:r>
            <a:r>
              <a:rPr lang="ko-KR" altLang="en-US" sz="1400" dirty="0" err="1"/>
              <a:t>온체인</a:t>
            </a:r>
            <a:r>
              <a:rPr lang="ko-KR" altLang="en-US" sz="1400" dirty="0"/>
              <a:t> 청구</a:t>
            </a:r>
            <a:r>
              <a:rPr lang="en-US" altLang="ko-KR" sz="1400" dirty="0"/>
              <a:t>)</a:t>
            </a:r>
            <a:r>
              <a:rPr lang="ko-KR" altLang="en-US" sz="1400" dirty="0"/>
              <a:t>을 소형 </a:t>
            </a:r>
            <a:r>
              <a:rPr lang="en-US" altLang="ko-KR" sz="1400" dirty="0"/>
              <a:t>GA(</a:t>
            </a:r>
            <a:r>
              <a:rPr lang="ko-KR" altLang="en-US" sz="1400" dirty="0"/>
              <a:t>보험대리점</a:t>
            </a:r>
            <a:r>
              <a:rPr lang="en-US" altLang="ko-KR" sz="1400" dirty="0"/>
              <a:t>)·</a:t>
            </a:r>
            <a:r>
              <a:rPr lang="ko-KR" altLang="en-US" sz="1400" dirty="0" err="1"/>
              <a:t>핀테크에</a:t>
            </a:r>
            <a:r>
              <a:rPr lang="ko-KR" altLang="en-US" sz="1400" dirty="0"/>
              <a:t> </a:t>
            </a:r>
            <a:r>
              <a:rPr lang="en-US" altLang="ko-KR" sz="1400" dirty="0"/>
              <a:t>API/SaaS</a:t>
            </a:r>
            <a:r>
              <a:rPr lang="ko-KR" altLang="en-US" sz="1400" dirty="0"/>
              <a:t>로 제공</a:t>
            </a:r>
            <a:r>
              <a:rPr lang="en-US" altLang="ko-KR" sz="1400" dirty="0"/>
              <a:t>.- </a:t>
            </a:r>
            <a:r>
              <a:rPr lang="ko-KR" altLang="en-US" sz="1400" dirty="0" err="1"/>
              <a:t>차별점</a:t>
            </a:r>
            <a:r>
              <a:rPr lang="en-US" altLang="ko-KR" sz="1400" dirty="0"/>
              <a:t>: </a:t>
            </a:r>
            <a:r>
              <a:rPr lang="ko-KR" altLang="en-US" sz="1400" dirty="0"/>
              <a:t>국내 보험 </a:t>
            </a:r>
            <a:r>
              <a:rPr lang="ko-KR" altLang="en-US" sz="1400" dirty="0" err="1"/>
              <a:t>백엔드</a:t>
            </a:r>
            <a:r>
              <a:rPr lang="ko-KR" altLang="en-US" sz="1400" dirty="0"/>
              <a:t> 솔루션은 대부분 폐쇄형 자체 개발 </a:t>
            </a:r>
            <a:r>
              <a:rPr lang="en-US" altLang="ko-KR" sz="1400" dirty="0"/>
              <a:t>— </a:t>
            </a:r>
            <a:r>
              <a:rPr lang="ko-KR" altLang="en-US" sz="1400" dirty="0"/>
              <a:t>통합 엔진을 외부 판매하는 곳이 드묾</a:t>
            </a:r>
            <a:r>
              <a:rPr lang="en-US" altLang="ko-KR" sz="1400" dirty="0"/>
              <a:t>.- </a:t>
            </a:r>
            <a:r>
              <a:rPr lang="ko-KR" altLang="en-US" sz="1400" dirty="0"/>
              <a:t>수익성</a:t>
            </a:r>
            <a:r>
              <a:rPr lang="en-US" altLang="ko-KR" sz="1400" dirty="0"/>
              <a:t>: </a:t>
            </a:r>
            <a:r>
              <a:rPr lang="ko-KR" altLang="en-US" sz="1400" dirty="0"/>
              <a:t>보험 인수 리스크 없이 반복적 구독</a:t>
            </a:r>
            <a:r>
              <a:rPr lang="en-US" altLang="ko-KR" sz="1400" dirty="0"/>
              <a:t>/API </a:t>
            </a:r>
            <a:r>
              <a:rPr lang="ko-KR" altLang="en-US" sz="1400" dirty="0" err="1"/>
              <a:t>과금</a:t>
            </a:r>
            <a:r>
              <a:rPr lang="ko-KR" altLang="en-US" sz="1400" dirty="0"/>
              <a:t> 수익</a:t>
            </a:r>
            <a:r>
              <a:rPr lang="en-US" altLang="ko-KR" sz="1400" dirty="0"/>
              <a:t>(recurring revenue) — </a:t>
            </a:r>
            <a:r>
              <a:rPr lang="ko-KR" altLang="en-US" sz="1400" dirty="0"/>
              <a:t>자본 요구가 가장 낮은 모델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0494889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630</Words>
  <Application>Microsoft Office PowerPoint</Application>
  <PresentationFormat>와이드스크린</PresentationFormat>
  <Paragraphs>2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admin</dc:creator>
  <cp:lastModifiedBy>admin</cp:lastModifiedBy>
  <cp:revision>3</cp:revision>
  <dcterms:created xsi:type="dcterms:W3CDTF">2026-09-19T00:30:21Z</dcterms:created>
  <dcterms:modified xsi:type="dcterms:W3CDTF">2026-09-20T06:01:21Z</dcterms:modified>
</cp:coreProperties>
</file>