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A1617-741B-4DB2-BDAD-E3F01E1836ED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55412-3AF6-418A-91B6-9429D4108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2601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A1617-741B-4DB2-BDAD-E3F01E1836ED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55412-3AF6-418A-91B6-9429D4108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979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A1617-741B-4DB2-BDAD-E3F01E1836ED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55412-3AF6-418A-91B6-9429D4108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749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A1617-741B-4DB2-BDAD-E3F01E1836ED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55412-3AF6-418A-91B6-9429D4108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084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A1617-741B-4DB2-BDAD-E3F01E1836ED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55412-3AF6-418A-91B6-9429D4108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0847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A1617-741B-4DB2-BDAD-E3F01E1836ED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55412-3AF6-418A-91B6-9429D4108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679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A1617-741B-4DB2-BDAD-E3F01E1836ED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55412-3AF6-418A-91B6-9429D4108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2517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A1617-741B-4DB2-BDAD-E3F01E1836ED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55412-3AF6-418A-91B6-9429D4108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021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A1617-741B-4DB2-BDAD-E3F01E1836ED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55412-3AF6-418A-91B6-9429D4108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4370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A1617-741B-4DB2-BDAD-E3F01E1836ED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55412-3AF6-418A-91B6-9429D4108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5213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A1617-741B-4DB2-BDAD-E3F01E1836ED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55412-3AF6-418A-91B6-9429D4108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2767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0A1617-741B-4DB2-BDAD-E3F01E1836ED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855412-3AF6-418A-91B6-9429D41086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2526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18" y="90250"/>
            <a:ext cx="5547841" cy="101354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979" y="1112677"/>
            <a:ext cx="8015256" cy="567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869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39" y="119596"/>
            <a:ext cx="7040261" cy="162168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194" y="1741284"/>
            <a:ext cx="7812350" cy="5116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660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829" y="407408"/>
            <a:ext cx="9716342" cy="604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41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482" y="1198485"/>
            <a:ext cx="8044365" cy="566839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60" y="92764"/>
            <a:ext cx="4366638" cy="104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667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208" y="1691489"/>
            <a:ext cx="9731583" cy="347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117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35619" y="220201"/>
            <a:ext cx="11324948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/>
              <a:t>기존 </a:t>
            </a:r>
            <a:r>
              <a:rPr lang="ko-KR" altLang="en-US" sz="1400" dirty="0" err="1"/>
              <a:t>전략맵</a:t>
            </a:r>
            <a:r>
              <a:rPr lang="ko-KR" altLang="en-US" sz="1400" dirty="0"/>
              <a:t>(3C/PEST/SWOT)과 </a:t>
            </a:r>
            <a:r>
              <a:rPr lang="ko-KR" altLang="en-US" sz="1400" dirty="0" err="1"/>
              <a:t>케어링크</a:t>
            </a:r>
            <a:r>
              <a:rPr lang="ko-KR" altLang="en-US" sz="1400" dirty="0"/>
              <a:t>(</a:t>
            </a:r>
            <a:r>
              <a:rPr lang="ko-KR" altLang="en-US" sz="1400" dirty="0" err="1"/>
              <a:t>CareLink</a:t>
            </a:r>
            <a:r>
              <a:rPr lang="ko-KR" altLang="en-US" sz="1400" dirty="0"/>
              <a:t>) 문서를 먼저 확인했습니다. 이미 "</a:t>
            </a:r>
            <a:r>
              <a:rPr lang="ko-KR" altLang="en-US" sz="1400" dirty="0" err="1"/>
              <a:t>AI상담+온체인</a:t>
            </a:r>
            <a:r>
              <a:rPr lang="ko-KR" altLang="en-US" sz="1400" dirty="0"/>
              <a:t> 자동화" 포지셔닝, </a:t>
            </a:r>
            <a:r>
              <a:rPr lang="ko-KR" altLang="en-US" sz="1400" dirty="0" err="1"/>
              <a:t>씬파일러·유병자</a:t>
            </a:r>
            <a:r>
              <a:rPr lang="ko-KR" altLang="en-US" sz="1400" dirty="0"/>
              <a:t> 포용 </a:t>
            </a:r>
            <a:r>
              <a:rPr lang="ko-KR" altLang="en-US" sz="1400" dirty="0" err="1"/>
              <a:t>언더라이팅</a:t>
            </a:r>
            <a:r>
              <a:rPr lang="ko-KR" altLang="en-US" sz="1400" dirty="0"/>
              <a:t>, </a:t>
            </a:r>
            <a:r>
              <a:rPr lang="ko-KR" altLang="en-US" sz="1400" dirty="0" err="1"/>
              <a:t>스테이블코인</a:t>
            </a:r>
            <a:r>
              <a:rPr lang="ko-KR" altLang="en-US" sz="1400" dirty="0"/>
              <a:t> 결제, 준비금 기반 대체투자까지는 다뤄져 있어서, 그 위에 얹을 수 있는 새 상품/서비스 후보를 현재 인프라(오라클, </a:t>
            </a:r>
            <a:r>
              <a:rPr lang="ko-KR" altLang="en-US" sz="1400" dirty="0" err="1"/>
              <a:t>언더라이팅</a:t>
            </a:r>
            <a:r>
              <a:rPr lang="ko-KR" altLang="en-US" sz="1400" dirty="0"/>
              <a:t> 서브에이전트, 준비금 계좌, 신용점수/건강위험 모델)에 실제로 붙일 수 있는 것 위주로 </a:t>
            </a:r>
            <a:r>
              <a:rPr lang="ko-KR" altLang="en-US" sz="1400" dirty="0" err="1"/>
              <a:t>정리했습니다.A</a:t>
            </a:r>
            <a:r>
              <a:rPr lang="ko-KR" altLang="en-US" sz="1400" dirty="0"/>
              <a:t>. </a:t>
            </a:r>
            <a:r>
              <a:rPr lang="ko-KR" altLang="en-US" sz="1400" dirty="0" err="1"/>
              <a:t>파라메트릭</a:t>
            </a:r>
            <a:r>
              <a:rPr lang="ko-KR" altLang="en-US" sz="1400" dirty="0"/>
              <a:t>(</a:t>
            </a:r>
            <a:r>
              <a:rPr lang="ko-KR" altLang="en-US" sz="1400" dirty="0" err="1"/>
              <a:t>자동집행</a:t>
            </a:r>
            <a:r>
              <a:rPr lang="ko-KR" altLang="en-US" sz="1400" dirty="0"/>
              <a:t>) 보험 라인 </a:t>
            </a:r>
            <a:r>
              <a:rPr lang="ko-KR" altLang="en-US" sz="1400" dirty="0" err="1"/>
              <a:t>확장여행지연·폭염</a:t>
            </a:r>
            <a:r>
              <a:rPr lang="ko-KR" altLang="en-US" sz="1400" dirty="0"/>
              <a:t>/</a:t>
            </a:r>
            <a:r>
              <a:rPr lang="ko-KR" altLang="en-US" sz="1400" dirty="0" err="1"/>
              <a:t>한파·미세먼지</a:t>
            </a:r>
            <a:r>
              <a:rPr lang="ko-KR" altLang="en-US" sz="1400" dirty="0"/>
              <a:t> 등 외부 지표가 조건을 충족하면 오라클이 사람 개입 없이 즉시 지급하는 신규 </a:t>
            </a:r>
            <a:r>
              <a:rPr lang="ko-KR" altLang="en-US" sz="1400" dirty="0" err="1"/>
              <a:t>상품군</a:t>
            </a:r>
            <a:r>
              <a:rPr lang="ko-KR" altLang="en-US" sz="1400" dirty="0"/>
              <a:t> (여행자보험 </a:t>
            </a:r>
            <a:r>
              <a:rPr lang="ko-KR" altLang="en-US" sz="1400" dirty="0" err="1"/>
              <a:t>항공지연</a:t>
            </a:r>
            <a:r>
              <a:rPr lang="ko-KR" altLang="en-US" sz="1400" dirty="0"/>
              <a:t> 특약, 호흡기질환 미세먼지 특약 등).- 재사용: 자동납부/</a:t>
            </a:r>
            <a:r>
              <a:rPr lang="ko-KR" altLang="en-US" sz="1400" dirty="0" err="1"/>
              <a:t>만기환급에</a:t>
            </a:r>
            <a:r>
              <a:rPr lang="ko-KR" altLang="en-US" sz="1400" dirty="0"/>
              <a:t> 이미 쓰는 오라클 서비스 구조(</a:t>
            </a:r>
            <a:r>
              <a:rPr lang="ko-KR" altLang="en-US" sz="1400" dirty="0" err="1"/>
              <a:t>scripts</a:t>
            </a:r>
            <a:r>
              <a:rPr lang="ko-KR" altLang="en-US" sz="1400" dirty="0"/>
              <a:t>/oracle-service.js 계열)</a:t>
            </a:r>
            <a:r>
              <a:rPr lang="ko-KR" altLang="en-US" sz="1400" dirty="0" err="1"/>
              <a:t>를</a:t>
            </a:r>
            <a:r>
              <a:rPr lang="ko-KR" altLang="en-US" sz="1400" dirty="0"/>
              <a:t> "청구 조건 충족 </a:t>
            </a:r>
            <a:r>
              <a:rPr lang="ko-KR" altLang="en-US" sz="1400" dirty="0" err="1"/>
              <a:t>감시"로</a:t>
            </a:r>
            <a:r>
              <a:rPr lang="ko-KR" altLang="en-US" sz="1400" dirty="0"/>
              <a:t> 확장하면 됨 — 새 인프라 불필요.- </a:t>
            </a:r>
            <a:r>
              <a:rPr lang="ko-KR" altLang="en-US" sz="1400" dirty="0" err="1"/>
              <a:t>차별점</a:t>
            </a:r>
            <a:r>
              <a:rPr lang="ko-KR" altLang="en-US" sz="1400" dirty="0"/>
              <a:t>: 국내에도 </a:t>
            </a:r>
            <a:r>
              <a:rPr lang="ko-KR" altLang="en-US" sz="1400" dirty="0" err="1"/>
              <a:t>파라메트릭</a:t>
            </a:r>
            <a:r>
              <a:rPr lang="ko-KR" altLang="en-US" sz="1400" dirty="0"/>
              <a:t> 상품 자체는 소수 있지만(카카오페이손보 등), "AI </a:t>
            </a:r>
            <a:r>
              <a:rPr lang="ko-KR" altLang="en-US" sz="1400" dirty="0" err="1"/>
              <a:t>챗봇</a:t>
            </a:r>
            <a:r>
              <a:rPr lang="ko-KR" altLang="en-US" sz="1400" dirty="0"/>
              <a:t> 상담 → 가입 → </a:t>
            </a:r>
            <a:r>
              <a:rPr lang="ko-KR" altLang="en-US" sz="1400" dirty="0" err="1"/>
              <a:t>온체인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자동지급"까지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엔드투엔드로</a:t>
            </a:r>
            <a:r>
              <a:rPr lang="ko-KR" altLang="en-US" sz="1400" dirty="0"/>
              <a:t> 묶은 사례는 없음. </a:t>
            </a:r>
            <a:r>
              <a:rPr lang="ko-KR" altLang="en-US" sz="1400" dirty="0" err="1"/>
              <a:t>전략맵에</a:t>
            </a:r>
            <a:r>
              <a:rPr lang="ko-KR" altLang="en-US" sz="1400" dirty="0"/>
              <a:t> 이미 쓴 "청구 없는 </a:t>
            </a:r>
            <a:r>
              <a:rPr lang="ko-KR" altLang="en-US" sz="1400" dirty="0" err="1"/>
              <a:t>보험"을</a:t>
            </a:r>
            <a:r>
              <a:rPr lang="ko-KR" altLang="en-US" sz="1400" dirty="0"/>
              <a:t> 극단까지 밀어붙이는 것.- 수익성: 손해사정 인건비가 사실상 0에 수렴 — </a:t>
            </a:r>
            <a:r>
              <a:rPr lang="ko-KR" altLang="en-US" sz="1400" dirty="0" err="1"/>
              <a:t>사업비율</a:t>
            </a:r>
            <a:r>
              <a:rPr lang="ko-KR" altLang="en-US" sz="1400" dirty="0"/>
              <a:t> 대폭 </a:t>
            </a:r>
            <a:r>
              <a:rPr lang="ko-KR" altLang="en-US" sz="1400" dirty="0" err="1"/>
              <a:t>절감분을</a:t>
            </a:r>
            <a:r>
              <a:rPr lang="ko-KR" altLang="en-US" sz="1400" dirty="0"/>
              <a:t> 보험료 인하(가입 유인) 또는 마진으로 가져갈 수 있음. </a:t>
            </a:r>
            <a:r>
              <a:rPr lang="ko-KR" altLang="en-US" sz="1400" dirty="0" err="1"/>
              <a:t>소액·고빈도</a:t>
            </a:r>
            <a:r>
              <a:rPr lang="ko-KR" altLang="en-US" sz="1400" dirty="0"/>
              <a:t> 상품이라 회전율도 </a:t>
            </a:r>
            <a:r>
              <a:rPr lang="ko-KR" altLang="en-US" sz="1400" dirty="0" err="1"/>
              <a:t>높음.B</a:t>
            </a:r>
            <a:r>
              <a:rPr lang="ko-KR" altLang="en-US" sz="1400" dirty="0"/>
              <a:t>. </a:t>
            </a:r>
            <a:r>
              <a:rPr lang="ko-KR" altLang="en-US" sz="1400" dirty="0" err="1"/>
              <a:t>씬파일러</a:t>
            </a:r>
            <a:r>
              <a:rPr lang="ko-KR" altLang="en-US" sz="1400" dirty="0"/>
              <a:t> 전용 "보험료 </a:t>
            </a:r>
            <a:r>
              <a:rPr lang="ko-KR" altLang="en-US" sz="1400" dirty="0" err="1"/>
              <a:t>유연납입</a:t>
            </a:r>
            <a:r>
              <a:rPr lang="ko-KR" altLang="en-US" sz="1400" dirty="0"/>
              <a:t>" </a:t>
            </a:r>
            <a:r>
              <a:rPr lang="ko-KR" altLang="en-US" sz="1400" dirty="0" err="1"/>
              <a:t>상품이미</a:t>
            </a:r>
            <a:r>
              <a:rPr lang="ko-KR" altLang="en-US" sz="1400" dirty="0"/>
              <a:t> 있는 신용점수(NICE+KCB)·</a:t>
            </a:r>
            <a:r>
              <a:rPr lang="ko-KR" altLang="en-US" sz="1400" dirty="0" err="1"/>
              <a:t>씬파일러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신용보완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언더라이팅을</a:t>
            </a:r>
            <a:r>
              <a:rPr lang="ko-KR" altLang="en-US" sz="1400" dirty="0"/>
              <a:t> 보험료 납입 쪽에도 적용 — 신용점수 낮은 가입자에게 </a:t>
            </a:r>
            <a:r>
              <a:rPr lang="ko-KR" altLang="en-US" sz="1400" dirty="0" err="1"/>
              <a:t>초회보험료</a:t>
            </a:r>
            <a:r>
              <a:rPr lang="ko-KR" altLang="en-US" sz="1400" dirty="0"/>
              <a:t> 유예/분할납부를 자동 승인하고, 연체 시 이미 구현된 약관대출(</a:t>
            </a:r>
            <a:r>
              <a:rPr lang="ko-KR" altLang="en-US" sz="1400" dirty="0" err="1"/>
              <a:t>해지환급금</a:t>
            </a:r>
            <a:r>
              <a:rPr lang="ko-KR" altLang="en-US" sz="1400" dirty="0"/>
              <a:t> 담보) 기능으로 자동 대환.- 재사용: </a:t>
            </a:r>
            <a:r>
              <a:rPr lang="ko-KR" altLang="en-US" sz="1400" dirty="0" err="1"/>
              <a:t>언더라이팅</a:t>
            </a:r>
            <a:r>
              <a:rPr lang="ko-KR" altLang="en-US" sz="1400" dirty="0"/>
              <a:t> 서브에이전트의 </a:t>
            </a:r>
            <a:r>
              <a:rPr lang="ko-KR" altLang="en-US" sz="1400" dirty="0" err="1"/>
              <a:t>씬파일러</a:t>
            </a:r>
            <a:r>
              <a:rPr lang="ko-KR" altLang="en-US" sz="1400" dirty="0"/>
              <a:t> 판단 </a:t>
            </a:r>
            <a:r>
              <a:rPr lang="ko-KR" altLang="en-US" sz="1400" dirty="0" err="1"/>
              <a:t>로직</a:t>
            </a:r>
            <a:r>
              <a:rPr lang="ko-KR" altLang="en-US" sz="1400" dirty="0"/>
              <a:t> + 자동납부/약관대출 </a:t>
            </a:r>
            <a:r>
              <a:rPr lang="ko-KR" altLang="en-US" sz="1400" dirty="0" err="1"/>
              <a:t>컨트랙트</a:t>
            </a:r>
            <a:r>
              <a:rPr lang="ko-KR" altLang="en-US" sz="1400" dirty="0"/>
              <a:t> 그대로.- </a:t>
            </a:r>
            <a:r>
              <a:rPr lang="ko-KR" altLang="en-US" sz="1400" dirty="0" err="1"/>
              <a:t>차별점</a:t>
            </a:r>
            <a:r>
              <a:rPr lang="ko-KR" altLang="en-US" sz="1400" dirty="0"/>
              <a:t>: 전통 보험사는 </a:t>
            </a:r>
            <a:r>
              <a:rPr lang="ko-KR" altLang="en-US" sz="1400" dirty="0" err="1"/>
              <a:t>씬파일러에게</a:t>
            </a:r>
            <a:r>
              <a:rPr lang="ko-KR" altLang="en-US" sz="1400" dirty="0"/>
              <a:t> 아예 청약을 거절하거나 고비용 안내로 끝나는데, 여긴 "가입은 시켜주되 납입 유연성으로 리스크 </a:t>
            </a:r>
            <a:r>
              <a:rPr lang="ko-KR" altLang="en-US" sz="1400" dirty="0" err="1"/>
              <a:t>관리"라는</a:t>
            </a:r>
            <a:r>
              <a:rPr lang="ko-KR" altLang="en-US" sz="1400" dirty="0"/>
              <a:t> 제3의 길.- 수익성: 기존엔 놓치던 고객층(</a:t>
            </a:r>
            <a:r>
              <a:rPr lang="ko-KR" altLang="en-US" sz="1400" dirty="0" err="1"/>
              <a:t>신파일러</a:t>
            </a:r>
            <a:r>
              <a:rPr lang="ko-KR" altLang="en-US" sz="1400" dirty="0"/>
              <a:t>) 획득 + 약관대출 </a:t>
            </a:r>
            <a:r>
              <a:rPr lang="ko-KR" altLang="en-US" sz="1400" dirty="0" err="1"/>
              <a:t>이자마진이</a:t>
            </a:r>
            <a:r>
              <a:rPr lang="ko-KR" altLang="en-US" sz="1400" dirty="0"/>
              <a:t> 추가 </a:t>
            </a:r>
            <a:r>
              <a:rPr lang="ko-KR" altLang="en-US" sz="1400" dirty="0" err="1"/>
              <a:t>수익원</a:t>
            </a:r>
            <a:r>
              <a:rPr lang="ko-KR" altLang="en-US" sz="1400" dirty="0"/>
              <a:t>. 다만 </a:t>
            </a:r>
            <a:r>
              <a:rPr lang="ko-KR" altLang="en-US" sz="1400" dirty="0" err="1"/>
              <a:t>손해율</a:t>
            </a:r>
            <a:r>
              <a:rPr lang="ko-KR" altLang="en-US" sz="1400" dirty="0"/>
              <a:t> 관리를 위해 유예 </a:t>
            </a:r>
            <a:r>
              <a:rPr lang="ko-KR" altLang="en-US" sz="1400" dirty="0" err="1"/>
              <a:t>한도·재원</a:t>
            </a:r>
            <a:r>
              <a:rPr lang="ko-KR" altLang="en-US" sz="1400" dirty="0"/>
              <a:t>(준비금) 설계가 </a:t>
            </a:r>
            <a:r>
              <a:rPr lang="ko-KR" altLang="en-US" sz="1400" dirty="0" err="1"/>
              <a:t>필요.C</a:t>
            </a:r>
            <a:r>
              <a:rPr lang="ko-KR" altLang="en-US" sz="1400" dirty="0"/>
              <a:t>. </a:t>
            </a:r>
            <a:r>
              <a:rPr lang="ko-KR" altLang="en-US" sz="1400" dirty="0" err="1"/>
              <a:t>웨어러블</a:t>
            </a:r>
            <a:r>
              <a:rPr lang="ko-KR" altLang="en-US" sz="1400" dirty="0"/>
              <a:t> 연동 동적 보험료 (</a:t>
            </a:r>
            <a:r>
              <a:rPr lang="ko-KR" altLang="en-US" sz="1400" dirty="0" err="1"/>
              <a:t>CareLink</a:t>
            </a:r>
            <a:r>
              <a:rPr lang="ko-KR" altLang="en-US" sz="1400" dirty="0"/>
              <a:t> 확장)</a:t>
            </a:r>
            <a:r>
              <a:rPr lang="ko-KR" altLang="en-US" sz="1400" dirty="0" err="1"/>
              <a:t>CareLink는</a:t>
            </a:r>
            <a:r>
              <a:rPr lang="ko-KR" altLang="en-US" sz="1400" dirty="0"/>
              <a:t> 지금 "가입 시 1회성 위험 </a:t>
            </a:r>
            <a:r>
              <a:rPr lang="ko-KR" altLang="en-US" sz="1400" dirty="0" err="1"/>
              <a:t>평가"인데</a:t>
            </a:r>
            <a:r>
              <a:rPr lang="ko-KR" altLang="en-US" sz="1400" dirty="0"/>
              <a:t>, 이를 "가입 후 주기적 데이터 제출 → 위험 개선 시 </a:t>
            </a:r>
            <a:r>
              <a:rPr lang="ko-KR" altLang="en-US" sz="1400" dirty="0" err="1"/>
              <a:t>온체인</a:t>
            </a:r>
            <a:r>
              <a:rPr lang="ko-KR" altLang="en-US" sz="1400" dirty="0"/>
              <a:t> 보험료 자동 </a:t>
            </a:r>
            <a:r>
              <a:rPr lang="ko-KR" altLang="en-US" sz="1400" dirty="0" err="1"/>
              <a:t>할인"으로</a:t>
            </a:r>
            <a:r>
              <a:rPr lang="ko-KR" altLang="en-US" sz="1400" dirty="0"/>
              <a:t> 바꿈.- 재사용: </a:t>
            </a:r>
            <a:r>
              <a:rPr lang="ko-KR" altLang="en-US" sz="1400" dirty="0" err="1"/>
              <a:t>health_risk_tool.py의</a:t>
            </a:r>
            <a:r>
              <a:rPr lang="ko-KR" altLang="en-US" sz="1400" dirty="0"/>
              <a:t> 위험 스코어 </a:t>
            </a:r>
            <a:r>
              <a:rPr lang="ko-KR" altLang="en-US" sz="1400" dirty="0" err="1"/>
              <a:t>로직</a:t>
            </a:r>
            <a:r>
              <a:rPr lang="ko-KR" altLang="en-US" sz="1400" dirty="0"/>
              <a:t> + 자동납부 </a:t>
            </a:r>
            <a:r>
              <a:rPr lang="ko-KR" altLang="en-US" sz="1400" dirty="0" err="1"/>
              <a:t>컨트랙트의</a:t>
            </a:r>
            <a:r>
              <a:rPr lang="ko-KR" altLang="en-US" sz="1400" dirty="0"/>
              <a:t> 보험료 </a:t>
            </a:r>
            <a:r>
              <a:rPr lang="ko-KR" altLang="en-US" sz="1400" dirty="0" err="1"/>
              <a:t>파라미터</a:t>
            </a:r>
            <a:r>
              <a:rPr lang="ko-KR" altLang="en-US" sz="1400" dirty="0"/>
              <a:t> 조정.- </a:t>
            </a:r>
            <a:r>
              <a:rPr lang="ko-KR" altLang="en-US" sz="1400" dirty="0" err="1"/>
              <a:t>차별점</a:t>
            </a:r>
            <a:r>
              <a:rPr lang="ko-KR" altLang="en-US" sz="1400" dirty="0"/>
              <a:t>: 국내 </a:t>
            </a:r>
            <a:r>
              <a:rPr lang="ko-KR" altLang="en-US" sz="1400" dirty="0" err="1"/>
              <a:t>건강증진형</a:t>
            </a:r>
            <a:r>
              <a:rPr lang="ko-KR" altLang="en-US" sz="1400" dirty="0"/>
              <a:t> 보험은 대부분 포인트 </a:t>
            </a:r>
            <a:r>
              <a:rPr lang="ko-KR" altLang="en-US" sz="1400" dirty="0" err="1"/>
              <a:t>리워드</a:t>
            </a:r>
            <a:r>
              <a:rPr lang="ko-KR" altLang="en-US" sz="1400" dirty="0"/>
              <a:t> 수준(</a:t>
            </a:r>
            <a:r>
              <a:rPr lang="ko-KR" altLang="en-US" sz="1400" dirty="0" err="1"/>
              <a:t>교보</a:t>
            </a:r>
            <a:r>
              <a:rPr lang="ko-KR" altLang="en-US" sz="1400" dirty="0"/>
              <a:t> 등)인데, 실제 </a:t>
            </a:r>
            <a:r>
              <a:rPr lang="ko-KR" altLang="en-US" sz="1400" dirty="0" err="1"/>
              <a:t>스마트컨트랙트가</a:t>
            </a:r>
            <a:r>
              <a:rPr lang="ko-KR" altLang="en-US" sz="1400" dirty="0"/>
              <a:t> 보험료 자체를 조정하는 사례는 거의 없음.- 수익성: </a:t>
            </a:r>
            <a:r>
              <a:rPr lang="ko-KR" altLang="en-US" sz="1400" dirty="0" err="1"/>
              <a:t>저위험군</a:t>
            </a:r>
            <a:r>
              <a:rPr lang="ko-KR" altLang="en-US" sz="1400" dirty="0"/>
              <a:t> </a:t>
            </a:r>
            <a:r>
              <a:rPr lang="ko-KR" altLang="en-US" sz="1400" dirty="0" err="1"/>
              <a:t>리텐션</a:t>
            </a:r>
            <a:r>
              <a:rPr lang="ko-KR" altLang="en-US" sz="1400" dirty="0"/>
              <a:t>↑, 역선택 감소로 장기 </a:t>
            </a:r>
            <a:r>
              <a:rPr lang="ko-KR" altLang="en-US" sz="1400" dirty="0" err="1"/>
              <a:t>손해율</a:t>
            </a:r>
            <a:r>
              <a:rPr lang="ko-KR" altLang="en-US" sz="1400" dirty="0"/>
              <a:t> 개선 — 단기 매출보다 </a:t>
            </a:r>
            <a:r>
              <a:rPr lang="ko-KR" altLang="en-US" sz="1400" dirty="0" err="1"/>
              <a:t>손해율</a:t>
            </a:r>
            <a:r>
              <a:rPr lang="ko-KR" altLang="en-US" sz="1400" dirty="0"/>
              <a:t> </a:t>
            </a:r>
            <a:r>
              <a:rPr lang="ko-KR" altLang="en-US" sz="1400" dirty="0" err="1"/>
              <a:t>관리형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수익.D</a:t>
            </a:r>
            <a:r>
              <a:rPr lang="ko-KR" altLang="en-US" sz="1400" dirty="0"/>
              <a:t>. 준비금 기반 외부 유동성 공급(</a:t>
            </a:r>
            <a:r>
              <a:rPr lang="ko-KR" altLang="en-US" sz="1400" dirty="0" err="1"/>
              <a:t>탈중앙</a:t>
            </a:r>
            <a:r>
              <a:rPr lang="ko-KR" altLang="en-US" sz="1400" dirty="0"/>
              <a:t> 재보험 유사 모델)</a:t>
            </a:r>
            <a:r>
              <a:rPr lang="ko-KR" altLang="en-US" sz="1400" dirty="0" err="1"/>
              <a:t>ReserveFund</a:t>
            </a:r>
            <a:r>
              <a:rPr lang="ko-KR" altLang="en-US" sz="1400" dirty="0"/>
              <a:t>/</a:t>
            </a:r>
            <a:r>
              <a:rPr lang="ko-KR" altLang="en-US" sz="1400" dirty="0" err="1"/>
              <a:t>AltInvestmentFund를</a:t>
            </a:r>
            <a:r>
              <a:rPr lang="ko-KR" altLang="en-US" sz="1400" dirty="0"/>
              <a:t> 확장해 외부 투자자(LP)가 준비금 풀에 </a:t>
            </a:r>
            <a:r>
              <a:rPr lang="ko-KR" altLang="en-US" sz="1400" dirty="0" err="1"/>
              <a:t>스테이블코인을</a:t>
            </a:r>
            <a:r>
              <a:rPr lang="ko-KR" altLang="en-US" sz="1400" dirty="0"/>
              <a:t> 넣고, 보험료 수입 일부를 수익으로 </a:t>
            </a:r>
            <a:r>
              <a:rPr lang="ko-KR" altLang="en-US" sz="1400" dirty="0" err="1"/>
              <a:t>배분받는</a:t>
            </a:r>
            <a:r>
              <a:rPr lang="ko-KR" altLang="en-US" sz="1400" dirty="0"/>
              <a:t> 구조.- 재사용: </a:t>
            </a:r>
            <a:r>
              <a:rPr lang="ko-KR" altLang="en-US" sz="1400" dirty="0" err="1"/>
              <a:t>AltInvestmentFund가</a:t>
            </a:r>
            <a:r>
              <a:rPr lang="ko-KR" altLang="en-US" sz="1400" dirty="0"/>
              <a:t> 이미 준비금에서 재원을 끌어오는 패턴으로 </a:t>
            </a:r>
            <a:r>
              <a:rPr lang="ko-KR" altLang="en-US" sz="1400" dirty="0" err="1"/>
              <a:t>재작성되어</a:t>
            </a:r>
            <a:r>
              <a:rPr lang="ko-KR" altLang="en-US" sz="1400" dirty="0"/>
              <a:t> 있어 반대 방향(</a:t>
            </a:r>
            <a:r>
              <a:rPr lang="ko-KR" altLang="en-US" sz="1400" dirty="0" err="1"/>
              <a:t>외부→준비금</a:t>
            </a:r>
            <a:r>
              <a:rPr lang="ko-KR" altLang="en-US" sz="1400" dirty="0"/>
              <a:t> 유입)만 추가하면 됨.- </a:t>
            </a:r>
            <a:r>
              <a:rPr lang="ko-KR" altLang="en-US" sz="1400" dirty="0" err="1"/>
              <a:t>차별점</a:t>
            </a:r>
            <a:r>
              <a:rPr lang="ko-KR" altLang="en-US" sz="1400" dirty="0"/>
              <a:t>: </a:t>
            </a:r>
            <a:r>
              <a:rPr lang="ko-KR" altLang="en-US" sz="1400" dirty="0" err="1"/>
              <a:t>Nexus</a:t>
            </a:r>
            <a:r>
              <a:rPr lang="ko-KR" altLang="en-US" sz="1400" dirty="0"/>
              <a:t> </a:t>
            </a:r>
            <a:r>
              <a:rPr lang="ko-KR" altLang="en-US" sz="1400" dirty="0" err="1"/>
              <a:t>Mutual류</a:t>
            </a:r>
            <a:r>
              <a:rPr lang="ko-KR" altLang="en-US" sz="1400" dirty="0"/>
              <a:t> </a:t>
            </a:r>
            <a:r>
              <a:rPr lang="ko-KR" altLang="en-US" sz="1400" dirty="0" err="1"/>
              <a:t>탈중앙</a:t>
            </a:r>
            <a:r>
              <a:rPr lang="ko-KR" altLang="en-US" sz="1400" dirty="0"/>
              <a:t> 재보험은 청구 자체가 </a:t>
            </a:r>
            <a:r>
              <a:rPr lang="ko-KR" altLang="en-US" sz="1400" dirty="0" err="1"/>
              <a:t>온체인</a:t>
            </a:r>
            <a:r>
              <a:rPr lang="ko-KR" altLang="en-US" sz="1400" dirty="0"/>
              <a:t> 트리거인 경우가 많은데, 여긴 실제 </a:t>
            </a:r>
            <a:r>
              <a:rPr lang="ko-KR" altLang="en-US" sz="1400" dirty="0" err="1"/>
              <a:t>전통형</a:t>
            </a:r>
            <a:r>
              <a:rPr lang="ko-KR" altLang="en-US" sz="1400" dirty="0"/>
              <a:t> 보험 </a:t>
            </a:r>
            <a:r>
              <a:rPr lang="ko-KR" altLang="en-US" sz="1400" dirty="0" err="1"/>
              <a:t>익스포저에</a:t>
            </a:r>
            <a:r>
              <a:rPr lang="ko-KR" altLang="en-US" sz="1400" dirty="0"/>
              <a:t> 외부 자본이 재보험 역할을 하는 </a:t>
            </a:r>
            <a:r>
              <a:rPr lang="ko-KR" altLang="en-US" sz="1400" dirty="0" err="1"/>
              <a:t>하이브리드</a:t>
            </a:r>
            <a:r>
              <a:rPr lang="ko-KR" altLang="en-US" sz="1400" dirty="0"/>
              <a:t> — 국내 사례 없음</a:t>
            </a:r>
            <a:r>
              <a:rPr lang="ko-KR" altLang="en-US" sz="1400" dirty="0" smtClean="0"/>
              <a:t>.</a:t>
            </a:r>
            <a:endParaRPr lang="en-US" altLang="ko-KR" sz="1400" dirty="0" smtClean="0"/>
          </a:p>
          <a:p>
            <a:r>
              <a:rPr lang="en-US" altLang="ko-KR" sz="1400" dirty="0" smtClean="0"/>
              <a:t>- </a:t>
            </a:r>
            <a:r>
              <a:rPr lang="ko-KR" altLang="en-US" sz="1400" dirty="0"/>
              <a:t>수익성</a:t>
            </a:r>
            <a:r>
              <a:rPr lang="en-US" altLang="ko-KR" sz="1400" dirty="0"/>
              <a:t>: </a:t>
            </a:r>
            <a:r>
              <a:rPr lang="ko-KR" altLang="en-US" sz="1400" dirty="0"/>
              <a:t>자기자본 부담 없이 인수 여력</a:t>
            </a:r>
            <a:r>
              <a:rPr lang="en-US" altLang="ko-KR" sz="1400" dirty="0"/>
              <a:t>(underwriting capacity) </a:t>
            </a:r>
            <a:r>
              <a:rPr lang="ko-KR" altLang="en-US" sz="1400" dirty="0"/>
              <a:t>확장 가능 </a:t>
            </a:r>
            <a:r>
              <a:rPr lang="en-US" altLang="ko-KR" sz="1400" dirty="0"/>
              <a:t>— </a:t>
            </a:r>
            <a:r>
              <a:rPr lang="ko-KR" altLang="en-US" sz="1400" dirty="0"/>
              <a:t>다만 규제</a:t>
            </a:r>
            <a:r>
              <a:rPr lang="en-US" altLang="ko-KR" sz="1400" dirty="0"/>
              <a:t>(</a:t>
            </a:r>
            <a:r>
              <a:rPr lang="ko-KR" altLang="en-US" sz="1400" dirty="0"/>
              <a:t>자본시장법</a:t>
            </a:r>
            <a:r>
              <a:rPr lang="en-US" altLang="ko-KR" sz="1400" dirty="0"/>
              <a:t>·</a:t>
            </a:r>
            <a:r>
              <a:rPr lang="ko-KR" altLang="en-US" sz="1400" dirty="0" err="1"/>
              <a:t>보험업법상</a:t>
            </a:r>
            <a:r>
              <a:rPr lang="ko-KR" altLang="en-US" sz="1400" dirty="0"/>
              <a:t> 재보험 요건</a:t>
            </a:r>
            <a:r>
              <a:rPr lang="en-US" altLang="ko-KR" sz="1400" dirty="0"/>
              <a:t>) </a:t>
            </a:r>
            <a:r>
              <a:rPr lang="ko-KR" altLang="en-US" sz="1400" dirty="0"/>
              <a:t>검토가 선행돼야 해서 리스크가 가장 큼</a:t>
            </a:r>
            <a:r>
              <a:rPr lang="en-US" altLang="ko-KR" sz="1400" dirty="0"/>
              <a:t>.E. AI+</a:t>
            </a:r>
            <a:r>
              <a:rPr lang="ko-KR" altLang="en-US" sz="1400" dirty="0" err="1"/>
              <a:t>온체인</a:t>
            </a:r>
            <a:r>
              <a:rPr lang="ko-KR" altLang="en-US" sz="1400" dirty="0"/>
              <a:t> 엔진 </a:t>
            </a:r>
            <a:r>
              <a:rPr lang="en-US" altLang="ko-KR" sz="1400" dirty="0"/>
              <a:t>B2B </a:t>
            </a:r>
            <a:r>
              <a:rPr lang="ko-KR" altLang="en-US" sz="1400" dirty="0" err="1"/>
              <a:t>화이트라벨</a:t>
            </a:r>
            <a:r>
              <a:rPr lang="ko-KR" altLang="en-US" sz="1400" dirty="0"/>
              <a:t> </a:t>
            </a:r>
            <a:r>
              <a:rPr lang="ko-KR" altLang="en-US" sz="1400" dirty="0" err="1"/>
              <a:t>라이선싱전략맵</a:t>
            </a:r>
            <a:r>
              <a:rPr lang="ko-KR" altLang="en-US" sz="1400" dirty="0"/>
              <a:t> </a:t>
            </a:r>
            <a:r>
              <a:rPr lang="en-US" altLang="ko-KR" sz="1400" dirty="0"/>
              <a:t>SWOT</a:t>
            </a:r>
            <a:r>
              <a:rPr lang="ko-KR" altLang="en-US" sz="1400" dirty="0"/>
              <a:t>에 위협 대응책으로 이미 언급된 </a:t>
            </a:r>
            <a:r>
              <a:rPr lang="en-US" altLang="ko-KR" sz="1400" dirty="0"/>
              <a:t>"</a:t>
            </a:r>
            <a:r>
              <a:rPr lang="ko-KR" altLang="en-US" sz="1400" dirty="0" err="1"/>
              <a:t>백오피스</a:t>
            </a:r>
            <a:r>
              <a:rPr lang="ko-KR" altLang="en-US" sz="1400" dirty="0"/>
              <a:t> 솔루션 라이선스</a:t>
            </a:r>
            <a:r>
              <a:rPr lang="en-US" altLang="ko-KR" sz="1400" dirty="0"/>
              <a:t>"</a:t>
            </a:r>
            <a:r>
              <a:rPr lang="ko-KR" altLang="en-US" sz="1400" dirty="0"/>
              <a:t>를 실제 상품화 </a:t>
            </a:r>
            <a:r>
              <a:rPr lang="en-US" altLang="ko-KR" sz="1400" dirty="0"/>
              <a:t>— </a:t>
            </a:r>
            <a:r>
              <a:rPr lang="ko-KR" altLang="en-US" sz="1400" dirty="0"/>
              <a:t>이 엔진</a:t>
            </a:r>
            <a:r>
              <a:rPr lang="en-US" altLang="ko-KR" sz="1400" dirty="0"/>
              <a:t>(</a:t>
            </a:r>
            <a:r>
              <a:rPr lang="ko-KR" altLang="en-US" sz="1400" dirty="0"/>
              <a:t>상담</a:t>
            </a:r>
            <a:r>
              <a:rPr lang="en-US" altLang="ko-KR" sz="1400" dirty="0"/>
              <a:t>+</a:t>
            </a:r>
            <a:r>
              <a:rPr lang="ko-KR" altLang="en-US" sz="1400" dirty="0" err="1"/>
              <a:t>언더라이팅</a:t>
            </a:r>
            <a:r>
              <a:rPr lang="en-US" altLang="ko-KR" sz="1400" dirty="0"/>
              <a:t>+</a:t>
            </a:r>
            <a:r>
              <a:rPr lang="ko-KR" altLang="en-US" sz="1400" dirty="0" err="1"/>
              <a:t>온체인</a:t>
            </a:r>
            <a:r>
              <a:rPr lang="ko-KR" altLang="en-US" sz="1400" dirty="0"/>
              <a:t> 청구</a:t>
            </a:r>
            <a:r>
              <a:rPr lang="en-US" altLang="ko-KR" sz="1400" dirty="0"/>
              <a:t>)</a:t>
            </a:r>
            <a:r>
              <a:rPr lang="ko-KR" altLang="en-US" sz="1400" dirty="0"/>
              <a:t>을 소형 </a:t>
            </a:r>
            <a:r>
              <a:rPr lang="en-US" altLang="ko-KR" sz="1400" dirty="0"/>
              <a:t>GA(</a:t>
            </a:r>
            <a:r>
              <a:rPr lang="ko-KR" altLang="en-US" sz="1400" dirty="0"/>
              <a:t>보험대리점</a:t>
            </a:r>
            <a:r>
              <a:rPr lang="en-US" altLang="ko-KR" sz="1400" dirty="0"/>
              <a:t>)·</a:t>
            </a:r>
            <a:r>
              <a:rPr lang="ko-KR" altLang="en-US" sz="1400" dirty="0" err="1"/>
              <a:t>핀테크에</a:t>
            </a:r>
            <a:r>
              <a:rPr lang="ko-KR" altLang="en-US" sz="1400" dirty="0"/>
              <a:t> </a:t>
            </a:r>
            <a:r>
              <a:rPr lang="en-US" altLang="ko-KR" sz="1400" dirty="0"/>
              <a:t>API/SaaS</a:t>
            </a:r>
            <a:r>
              <a:rPr lang="ko-KR" altLang="en-US" sz="1400" dirty="0"/>
              <a:t>로 제공</a:t>
            </a:r>
            <a:r>
              <a:rPr lang="en-US" altLang="ko-KR" sz="1400" dirty="0"/>
              <a:t>.- </a:t>
            </a:r>
            <a:r>
              <a:rPr lang="ko-KR" altLang="en-US" sz="1400" dirty="0" err="1"/>
              <a:t>차별점</a:t>
            </a:r>
            <a:r>
              <a:rPr lang="en-US" altLang="ko-KR" sz="1400" dirty="0"/>
              <a:t>: </a:t>
            </a:r>
            <a:r>
              <a:rPr lang="ko-KR" altLang="en-US" sz="1400" dirty="0"/>
              <a:t>국내 보험 </a:t>
            </a:r>
            <a:r>
              <a:rPr lang="ko-KR" altLang="en-US" sz="1400" dirty="0" err="1"/>
              <a:t>백엔드</a:t>
            </a:r>
            <a:r>
              <a:rPr lang="ko-KR" altLang="en-US" sz="1400" dirty="0"/>
              <a:t> 솔루션은 대부분 폐쇄형 자체 개발 </a:t>
            </a:r>
            <a:r>
              <a:rPr lang="en-US" altLang="ko-KR" sz="1400" dirty="0"/>
              <a:t>— </a:t>
            </a:r>
            <a:r>
              <a:rPr lang="ko-KR" altLang="en-US" sz="1400" dirty="0"/>
              <a:t>통합 엔진을 외부 판매하는 곳이 드묾</a:t>
            </a:r>
            <a:r>
              <a:rPr lang="en-US" altLang="ko-KR" sz="1400" dirty="0"/>
              <a:t>.- </a:t>
            </a:r>
            <a:r>
              <a:rPr lang="ko-KR" altLang="en-US" sz="1400" dirty="0"/>
              <a:t>수익성</a:t>
            </a:r>
            <a:r>
              <a:rPr lang="en-US" altLang="ko-KR" sz="1400" dirty="0"/>
              <a:t>: </a:t>
            </a:r>
            <a:r>
              <a:rPr lang="ko-KR" altLang="en-US" sz="1400" dirty="0"/>
              <a:t>보험 인수 리스크 없이 반복적 구독</a:t>
            </a:r>
            <a:r>
              <a:rPr lang="en-US" altLang="ko-KR" sz="1400" dirty="0"/>
              <a:t>/API </a:t>
            </a:r>
            <a:r>
              <a:rPr lang="ko-KR" altLang="en-US" sz="1400" dirty="0" err="1"/>
              <a:t>과금</a:t>
            </a:r>
            <a:r>
              <a:rPr lang="ko-KR" altLang="en-US" sz="1400" dirty="0"/>
              <a:t> 수익</a:t>
            </a:r>
            <a:r>
              <a:rPr lang="en-US" altLang="ko-KR" sz="1400" dirty="0"/>
              <a:t>(recurring revenue) — </a:t>
            </a:r>
            <a:r>
              <a:rPr lang="ko-KR" altLang="en-US" sz="1400" dirty="0"/>
              <a:t>자본 요구가 가장 낮은 모델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049488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372862" y="612845"/>
            <a:ext cx="11407806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/>
              <a:t>공통 사전 준비- </a:t>
            </a:r>
            <a:r>
              <a:rPr lang="ko-KR" altLang="en-US" sz="1000" dirty="0" err="1"/>
              <a:t>블록체인+프론트엔드</a:t>
            </a:r>
            <a:r>
              <a:rPr lang="ko-KR" altLang="en-US" sz="1000" dirty="0"/>
              <a:t>: 루트 start.bat 실행 (</a:t>
            </a:r>
            <a:r>
              <a:rPr lang="ko-KR" altLang="en-US" sz="1000" dirty="0" err="1"/>
              <a:t>Hardhat</a:t>
            </a:r>
            <a:r>
              <a:rPr lang="ko-KR" altLang="en-US" sz="1000" dirty="0"/>
              <a:t> 노드 → 배포 → </a:t>
            </a:r>
            <a:r>
              <a:rPr lang="ko-KR" altLang="en-US" sz="1000" dirty="0" err="1"/>
              <a:t>프론트엔드</a:t>
            </a:r>
            <a:r>
              <a:rPr lang="ko-KR" altLang="en-US" sz="1000" dirty="0"/>
              <a:t> → 백그라운드 서비스 9종 자동 기동, </a:t>
            </a:r>
            <a:r>
              <a:rPr lang="ko-KR" altLang="en-US" sz="1000" dirty="0" err="1"/>
              <a:t>Chrome</a:t>
            </a:r>
            <a:r>
              <a:rPr lang="ko-KR" altLang="en-US" sz="1000" dirty="0"/>
              <a:t>=관리자 </a:t>
            </a:r>
            <a:r>
              <a:rPr lang="ko-KR" altLang="en-US" sz="1000" dirty="0" err="1"/>
              <a:t>Account</a:t>
            </a:r>
            <a:r>
              <a:rPr lang="ko-KR" altLang="en-US" sz="1000" dirty="0"/>
              <a:t> #0 / </a:t>
            </a:r>
            <a:r>
              <a:rPr lang="ko-KR" altLang="en-US" sz="1000" dirty="0" err="1"/>
              <a:t>Edge</a:t>
            </a:r>
            <a:r>
              <a:rPr lang="ko-KR" altLang="en-US" sz="1000" dirty="0"/>
              <a:t>=고객 </a:t>
            </a:r>
            <a:r>
              <a:rPr lang="ko-KR" altLang="en-US" sz="1000" dirty="0" err="1"/>
              <a:t>Account</a:t>
            </a:r>
            <a:r>
              <a:rPr lang="ko-KR" altLang="en-US" sz="1000" dirty="0"/>
              <a:t> #1 자동으로 열림)- </a:t>
            </a:r>
            <a:r>
              <a:rPr lang="ko-KR" altLang="en-US" sz="1000" dirty="0" err="1"/>
              <a:t>챗봇</a:t>
            </a:r>
            <a:r>
              <a:rPr lang="ko-KR" altLang="en-US" sz="1000" dirty="0"/>
              <a:t>: </a:t>
            </a:r>
            <a:r>
              <a:rPr lang="ko-KR" altLang="en-US" sz="1000" dirty="0" err="1"/>
              <a:t>insurance_agent에서</a:t>
            </a:r>
            <a:r>
              <a:rPr lang="ko-KR" altLang="en-US" sz="1000" dirty="0"/>
              <a:t> </a:t>
            </a:r>
            <a:r>
              <a:rPr lang="ko-KR" altLang="en-US" sz="1000" dirty="0" err="1"/>
              <a:t>python</a:t>
            </a:r>
            <a:r>
              <a:rPr lang="ko-KR" altLang="en-US" sz="1000" dirty="0"/>
              <a:t> web_app.py (Live </a:t>
            </a:r>
            <a:r>
              <a:rPr lang="ko-KR" altLang="en-US" sz="1000" dirty="0" err="1"/>
              <a:t>Mode로</a:t>
            </a:r>
            <a:r>
              <a:rPr lang="ko-KR" altLang="en-US" sz="1000" dirty="0"/>
              <a:t> 동작하려면 .</a:t>
            </a:r>
            <a:r>
              <a:rPr lang="ko-KR" altLang="en-US" sz="1000" dirty="0" err="1"/>
              <a:t>env에</a:t>
            </a:r>
            <a:r>
              <a:rPr lang="ko-KR" altLang="en-US" sz="1000" dirty="0"/>
              <a:t> OPENAI_API_KEY 필요 — 없으면 도구 호출 자체가 안 됨)- </a:t>
            </a:r>
            <a:r>
              <a:rPr lang="ko-KR" altLang="en-US" sz="1000" dirty="0" err="1"/>
              <a:t>E</a:t>
            </a:r>
            <a:r>
              <a:rPr lang="ko-KR" altLang="en-US" sz="1000" dirty="0"/>
              <a:t>(파트너 API)만 추가로 </a:t>
            </a:r>
            <a:r>
              <a:rPr lang="ko-KR" altLang="en-US" sz="1000" dirty="0" err="1"/>
              <a:t>insurance_agent</a:t>
            </a:r>
            <a:r>
              <a:rPr lang="ko-KR" altLang="en-US" sz="1000" dirty="0"/>
              <a:t>/.</a:t>
            </a:r>
            <a:r>
              <a:rPr lang="ko-KR" altLang="en-US" sz="1000" dirty="0" err="1"/>
              <a:t>env에</a:t>
            </a:r>
            <a:r>
              <a:rPr lang="ko-KR" altLang="en-US" sz="1000" dirty="0"/>
              <a:t> ADMIN_PASSWORD 값을 직접 채워야 함 (지금은 비어 있어서 로그인 자체가 막혀 있음 — 제가 테스트할 때도 실제 .</a:t>
            </a:r>
            <a:r>
              <a:rPr lang="ko-KR" altLang="en-US" sz="1000" dirty="0" err="1"/>
              <a:t>env엔</a:t>
            </a:r>
            <a:r>
              <a:rPr lang="ko-KR" altLang="en-US" sz="1000" dirty="0"/>
              <a:t> 안 쓰고 임시로만 넣었다 지웠습니다)---</a:t>
            </a:r>
            <a:r>
              <a:rPr lang="ko-KR" altLang="en-US" sz="1000" dirty="0" err="1"/>
              <a:t>A</a:t>
            </a:r>
            <a:r>
              <a:rPr lang="ko-KR" altLang="en-US" sz="1000" dirty="0"/>
              <a:t>. </a:t>
            </a:r>
            <a:r>
              <a:rPr lang="ko-KR" altLang="en-US" sz="1000" dirty="0" err="1"/>
              <a:t>파라메트릭보험무엇이</a:t>
            </a:r>
            <a:r>
              <a:rPr lang="ko-KR" altLang="en-US" sz="1000" dirty="0"/>
              <a:t> 되는지: 항공편 지연/폭염특보 조건 충족 시 청구 없이 자동지급.테스트:1. </a:t>
            </a:r>
            <a:r>
              <a:rPr lang="ko-KR" altLang="en-US" sz="1000" dirty="0" err="1"/>
              <a:t>Edge</a:t>
            </a:r>
            <a:r>
              <a:rPr lang="ko-KR" altLang="en-US" sz="1000" dirty="0"/>
              <a:t>(고객)에서 http://localhost:3000 → "🌦️ </a:t>
            </a:r>
            <a:r>
              <a:rPr lang="ko-KR" altLang="en-US" sz="1000" dirty="0" err="1"/>
              <a:t>파라메트릭보장</a:t>
            </a:r>
            <a:r>
              <a:rPr lang="ko-KR" altLang="en-US" sz="1000" dirty="0"/>
              <a:t>" 탭 → 상품 선택 → "선택한 상품 가입하기" (</a:t>
            </a:r>
            <a:r>
              <a:rPr lang="ko-KR" altLang="en-US" sz="1000" dirty="0" err="1"/>
              <a:t>MetaMask</a:t>
            </a:r>
            <a:r>
              <a:rPr lang="ko-KR" altLang="en-US" sz="1000" dirty="0"/>
              <a:t> 서명 2번: </a:t>
            </a:r>
            <a:r>
              <a:rPr lang="ko-KR" altLang="en-US" sz="1000" dirty="0" err="1"/>
              <a:t>approve+purchaseCoverage</a:t>
            </a:r>
            <a:r>
              <a:rPr lang="ko-KR" altLang="en-US" sz="1000" dirty="0"/>
              <a:t>)2. "내 </a:t>
            </a:r>
            <a:r>
              <a:rPr lang="ko-KR" altLang="en-US" sz="1000" dirty="0" err="1"/>
              <a:t>파라메트릭보험</a:t>
            </a:r>
            <a:r>
              <a:rPr lang="ko-KR" altLang="en-US" sz="1000" dirty="0"/>
              <a:t> </a:t>
            </a:r>
            <a:r>
              <a:rPr lang="ko-KR" altLang="en-US" sz="1000" dirty="0" err="1"/>
              <a:t>현황"에</a:t>
            </a:r>
            <a:r>
              <a:rPr lang="ko-KR" altLang="en-US" sz="1000" dirty="0"/>
              <a:t> "⏳ </a:t>
            </a:r>
            <a:r>
              <a:rPr lang="ko-KR" altLang="en-US" sz="1000" dirty="0" err="1"/>
              <a:t>관측대기</a:t>
            </a:r>
            <a:r>
              <a:rPr lang="ko-KR" altLang="en-US" sz="1000" dirty="0"/>
              <a:t>" 상태로 뜨는지 확인3. 결과를 바로 보려면 시간을 앞당김: </a:t>
            </a:r>
            <a:r>
              <a:rPr lang="ko-KR" altLang="en-US" sz="1000" dirty="0" err="1"/>
              <a:t>blockchain-dental에서</a:t>
            </a:r>
            <a:r>
              <a:rPr lang="ko-KR" altLang="en-US" sz="1000" dirty="0"/>
              <a:t> </a:t>
            </a:r>
            <a:r>
              <a:rPr lang="ko-KR" altLang="en-US" sz="1000" dirty="0" err="1"/>
              <a:t>node</a:t>
            </a:r>
            <a:r>
              <a:rPr lang="ko-KR" altLang="en-US" sz="1000" dirty="0"/>
              <a:t> </a:t>
            </a:r>
            <a:r>
              <a:rPr lang="ko-KR" altLang="en-US" sz="1000" dirty="0" err="1"/>
              <a:t>scripts</a:t>
            </a:r>
            <a:r>
              <a:rPr lang="ko-KR" altLang="en-US" sz="1000" dirty="0"/>
              <a:t>/advance-time.js 300000(초 단위, 넉넉히) → 탭 새로고침4. 또는 </a:t>
            </a:r>
            <a:r>
              <a:rPr lang="ko-KR" altLang="en-US" sz="1000" dirty="0" err="1"/>
              <a:t>CLI로</a:t>
            </a:r>
            <a:r>
              <a:rPr lang="ko-KR" altLang="en-US" sz="1000" dirty="0"/>
              <a:t> 직접: </a:t>
            </a:r>
            <a:r>
              <a:rPr lang="ko-KR" altLang="en-US" sz="1000" dirty="0" err="1"/>
              <a:t>node</a:t>
            </a:r>
            <a:r>
              <a:rPr lang="ko-KR" altLang="en-US" sz="1000" dirty="0"/>
              <a:t> </a:t>
            </a:r>
            <a:r>
              <a:rPr lang="ko-KR" altLang="en-US" sz="1000" dirty="0" err="1"/>
              <a:t>scripts</a:t>
            </a:r>
            <a:r>
              <a:rPr lang="ko-KR" altLang="en-US" sz="1000" dirty="0"/>
              <a:t>/query-parametric.js 0x</a:t>
            </a:r>
            <a:r>
              <a:rPr lang="ko-KR" altLang="en-US" sz="1000" dirty="0" smtClean="0"/>
              <a:t>고객지갑주소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ko-KR" altLang="en-US" sz="1000" dirty="0"/>
              <a:t>결과</a:t>
            </a:r>
            <a:r>
              <a:rPr lang="en-US" altLang="ko-KR" sz="1000" dirty="0"/>
              <a:t>: </a:t>
            </a:r>
            <a:r>
              <a:rPr lang="ko-KR" altLang="en-US" sz="1000" dirty="0"/>
              <a:t>관측 시점이 지나면 오라클</a:t>
            </a:r>
            <a:r>
              <a:rPr lang="en-US" altLang="ko-KR" sz="1000" dirty="0"/>
              <a:t>(parametric-oracle-service.js, run.bat</a:t>
            </a:r>
            <a:r>
              <a:rPr lang="ko-KR" altLang="en-US" sz="1000" dirty="0"/>
              <a:t>이 자동 기동</a:t>
            </a:r>
            <a:r>
              <a:rPr lang="en-US" altLang="ko-KR" sz="1000" dirty="0"/>
              <a:t>)</a:t>
            </a:r>
            <a:r>
              <a:rPr lang="ko-KR" altLang="en-US" sz="1000" dirty="0"/>
              <a:t>이 결정론적 시뮬레이션 </a:t>
            </a:r>
            <a:r>
              <a:rPr lang="ko-KR" altLang="en-US" sz="1000" dirty="0" err="1"/>
              <a:t>관측값으로</a:t>
            </a:r>
            <a:r>
              <a:rPr lang="ko-KR" altLang="en-US" sz="1000" dirty="0"/>
              <a:t> 자동 판정 </a:t>
            </a:r>
            <a:r>
              <a:rPr lang="en-US" altLang="ko-KR" sz="1000" dirty="0"/>
              <a:t>— "</a:t>
            </a:r>
            <a:r>
              <a:rPr lang="ko-KR" altLang="en-US" sz="1000" dirty="0"/>
              <a:t>🎯 </a:t>
            </a:r>
            <a:r>
              <a:rPr lang="ko-KR" altLang="en-US" sz="1000" dirty="0" err="1"/>
              <a:t>지급완료</a:t>
            </a:r>
            <a:r>
              <a:rPr lang="en-US" altLang="ko-KR" sz="1000" dirty="0"/>
              <a:t>"(</a:t>
            </a:r>
            <a:r>
              <a:rPr lang="ko-KR" altLang="en-US" sz="1000" dirty="0"/>
              <a:t>지갑 </a:t>
            </a:r>
            <a:r>
              <a:rPr lang="en-US" altLang="ko-KR" sz="1000" dirty="0"/>
              <a:t>USDC </a:t>
            </a:r>
            <a:r>
              <a:rPr lang="ko-KR" altLang="en-US" sz="1000" dirty="0"/>
              <a:t>잔액 증가</a:t>
            </a:r>
            <a:r>
              <a:rPr lang="en-US" altLang="ko-KR" sz="1000" dirty="0"/>
              <a:t>) </a:t>
            </a:r>
            <a:r>
              <a:rPr lang="ko-KR" altLang="en-US" sz="1000" dirty="0"/>
              <a:t>또는 </a:t>
            </a:r>
            <a:r>
              <a:rPr lang="en-US" altLang="ko-KR" sz="1000" dirty="0"/>
              <a:t>"⌛ </a:t>
            </a:r>
            <a:r>
              <a:rPr lang="ko-KR" altLang="en-US" sz="1000" dirty="0"/>
              <a:t>만료</a:t>
            </a:r>
            <a:r>
              <a:rPr lang="en-US" altLang="ko-KR" sz="1000" dirty="0"/>
              <a:t>(</a:t>
            </a:r>
            <a:r>
              <a:rPr lang="ko-KR" altLang="en-US" sz="1000" dirty="0"/>
              <a:t>미지급</a:t>
            </a:r>
            <a:r>
              <a:rPr lang="en-US" altLang="ko-KR" sz="1000" dirty="0"/>
              <a:t>)"</a:t>
            </a:r>
            <a:r>
              <a:rPr lang="ko-KR" altLang="en-US" sz="1000" dirty="0"/>
              <a:t>로 상태 전환</a:t>
            </a:r>
            <a:r>
              <a:rPr lang="en-US" altLang="ko-KR" sz="1000" dirty="0"/>
              <a:t>. ⚠️ </a:t>
            </a:r>
            <a:r>
              <a:rPr lang="ko-KR" altLang="en-US" sz="1000" dirty="0"/>
              <a:t>실제 항공</a:t>
            </a:r>
            <a:r>
              <a:rPr lang="en-US" altLang="ko-KR" sz="1000" dirty="0"/>
              <a:t>/</a:t>
            </a:r>
            <a:r>
              <a:rPr lang="ko-KR" altLang="en-US" sz="1000" dirty="0"/>
              <a:t>기상 </a:t>
            </a:r>
            <a:r>
              <a:rPr lang="en-US" altLang="ko-KR" sz="1000" dirty="0"/>
              <a:t>API</a:t>
            </a:r>
            <a:r>
              <a:rPr lang="ko-KR" altLang="en-US" sz="1000" dirty="0"/>
              <a:t>가 아니라 </a:t>
            </a:r>
            <a:r>
              <a:rPr lang="en-US" altLang="ko-KR" sz="1000" dirty="0" err="1"/>
              <a:t>coverageId</a:t>
            </a:r>
            <a:r>
              <a:rPr lang="en-US" altLang="ko-KR" sz="1000" dirty="0"/>
              <a:t> </a:t>
            </a:r>
            <a:r>
              <a:rPr lang="ko-KR" altLang="en-US" sz="1000" dirty="0"/>
              <a:t>기반 시뮬레이션이라 결과 자체는 매번 결정론적으로 같습니다</a:t>
            </a:r>
            <a:r>
              <a:rPr lang="en-US" altLang="ko-KR" sz="1000" dirty="0"/>
              <a:t>.---B. </a:t>
            </a:r>
            <a:r>
              <a:rPr lang="ko-KR" altLang="en-US" sz="1000" dirty="0" err="1"/>
              <a:t>씬파일러</a:t>
            </a:r>
            <a:r>
              <a:rPr lang="ko-KR" altLang="en-US" sz="1000" dirty="0"/>
              <a:t> 유연납입무엇이 되는지</a:t>
            </a:r>
            <a:r>
              <a:rPr lang="en-US" altLang="ko-KR" sz="1000" dirty="0"/>
              <a:t>: </a:t>
            </a:r>
            <a:r>
              <a:rPr lang="ko-KR" altLang="en-US" sz="1000" dirty="0"/>
              <a:t>청약 시 체크박스 신청 → 연체돼도</a:t>
            </a:r>
            <a:r>
              <a:rPr lang="en-US" altLang="ko-KR" sz="1000" dirty="0"/>
              <a:t>(2</a:t>
            </a:r>
            <a:r>
              <a:rPr lang="ko-KR" altLang="en-US" sz="1000" dirty="0" err="1"/>
              <a:t>회차</a:t>
            </a:r>
            <a:r>
              <a:rPr lang="ko-KR" altLang="en-US" sz="1000" dirty="0"/>
              <a:t> 납입부터</a:t>
            </a:r>
            <a:r>
              <a:rPr lang="en-US" altLang="ko-KR" sz="1000" dirty="0"/>
              <a:t>) </a:t>
            </a:r>
            <a:r>
              <a:rPr lang="ko-KR" altLang="en-US" sz="1000" dirty="0"/>
              <a:t>사람 개입 없이 </a:t>
            </a:r>
            <a:r>
              <a:rPr lang="ko-KR" altLang="en-US" sz="1000" dirty="0" err="1"/>
              <a:t>약관대출로</a:t>
            </a:r>
            <a:r>
              <a:rPr lang="ko-KR" altLang="en-US" sz="1000" dirty="0"/>
              <a:t> 자동 대환</a:t>
            </a:r>
            <a:r>
              <a:rPr lang="en-US" altLang="ko-KR" sz="1000" dirty="0"/>
              <a:t>.</a:t>
            </a:r>
            <a:r>
              <a:rPr lang="ko-KR" altLang="en-US" sz="1000" dirty="0"/>
              <a:t>빠른 검증</a:t>
            </a:r>
            <a:r>
              <a:rPr lang="en-US" altLang="ko-KR" sz="1000" dirty="0"/>
              <a:t>(</a:t>
            </a:r>
            <a:r>
              <a:rPr lang="ko-KR" altLang="en-US" sz="1000" dirty="0"/>
              <a:t>가장 확실함</a:t>
            </a:r>
            <a:r>
              <a:rPr lang="en-US" altLang="ko-KR" sz="1000" dirty="0"/>
              <a:t>): </a:t>
            </a:r>
            <a:r>
              <a:rPr lang="en-US" altLang="ko-KR" sz="1000" dirty="0" err="1"/>
              <a:t>blockchain</a:t>
            </a:r>
            <a:r>
              <a:rPr lang="en-US" altLang="ko-KR" sz="1000" dirty="0"/>
              <a:t>-dental</a:t>
            </a:r>
            <a:r>
              <a:rPr lang="ko-KR" altLang="en-US" sz="1000" dirty="0"/>
              <a:t>에서 </a:t>
            </a:r>
            <a:r>
              <a:rPr lang="en-US" altLang="ko-KR" sz="1000" dirty="0" err="1"/>
              <a:t>npx</a:t>
            </a:r>
            <a:r>
              <a:rPr lang="en-US" altLang="ko-KR" sz="1000" dirty="0"/>
              <a:t> hardhat test --</a:t>
            </a:r>
            <a:r>
              <a:rPr lang="en-US" altLang="ko-KR" sz="1000" dirty="0" err="1"/>
              <a:t>grep</a:t>
            </a:r>
            <a:r>
              <a:rPr lang="en-US" altLang="ko-KR" sz="1000" dirty="0"/>
              <a:t> "</a:t>
            </a:r>
            <a:r>
              <a:rPr lang="ko-KR" altLang="en-US" sz="1000" dirty="0" err="1"/>
              <a:t>유연납입</a:t>
            </a:r>
            <a:r>
              <a:rPr lang="en-US" altLang="ko-KR" sz="1000" dirty="0"/>
              <a:t>" → 6</a:t>
            </a:r>
            <a:r>
              <a:rPr lang="ko-KR" altLang="en-US" sz="1000" dirty="0"/>
              <a:t>개 테스트가 실제로 </a:t>
            </a:r>
            <a:r>
              <a:rPr lang="ko-KR" altLang="en-US" sz="1000" dirty="0" err="1"/>
              <a:t>온체인</a:t>
            </a:r>
            <a:r>
              <a:rPr lang="ko-KR" altLang="en-US" sz="1000" dirty="0"/>
              <a:t> 시나리오</a:t>
            </a:r>
            <a:r>
              <a:rPr lang="en-US" altLang="ko-KR" sz="1000" dirty="0"/>
              <a:t>(</a:t>
            </a:r>
            <a:r>
              <a:rPr lang="ko-KR" altLang="en-US" sz="1000" dirty="0"/>
              <a:t>대환 성공</a:t>
            </a:r>
            <a:r>
              <a:rPr lang="en-US" altLang="ko-KR" sz="1000" dirty="0"/>
              <a:t>/</a:t>
            </a:r>
            <a:r>
              <a:rPr lang="en-US" altLang="ko-KR" sz="1000" dirty="0" err="1"/>
              <a:t>flexiblePayment</a:t>
            </a:r>
            <a:r>
              <a:rPr lang="en-US" altLang="ko-KR" sz="1000" dirty="0"/>
              <a:t> </a:t>
            </a:r>
            <a:r>
              <a:rPr lang="ko-KR" altLang="en-US" sz="1000" dirty="0"/>
              <a:t>꺼짐</a:t>
            </a:r>
            <a:r>
              <a:rPr lang="en-US" altLang="ko-KR" sz="1000" dirty="0"/>
              <a:t>/</a:t>
            </a:r>
            <a:r>
              <a:rPr lang="ko-KR" altLang="en-US" sz="1000" dirty="0"/>
              <a:t>기한 전</a:t>
            </a:r>
            <a:r>
              <a:rPr lang="en-US" altLang="ko-KR" sz="1000" dirty="0"/>
              <a:t>/</a:t>
            </a:r>
            <a:r>
              <a:rPr lang="ko-KR" altLang="en-US" sz="1000" dirty="0" err="1"/>
              <a:t>기존대출</a:t>
            </a:r>
            <a:r>
              <a:rPr lang="ko-KR" altLang="en-US" sz="1000" dirty="0"/>
              <a:t> 있음 등</a:t>
            </a:r>
            <a:r>
              <a:rPr lang="en-US" altLang="ko-KR" sz="1000" dirty="0"/>
              <a:t>)</a:t>
            </a:r>
            <a:r>
              <a:rPr lang="ko-KR" altLang="en-US" sz="1000" dirty="0"/>
              <a:t>를 검증합니다</a:t>
            </a:r>
            <a:r>
              <a:rPr lang="en-US" altLang="ko-KR" sz="1000" dirty="0"/>
              <a:t>.UI </a:t>
            </a:r>
            <a:r>
              <a:rPr lang="ko-KR" altLang="en-US" sz="1000" dirty="0"/>
              <a:t>테스트</a:t>
            </a:r>
            <a:r>
              <a:rPr lang="en-US" altLang="ko-KR" sz="1000" dirty="0"/>
              <a:t>:1. "</a:t>
            </a:r>
            <a:r>
              <a:rPr lang="ko-KR" altLang="en-US" sz="1000" dirty="0"/>
              <a:t>📝 계약 심사</a:t>
            </a:r>
            <a:r>
              <a:rPr lang="en-US" altLang="ko-KR" sz="1000" dirty="0"/>
              <a:t>" </a:t>
            </a:r>
            <a:r>
              <a:rPr lang="ko-KR" altLang="en-US" sz="1000" dirty="0"/>
              <a:t>탭 → </a:t>
            </a:r>
            <a:r>
              <a:rPr lang="en-US" altLang="ko-KR" sz="1000" dirty="0"/>
              <a:t>"</a:t>
            </a:r>
            <a:r>
              <a:rPr lang="ko-KR" altLang="en-US" sz="1000" dirty="0" err="1"/>
              <a:t>씬파일러</a:t>
            </a:r>
            <a:r>
              <a:rPr lang="ko-KR" altLang="en-US" sz="1000" dirty="0"/>
              <a:t> </a:t>
            </a:r>
            <a:r>
              <a:rPr lang="ko-KR" altLang="en-US" sz="1000" dirty="0" err="1"/>
              <a:t>신용보완</a:t>
            </a:r>
            <a:r>
              <a:rPr lang="ko-KR" altLang="en-US" sz="1000" dirty="0"/>
              <a:t> </a:t>
            </a:r>
            <a:r>
              <a:rPr lang="ko-KR" altLang="en-US" sz="1000" dirty="0" err="1"/>
              <a:t>유연납입</a:t>
            </a:r>
            <a:r>
              <a:rPr lang="ko-KR" altLang="en-US" sz="1000" dirty="0"/>
              <a:t> 신청</a:t>
            </a:r>
            <a:r>
              <a:rPr lang="en-US" altLang="ko-KR" sz="1000" dirty="0"/>
              <a:t>" </a:t>
            </a:r>
            <a:r>
              <a:rPr lang="ko-KR" altLang="en-US" sz="1000" dirty="0"/>
              <a:t>체크 → 담보 </a:t>
            </a:r>
            <a:r>
              <a:rPr lang="en-US" altLang="ko-KR" sz="1000" dirty="0"/>
              <a:t>2</a:t>
            </a:r>
            <a:r>
              <a:rPr lang="ko-KR" altLang="en-US" sz="1000" dirty="0"/>
              <a:t>개 선택 후 청약</a:t>
            </a:r>
            <a:r>
              <a:rPr lang="en-US" altLang="ko-KR" sz="1000" dirty="0"/>
              <a:t>(</a:t>
            </a:r>
            <a:r>
              <a:rPr lang="ko-KR" altLang="en-US" sz="1000" dirty="0"/>
              <a:t>즉시 </a:t>
            </a:r>
            <a:r>
              <a:rPr lang="ko-KR" altLang="en-US" sz="1000" dirty="0" err="1"/>
              <a:t>자동승인</a:t>
            </a:r>
            <a:r>
              <a:rPr lang="en-US" altLang="ko-KR" sz="1000" dirty="0"/>
              <a:t>)2. "</a:t>
            </a:r>
            <a:r>
              <a:rPr lang="ko-KR" altLang="en-US" sz="1000" dirty="0"/>
              <a:t>보험료 납입</a:t>
            </a:r>
            <a:r>
              <a:rPr lang="en-US" altLang="ko-KR" sz="1000" dirty="0"/>
              <a:t>" </a:t>
            </a:r>
            <a:r>
              <a:rPr lang="ko-KR" altLang="en-US" sz="1000" dirty="0"/>
              <a:t>탭에서 </a:t>
            </a:r>
            <a:r>
              <a:rPr lang="en-US" altLang="ko-KR" sz="1000" dirty="0"/>
              <a:t>2</a:t>
            </a:r>
            <a:r>
              <a:rPr lang="ko-KR" altLang="en-US" sz="1000" dirty="0"/>
              <a:t>회 납입</a:t>
            </a:r>
            <a:r>
              <a:rPr lang="en-US" altLang="ko-KR" sz="1000" dirty="0"/>
              <a:t>(1</a:t>
            </a:r>
            <a:r>
              <a:rPr lang="ko-KR" altLang="en-US" sz="1000" dirty="0" err="1"/>
              <a:t>회차만으론</a:t>
            </a:r>
            <a:r>
              <a:rPr lang="ko-KR" altLang="en-US" sz="1000" dirty="0"/>
              <a:t> 대출한도가 안 나옴 </a:t>
            </a:r>
            <a:r>
              <a:rPr lang="en-US" altLang="ko-KR" sz="1000" dirty="0"/>
              <a:t>— </a:t>
            </a:r>
            <a:r>
              <a:rPr lang="ko-KR" altLang="en-US" sz="1000" dirty="0" err="1"/>
              <a:t>해지환급금</a:t>
            </a:r>
            <a:r>
              <a:rPr lang="ko-KR" altLang="en-US" sz="1000" dirty="0"/>
              <a:t> 기반이라 최소 </a:t>
            </a:r>
            <a:r>
              <a:rPr lang="en-US" altLang="ko-KR" sz="1000" dirty="0"/>
              <a:t>2</a:t>
            </a:r>
            <a:r>
              <a:rPr lang="ko-KR" altLang="en-US" sz="1000" dirty="0"/>
              <a:t>회 필요</a:t>
            </a:r>
            <a:r>
              <a:rPr lang="en-US" altLang="ko-KR" sz="1000" dirty="0"/>
              <a:t>)3. run.bat</a:t>
            </a:r>
            <a:r>
              <a:rPr lang="ko-KR" altLang="en-US" sz="1000" dirty="0"/>
              <a:t>이 띄운 </a:t>
            </a:r>
            <a:r>
              <a:rPr lang="en-US" altLang="ko-KR" sz="1000" dirty="0"/>
              <a:t>premium-scheduler.js </a:t>
            </a:r>
            <a:r>
              <a:rPr lang="ko-KR" altLang="en-US" sz="1000" dirty="0"/>
              <a:t>콘솔 창을 보면서</a:t>
            </a:r>
            <a:r>
              <a:rPr lang="en-US" altLang="ko-KR" sz="1000" dirty="0"/>
              <a:t>, </a:t>
            </a:r>
            <a:r>
              <a:rPr lang="ko-KR" altLang="en-US" sz="1000" dirty="0"/>
              <a:t>다음 납입 기한을 넘기고</a:t>
            </a:r>
            <a:r>
              <a:rPr lang="en-US" altLang="ko-KR" sz="1000" dirty="0"/>
              <a:t>(approve</a:t>
            </a:r>
            <a:r>
              <a:rPr lang="ko-KR" altLang="en-US" sz="1000" dirty="0"/>
              <a:t>를 일부러 안 해두면 연체 상황 재현</a:t>
            </a:r>
            <a:r>
              <a:rPr lang="en-US" altLang="ko-KR" sz="1000" dirty="0"/>
              <a:t>) 30</a:t>
            </a:r>
            <a:r>
              <a:rPr lang="ko-KR" altLang="en-US" sz="1000" dirty="0"/>
              <a:t>초 </a:t>
            </a:r>
            <a:r>
              <a:rPr lang="ko-KR" altLang="en-US" sz="1000" dirty="0" err="1"/>
              <a:t>폴링</a:t>
            </a:r>
            <a:r>
              <a:rPr lang="ko-KR" altLang="en-US" sz="1000" dirty="0"/>
              <a:t> 로그 확인결과</a:t>
            </a:r>
            <a:r>
              <a:rPr lang="en-US" altLang="ko-KR" sz="1000" dirty="0"/>
              <a:t>: </a:t>
            </a:r>
            <a:r>
              <a:rPr lang="ko-KR" altLang="en-US" sz="1000" dirty="0"/>
              <a:t>로그에 🔁 </a:t>
            </a:r>
            <a:r>
              <a:rPr lang="ko-KR" altLang="en-US" sz="1000" dirty="0" err="1"/>
              <a:t>유연납입</a:t>
            </a:r>
            <a:r>
              <a:rPr lang="ko-KR" altLang="en-US" sz="1000" dirty="0"/>
              <a:t> </a:t>
            </a:r>
            <a:r>
              <a:rPr lang="en-US" altLang="ko-KR" sz="1000" dirty="0"/>
              <a:t>— </a:t>
            </a:r>
            <a:r>
              <a:rPr lang="ko-KR" altLang="en-US" sz="1000" dirty="0"/>
              <a:t>증권 </a:t>
            </a:r>
            <a:r>
              <a:rPr lang="en-US" altLang="ko-KR" sz="1000" dirty="0"/>
              <a:t>#N </a:t>
            </a:r>
            <a:r>
              <a:rPr lang="ko-KR" altLang="en-US" sz="1000" dirty="0"/>
              <a:t>연체 보험료를 </a:t>
            </a:r>
            <a:r>
              <a:rPr lang="ko-KR" altLang="en-US" sz="1000" dirty="0" err="1"/>
              <a:t>약관대출로</a:t>
            </a:r>
            <a:r>
              <a:rPr lang="ko-KR" altLang="en-US" sz="1000" dirty="0"/>
              <a:t> 자동 대환 완료</a:t>
            </a:r>
            <a:r>
              <a:rPr lang="en-US" altLang="ko-KR" sz="1000" dirty="0"/>
              <a:t>, "</a:t>
            </a:r>
            <a:r>
              <a:rPr lang="ko-KR" altLang="en-US" sz="1000" dirty="0"/>
              <a:t>💵 약관대출</a:t>
            </a:r>
            <a:r>
              <a:rPr lang="en-US" altLang="ko-KR" sz="1000" dirty="0"/>
              <a:t>" </a:t>
            </a:r>
            <a:r>
              <a:rPr lang="ko-KR" altLang="en-US" sz="1000" dirty="0"/>
              <a:t>탭에 대출 원금</a:t>
            </a:r>
            <a:r>
              <a:rPr lang="en-US" altLang="ko-KR" sz="1000" dirty="0"/>
              <a:t>=</a:t>
            </a:r>
            <a:r>
              <a:rPr lang="ko-KR" altLang="en-US" sz="1000" dirty="0" err="1"/>
              <a:t>월보험료로</a:t>
            </a:r>
            <a:r>
              <a:rPr lang="ko-KR" altLang="en-US" sz="1000" dirty="0"/>
              <a:t> 자동 표시</a:t>
            </a:r>
            <a:r>
              <a:rPr lang="en-US" altLang="ko-KR" sz="1000" dirty="0"/>
              <a:t>.---C. </a:t>
            </a:r>
            <a:r>
              <a:rPr lang="ko-KR" altLang="en-US" sz="1000" dirty="0" err="1"/>
              <a:t>웰니스</a:t>
            </a:r>
            <a:r>
              <a:rPr lang="ko-KR" altLang="en-US" sz="1000" dirty="0"/>
              <a:t> 연동 동적 보험료 </a:t>
            </a:r>
            <a:r>
              <a:rPr lang="en-US" altLang="ko-KR" sz="1000" dirty="0"/>
              <a:t>(</a:t>
            </a:r>
            <a:r>
              <a:rPr lang="ko-KR" altLang="en-US" sz="1000" dirty="0"/>
              <a:t>제가 직접 재현했던 것</a:t>
            </a:r>
            <a:r>
              <a:rPr lang="en-US" altLang="ko-KR" sz="1000" dirty="0"/>
              <a:t>)</a:t>
            </a:r>
            <a:r>
              <a:rPr lang="ko-KR" altLang="en-US" sz="1000" dirty="0"/>
              <a:t>테스트</a:t>
            </a:r>
            <a:r>
              <a:rPr lang="en-US" altLang="ko-KR" sz="1000" dirty="0"/>
              <a:t>: </a:t>
            </a:r>
            <a:r>
              <a:rPr lang="ko-KR" altLang="en-US" sz="1000" dirty="0" err="1"/>
              <a:t>챗봇</a:t>
            </a:r>
            <a:r>
              <a:rPr lang="en-US" altLang="ko-KR" sz="1000" dirty="0"/>
              <a:t>(http://localhost:5000)</a:t>
            </a:r>
            <a:r>
              <a:rPr lang="ko-KR" altLang="en-US" sz="1000" dirty="0"/>
              <a:t>에서 지갑 등록 후</a:t>
            </a:r>
            <a:r>
              <a:rPr lang="en-US" altLang="ko-KR" sz="1000" dirty="0"/>
              <a:t>,1</a:t>
            </a:r>
            <a:r>
              <a:rPr lang="ko-KR" altLang="en-US" sz="1000" dirty="0"/>
              <a:t>차</a:t>
            </a:r>
            <a:r>
              <a:rPr lang="en-US" altLang="ko-KR" sz="1000" dirty="0"/>
              <a:t>: "48</a:t>
            </a:r>
            <a:r>
              <a:rPr lang="ko-KR" altLang="en-US" sz="1000" dirty="0"/>
              <a:t>세 남자</a:t>
            </a:r>
            <a:r>
              <a:rPr lang="en-US" altLang="ko-KR" sz="1000" dirty="0"/>
              <a:t>, </a:t>
            </a:r>
            <a:r>
              <a:rPr lang="ko-KR" altLang="en-US" sz="1000" dirty="0"/>
              <a:t>키</a:t>
            </a:r>
            <a:r>
              <a:rPr lang="en-US" altLang="ko-KR" sz="1000" dirty="0"/>
              <a:t>172 </a:t>
            </a:r>
            <a:r>
              <a:rPr lang="ko-KR" altLang="en-US" sz="1000" dirty="0"/>
              <a:t>몸무게</a:t>
            </a:r>
            <a:r>
              <a:rPr lang="en-US" altLang="ko-KR" sz="1000" dirty="0"/>
              <a:t>95, </a:t>
            </a:r>
            <a:r>
              <a:rPr lang="ko-KR" altLang="en-US" sz="1000" dirty="0"/>
              <a:t>혈압</a:t>
            </a:r>
            <a:r>
              <a:rPr lang="en-US" altLang="ko-KR" sz="1000" dirty="0"/>
              <a:t>150/95, </a:t>
            </a:r>
            <a:r>
              <a:rPr lang="ko-KR" altLang="en-US" sz="1000" dirty="0"/>
              <a:t>중성지방</a:t>
            </a:r>
            <a:r>
              <a:rPr lang="en-US" altLang="ko-KR" sz="1000" dirty="0"/>
              <a:t>250, HDL35, </a:t>
            </a:r>
            <a:r>
              <a:rPr lang="ko-KR" altLang="en-US" sz="1000" dirty="0" err="1"/>
              <a:t>감마지티피</a:t>
            </a:r>
            <a:r>
              <a:rPr lang="en-US" altLang="ko-KR" sz="1000" dirty="0"/>
              <a:t>90, </a:t>
            </a:r>
            <a:r>
              <a:rPr lang="ko-KR" altLang="en-US" sz="1000" dirty="0"/>
              <a:t>흡연</a:t>
            </a:r>
            <a:r>
              <a:rPr lang="en-US" altLang="ko-KR" sz="1000" dirty="0"/>
              <a:t>, </a:t>
            </a:r>
            <a:r>
              <a:rPr lang="ko-KR" altLang="en-US" sz="1000" dirty="0"/>
              <a:t>음주 </a:t>
            </a:r>
            <a:r>
              <a:rPr lang="en-US" altLang="ko-KR" sz="1000" dirty="0"/>
              <a:t>— </a:t>
            </a:r>
            <a:r>
              <a:rPr lang="ko-KR" altLang="en-US" sz="1000" dirty="0"/>
              <a:t>건강 상태 알려줘</a:t>
            </a:r>
            <a:r>
              <a:rPr lang="en-US" altLang="ko-KR" sz="1000" dirty="0"/>
              <a:t>"2</a:t>
            </a:r>
            <a:r>
              <a:rPr lang="ko-KR" altLang="en-US" sz="1000" dirty="0"/>
              <a:t>차</a:t>
            </a:r>
            <a:r>
              <a:rPr lang="en-US" altLang="ko-KR" sz="1000" dirty="0"/>
              <a:t>(</a:t>
            </a:r>
            <a:r>
              <a:rPr lang="ko-KR" altLang="en-US" sz="1000" dirty="0"/>
              <a:t>개선</a:t>
            </a:r>
            <a:r>
              <a:rPr lang="en-US" altLang="ko-KR" sz="1000" dirty="0"/>
              <a:t>): "</a:t>
            </a:r>
            <a:r>
              <a:rPr lang="ko-KR" altLang="en-US" sz="1000" dirty="0"/>
              <a:t>키</a:t>
            </a:r>
            <a:r>
              <a:rPr lang="en-US" altLang="ko-KR" sz="1000" dirty="0"/>
              <a:t>172 </a:t>
            </a:r>
            <a:r>
              <a:rPr lang="ko-KR" altLang="en-US" sz="1000" dirty="0"/>
              <a:t>몸무게</a:t>
            </a:r>
            <a:r>
              <a:rPr lang="en-US" altLang="ko-KR" sz="1000" dirty="0"/>
              <a:t>78, </a:t>
            </a:r>
            <a:r>
              <a:rPr lang="ko-KR" altLang="en-US" sz="1000" dirty="0"/>
              <a:t>혈압</a:t>
            </a:r>
            <a:r>
              <a:rPr lang="en-US" altLang="ko-KR" sz="1000" dirty="0"/>
              <a:t>120/78, </a:t>
            </a:r>
            <a:r>
              <a:rPr lang="ko-KR" altLang="en-US" sz="1000" dirty="0"/>
              <a:t>중성지방</a:t>
            </a:r>
            <a:r>
              <a:rPr lang="en-US" altLang="ko-KR" sz="1000" dirty="0"/>
              <a:t>120, HDL55, </a:t>
            </a:r>
            <a:r>
              <a:rPr lang="ko-KR" altLang="en-US" sz="1000" dirty="0" err="1"/>
              <a:t>감마지티피</a:t>
            </a:r>
            <a:r>
              <a:rPr lang="en-US" altLang="ko-KR" sz="1000" dirty="0"/>
              <a:t>25, </a:t>
            </a:r>
            <a:r>
              <a:rPr lang="ko-KR" altLang="en-US" sz="1000" dirty="0" err="1"/>
              <a:t>비흡연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비음주로</a:t>
            </a:r>
            <a:r>
              <a:rPr lang="ko-KR" altLang="en-US" sz="1000" dirty="0"/>
              <a:t> 좋아졌어</a:t>
            </a:r>
            <a:r>
              <a:rPr lang="en-US" altLang="ko-KR" sz="1000" dirty="0"/>
              <a:t>"</a:t>
            </a:r>
            <a:r>
              <a:rPr lang="ko-KR" altLang="en-US" sz="1000" dirty="0"/>
              <a:t>결과</a:t>
            </a:r>
            <a:r>
              <a:rPr lang="en-US" altLang="ko-KR" sz="1000" dirty="0"/>
              <a:t>: 1</a:t>
            </a:r>
            <a:r>
              <a:rPr lang="ko-KR" altLang="en-US" sz="1000" dirty="0"/>
              <a:t>차는 </a:t>
            </a:r>
            <a:r>
              <a:rPr lang="en-US" altLang="ko-KR" sz="1000" dirty="0"/>
              <a:t>"</a:t>
            </a:r>
            <a:r>
              <a:rPr lang="ko-KR" altLang="en-US" sz="1000" dirty="0"/>
              <a:t>최초 체크인 등록</a:t>
            </a:r>
            <a:r>
              <a:rPr lang="en-US" altLang="ko-KR" sz="1000" dirty="0"/>
              <a:t>"</a:t>
            </a:r>
            <a:r>
              <a:rPr lang="ko-KR" altLang="en-US" sz="1000" dirty="0"/>
              <a:t>만</a:t>
            </a:r>
            <a:r>
              <a:rPr lang="en-US" altLang="ko-KR" sz="1000" dirty="0"/>
              <a:t>, 2</a:t>
            </a:r>
            <a:r>
              <a:rPr lang="ko-KR" altLang="en-US" sz="1000" dirty="0"/>
              <a:t>차에서 </a:t>
            </a:r>
            <a:r>
              <a:rPr lang="ko-KR" altLang="en-US" sz="1000" dirty="0" err="1"/>
              <a:t>챗봇이</a:t>
            </a:r>
            <a:r>
              <a:rPr lang="ko-KR" altLang="en-US" sz="1000" dirty="0"/>
              <a:t> </a:t>
            </a:r>
            <a:r>
              <a:rPr lang="en-US" altLang="ko-KR" sz="1000" dirty="0"/>
              <a:t>"N% </a:t>
            </a:r>
            <a:r>
              <a:rPr lang="ko-KR" altLang="en-US" sz="1000" dirty="0"/>
              <a:t>할인 조정</a:t>
            </a:r>
            <a:r>
              <a:rPr lang="en-US" altLang="ko-KR" sz="1000" dirty="0"/>
              <a:t>" </a:t>
            </a:r>
            <a:r>
              <a:rPr lang="ko-KR" altLang="en-US" sz="1000" dirty="0"/>
              <a:t>메시지 응답 </a:t>
            </a:r>
            <a:r>
              <a:rPr lang="en-US" altLang="ko-KR" sz="1000" dirty="0"/>
              <a:t>+ node scripts/query-policy.js </a:t>
            </a:r>
            <a:r>
              <a:rPr lang="ko-KR" altLang="en-US" sz="1000" dirty="0" err="1"/>
              <a:t>지갑주소로</a:t>
            </a:r>
            <a:r>
              <a:rPr lang="ko-KR" altLang="en-US" sz="1000" dirty="0"/>
              <a:t> </a:t>
            </a:r>
            <a:r>
              <a:rPr lang="en-US" altLang="ko-KR" sz="1000" dirty="0" err="1"/>
              <a:t>monthlyPremium</a:t>
            </a:r>
            <a:r>
              <a:rPr lang="ko-KR" altLang="en-US" sz="1000" dirty="0"/>
              <a:t>이 실제로 줄어든 걸 직접 확인 가능</a:t>
            </a:r>
            <a:r>
              <a:rPr lang="en-US" altLang="ko-KR" sz="1000" dirty="0"/>
              <a:t>. </a:t>
            </a:r>
            <a:r>
              <a:rPr lang="ko-KR" altLang="en-US" sz="1000" dirty="0"/>
              <a:t>프론트 </a:t>
            </a:r>
            <a:r>
              <a:rPr lang="en-US" altLang="ko-KR" sz="1000" dirty="0"/>
              <a:t>"</a:t>
            </a:r>
            <a:r>
              <a:rPr lang="ko-KR" altLang="en-US" sz="1000" dirty="0"/>
              <a:t>보험료 납입</a:t>
            </a:r>
            <a:r>
              <a:rPr lang="en-US" altLang="ko-KR" sz="1000" dirty="0"/>
              <a:t>" </a:t>
            </a:r>
            <a:r>
              <a:rPr lang="ko-KR" altLang="en-US" sz="1000" dirty="0"/>
              <a:t>탭 이력에도 </a:t>
            </a:r>
            <a:r>
              <a:rPr lang="en-US" altLang="ko-KR" sz="1000" dirty="0"/>
              <a:t>"</a:t>
            </a:r>
            <a:r>
              <a:rPr lang="ko-KR" altLang="en-US" sz="1000" dirty="0"/>
              <a:t>🩺 </a:t>
            </a:r>
            <a:r>
              <a:rPr lang="ko-KR" altLang="en-US" sz="1000" dirty="0" err="1"/>
              <a:t>웰니스조정</a:t>
            </a:r>
            <a:r>
              <a:rPr lang="en-US" altLang="ko-KR" sz="1000" dirty="0"/>
              <a:t>" </a:t>
            </a:r>
            <a:r>
              <a:rPr lang="ko-KR" altLang="en-US" sz="1000" dirty="0"/>
              <a:t>배지 행 추가됨</a:t>
            </a:r>
            <a:r>
              <a:rPr lang="en-US" altLang="ko-KR" sz="1000" dirty="0" smtClean="0"/>
              <a:t>.---</a:t>
            </a:r>
          </a:p>
          <a:p>
            <a:endParaRPr lang="en-US" altLang="ko-KR" sz="1000" dirty="0"/>
          </a:p>
          <a:p>
            <a:r>
              <a:rPr lang="en-US" altLang="ko-KR" sz="1000" dirty="0"/>
              <a:t>D. </a:t>
            </a:r>
            <a:r>
              <a:rPr lang="ko-KR" altLang="en-US" sz="1000" dirty="0"/>
              <a:t>재보험풀테스트</a:t>
            </a:r>
            <a:r>
              <a:rPr lang="en-US" altLang="ko-KR" sz="1000" dirty="0"/>
              <a:t>:1. </a:t>
            </a:r>
            <a:r>
              <a:rPr lang="ko-KR" altLang="en-US" sz="1000" dirty="0"/>
              <a:t>아무 계정에서 </a:t>
            </a:r>
            <a:r>
              <a:rPr lang="en-US" altLang="ko-KR" sz="1000" dirty="0"/>
              <a:t>"</a:t>
            </a:r>
            <a:r>
              <a:rPr lang="ko-KR" altLang="en-US" sz="1000" dirty="0"/>
              <a:t>🛡️ </a:t>
            </a:r>
            <a:r>
              <a:rPr lang="ko-KR" altLang="en-US" sz="1000" dirty="0" err="1"/>
              <a:t>재보험풀</a:t>
            </a:r>
            <a:r>
              <a:rPr lang="en-US" altLang="ko-KR" sz="1000" dirty="0"/>
              <a:t>" </a:t>
            </a:r>
            <a:r>
              <a:rPr lang="ko-KR" altLang="en-US" sz="1000" dirty="0"/>
              <a:t>탭 → 금액 입력 → </a:t>
            </a:r>
            <a:r>
              <a:rPr lang="en-US" altLang="ko-KR" sz="1000" dirty="0"/>
              <a:t>"</a:t>
            </a:r>
            <a:r>
              <a:rPr lang="ko-KR" altLang="en-US" sz="1000" dirty="0"/>
              <a:t>예치하기</a:t>
            </a:r>
            <a:r>
              <a:rPr lang="en-US" altLang="ko-KR" sz="1000" dirty="0"/>
              <a:t>"(</a:t>
            </a:r>
            <a:r>
              <a:rPr lang="ko-KR" altLang="en-US" sz="1000" dirty="0"/>
              <a:t>서명 </a:t>
            </a:r>
            <a:r>
              <a:rPr lang="en-US" altLang="ko-KR" sz="1000" dirty="0"/>
              <a:t>2</a:t>
            </a:r>
            <a:r>
              <a:rPr lang="ko-KR" altLang="en-US" sz="1000" dirty="0"/>
              <a:t>번</a:t>
            </a:r>
            <a:r>
              <a:rPr lang="en-US" altLang="ko-KR" sz="1000" dirty="0"/>
              <a:t>)2. </a:t>
            </a:r>
            <a:r>
              <a:rPr lang="ko-KR" altLang="en-US" sz="1000" dirty="0"/>
              <a:t>다른 계정으로 </a:t>
            </a:r>
            <a:r>
              <a:rPr lang="en-US" altLang="ko-KR" sz="1000" dirty="0"/>
              <a:t>"</a:t>
            </a:r>
            <a:r>
              <a:rPr lang="ko-KR" altLang="en-US" sz="1000" dirty="0"/>
              <a:t>보험료 납입</a:t>
            </a:r>
            <a:r>
              <a:rPr lang="en-US" altLang="ko-KR" sz="1000" dirty="0"/>
              <a:t>" </a:t>
            </a:r>
            <a:r>
              <a:rPr lang="ko-KR" altLang="en-US" sz="1000" dirty="0"/>
              <a:t>탭에서 증권 </a:t>
            </a:r>
            <a:r>
              <a:rPr lang="en-US" altLang="ko-KR" sz="1000" dirty="0"/>
              <a:t>1</a:t>
            </a:r>
            <a:r>
              <a:rPr lang="ko-KR" altLang="en-US" sz="1000" dirty="0"/>
              <a:t>건 납입</a:t>
            </a:r>
            <a:r>
              <a:rPr lang="en-US" altLang="ko-KR" sz="1000" dirty="0"/>
              <a:t>3. </a:t>
            </a:r>
            <a:r>
              <a:rPr lang="ko-KR" altLang="en-US" sz="1000" dirty="0" err="1"/>
              <a:t>재보험풀</a:t>
            </a:r>
            <a:r>
              <a:rPr lang="ko-KR" altLang="en-US" sz="1000" dirty="0"/>
              <a:t> 탭 </a:t>
            </a:r>
            <a:r>
              <a:rPr lang="ko-KR" altLang="en-US" sz="1000" dirty="0" err="1"/>
              <a:t>새로고침</a:t>
            </a:r>
            <a:r>
              <a:rPr lang="ko-KR" altLang="en-US" sz="1000" dirty="0"/>
              <a:t> → 풀 총자산이 납입액 </a:t>
            </a:r>
            <a:r>
              <a:rPr lang="en-US" altLang="ko-KR" sz="1000" dirty="0"/>
              <a:t>× 5%</a:t>
            </a:r>
            <a:r>
              <a:rPr lang="ko-KR" altLang="en-US" sz="1000" dirty="0"/>
              <a:t>만큼 늘었는지</a:t>
            </a:r>
            <a:r>
              <a:rPr lang="en-US" altLang="ko-KR" sz="1000" dirty="0"/>
              <a:t>, </a:t>
            </a:r>
            <a:r>
              <a:rPr lang="ko-KR" altLang="en-US" sz="1000" dirty="0"/>
              <a:t>내 </a:t>
            </a:r>
            <a:r>
              <a:rPr lang="ko-KR" altLang="en-US" sz="1000" dirty="0" err="1"/>
              <a:t>지분가치도</a:t>
            </a:r>
            <a:r>
              <a:rPr lang="ko-KR" altLang="en-US" sz="1000" dirty="0"/>
              <a:t> 비례 상승했는지 확인</a:t>
            </a:r>
            <a:r>
              <a:rPr lang="en-US" altLang="ko-KR" sz="1000" dirty="0"/>
              <a:t>4. CLI: node scripts/query-reinsurance.js 0x</a:t>
            </a:r>
            <a:r>
              <a:rPr lang="ko-KR" altLang="en-US" sz="1000" dirty="0"/>
              <a:t>투자자지갑결과</a:t>
            </a:r>
            <a:r>
              <a:rPr lang="en-US" altLang="ko-KR" sz="1000" dirty="0"/>
              <a:t>: </a:t>
            </a:r>
            <a:r>
              <a:rPr lang="ko-KR" altLang="en-US" sz="1000" dirty="0"/>
              <a:t>예</a:t>
            </a:r>
            <a:r>
              <a:rPr lang="en-US" altLang="ko-KR" sz="1000" dirty="0"/>
              <a:t>) </a:t>
            </a:r>
            <a:r>
              <a:rPr lang="ko-KR" altLang="en-US" sz="1000" dirty="0"/>
              <a:t>월 보험료 </a:t>
            </a:r>
            <a:r>
              <a:rPr lang="en-US" altLang="ko-KR" sz="1000" dirty="0"/>
              <a:t>$50 </a:t>
            </a:r>
            <a:r>
              <a:rPr lang="ko-KR" altLang="en-US" sz="1000" dirty="0"/>
              <a:t>납입 → 풀 자산 </a:t>
            </a:r>
            <a:r>
              <a:rPr lang="en-US" altLang="ko-KR" sz="1000" dirty="0"/>
              <a:t>+$2.50. </a:t>
            </a:r>
            <a:r>
              <a:rPr lang="ko-KR" altLang="en-US" sz="1000" dirty="0"/>
              <a:t>고정 이자가 아니라 실제 납입에 연동되므로</a:t>
            </a:r>
            <a:r>
              <a:rPr lang="en-US" altLang="ko-KR" sz="1000" dirty="0"/>
              <a:t>, </a:t>
            </a:r>
            <a:r>
              <a:rPr lang="ko-KR" altLang="en-US" sz="1000" dirty="0"/>
              <a:t>납입이 없으면 </a:t>
            </a:r>
            <a:r>
              <a:rPr lang="ko-KR" altLang="en-US" sz="1000" dirty="0" err="1"/>
              <a:t>지분가치도</a:t>
            </a:r>
            <a:r>
              <a:rPr lang="ko-KR" altLang="en-US" sz="1000" dirty="0"/>
              <a:t> 그대로입니다</a:t>
            </a:r>
            <a:r>
              <a:rPr lang="en-US" altLang="ko-KR" sz="1000" dirty="0"/>
              <a:t>.---E. B2B </a:t>
            </a:r>
            <a:r>
              <a:rPr lang="ko-KR" altLang="en-US" sz="1000" dirty="0"/>
              <a:t>파트너 </a:t>
            </a:r>
            <a:r>
              <a:rPr lang="en-US" altLang="ko-KR" sz="1000" dirty="0"/>
              <a:t>API</a:t>
            </a:r>
            <a:r>
              <a:rPr lang="ko-KR" altLang="en-US" sz="1000" dirty="0"/>
              <a:t>테스트</a:t>
            </a:r>
            <a:r>
              <a:rPr lang="en-US" altLang="ko-KR" sz="1000" dirty="0"/>
              <a:t>(curl):# 1. .</a:t>
            </a:r>
            <a:r>
              <a:rPr lang="en-US" altLang="ko-KR" sz="1000" dirty="0" err="1"/>
              <a:t>env</a:t>
            </a:r>
            <a:r>
              <a:rPr lang="ko-KR" altLang="en-US" sz="1000" dirty="0"/>
              <a:t>에 </a:t>
            </a:r>
            <a:r>
              <a:rPr lang="en-US" altLang="ko-KR" sz="1000" dirty="0"/>
              <a:t>ADMIN_PASSWORD </a:t>
            </a:r>
            <a:r>
              <a:rPr lang="ko-KR" altLang="en-US" sz="1000" dirty="0"/>
              <a:t>채운 뒤 서버 </a:t>
            </a:r>
            <a:r>
              <a:rPr lang="ko-KR" altLang="en-US" sz="1000" dirty="0" err="1"/>
              <a:t>재시작</a:t>
            </a:r>
            <a:r>
              <a:rPr lang="en-US" altLang="ko-KR" sz="1000" dirty="0"/>
              <a:t># 2. </a:t>
            </a:r>
            <a:r>
              <a:rPr lang="ko-KR" altLang="en-US" sz="1000" dirty="0"/>
              <a:t>브라우저 </a:t>
            </a:r>
            <a:r>
              <a:rPr lang="en-US" altLang="ko-KR" sz="1000" dirty="0"/>
              <a:t>http://localhost:5000/admin/login → </a:t>
            </a:r>
            <a:r>
              <a:rPr lang="ko-KR" altLang="en-US" sz="1000" dirty="0"/>
              <a:t>로그인 → </a:t>
            </a:r>
            <a:r>
              <a:rPr lang="en-US" altLang="ko-KR" sz="1000" dirty="0"/>
              <a:t>/admin/partners</a:t>
            </a:r>
            <a:r>
              <a:rPr lang="ko-KR" altLang="en-US" sz="1000" dirty="0"/>
              <a:t>에서 키 발급</a:t>
            </a:r>
            <a:r>
              <a:rPr lang="en-US" altLang="ko-KR" sz="1000" dirty="0"/>
              <a:t>curl -o /dev/null -w "%{</a:t>
            </a:r>
            <a:r>
              <a:rPr lang="en-US" altLang="ko-KR" sz="1000" dirty="0" err="1"/>
              <a:t>http_code</a:t>
            </a:r>
            <a:r>
              <a:rPr lang="en-US" altLang="ko-KR" sz="1000" dirty="0"/>
              <a:t>}\n" "http://localhost:5000/</a:t>
            </a:r>
            <a:r>
              <a:rPr lang="en-US" altLang="ko-KR" sz="1000" dirty="0" err="1"/>
              <a:t>api</a:t>
            </a:r>
            <a:r>
              <a:rPr lang="en-US" altLang="ko-KR" sz="1000" dirty="0"/>
              <a:t>/partner/v1/dental/</a:t>
            </a:r>
            <a:r>
              <a:rPr lang="en-US" altLang="ko-KR" sz="1000" dirty="0" err="1"/>
              <a:t>status?wallet</a:t>
            </a:r>
            <a:r>
              <a:rPr lang="en-US" altLang="ko-KR" sz="1000" dirty="0"/>
              <a:t>=0x</a:t>
            </a:r>
            <a:r>
              <a:rPr lang="ko-KR" altLang="en-US" sz="1000" dirty="0" err="1"/>
              <a:t>고객지갑</a:t>
            </a:r>
            <a:r>
              <a:rPr lang="en-US" altLang="ko-KR" sz="1000" dirty="0"/>
              <a:t>"          # </a:t>
            </a:r>
            <a:r>
              <a:rPr lang="ko-KR" altLang="en-US" sz="1000" dirty="0"/>
              <a:t>키 없음 → </a:t>
            </a:r>
            <a:r>
              <a:rPr lang="en-US" altLang="ko-KR" sz="1000" dirty="0"/>
              <a:t>401curl -H "X-</a:t>
            </a:r>
            <a:r>
              <a:rPr lang="en-US" altLang="ko-KR" sz="1000" dirty="0" err="1"/>
              <a:t>Api</a:t>
            </a:r>
            <a:r>
              <a:rPr lang="en-US" altLang="ko-KR" sz="1000" dirty="0"/>
              <a:t>-Key: </a:t>
            </a:r>
            <a:r>
              <a:rPr lang="ko-KR" altLang="en-US" sz="1000" dirty="0" err="1"/>
              <a:t>발급받은키</a:t>
            </a:r>
            <a:r>
              <a:rPr lang="en-US" altLang="ko-KR" sz="1000" dirty="0"/>
              <a:t>" -o /dev/null -w "%{</a:t>
            </a:r>
            <a:r>
              <a:rPr lang="en-US" altLang="ko-KR" sz="1000" dirty="0" err="1"/>
              <a:t>http_code</a:t>
            </a:r>
            <a:r>
              <a:rPr lang="en-US" altLang="ko-KR" sz="1000" dirty="0"/>
              <a:t>}\n" "http://localhost:5000/</a:t>
            </a:r>
            <a:r>
              <a:rPr lang="en-US" altLang="ko-KR" sz="1000" dirty="0" err="1"/>
              <a:t>api</a:t>
            </a:r>
            <a:r>
              <a:rPr lang="en-US" altLang="ko-KR" sz="1000" dirty="0"/>
              <a:t>/partner/v1/dental/</a:t>
            </a:r>
            <a:r>
              <a:rPr lang="en-US" altLang="ko-KR" sz="1000" dirty="0" err="1"/>
              <a:t>status?wallet</a:t>
            </a:r>
            <a:r>
              <a:rPr lang="en-US" altLang="ko-KR" sz="1000" dirty="0"/>
              <a:t>=0x</a:t>
            </a:r>
            <a:r>
              <a:rPr lang="ko-KR" altLang="en-US" sz="1000" dirty="0" err="1"/>
              <a:t>고객지갑</a:t>
            </a:r>
            <a:r>
              <a:rPr lang="en-US" altLang="ko-KR" sz="1000" dirty="0"/>
              <a:t>"  # → 200</a:t>
            </a:r>
            <a:r>
              <a:rPr lang="ko-KR" altLang="en-US" sz="1000" dirty="0"/>
              <a:t>결과</a:t>
            </a:r>
            <a:r>
              <a:rPr lang="en-US" altLang="ko-KR" sz="1000" dirty="0"/>
              <a:t>: 200 </a:t>
            </a:r>
            <a:r>
              <a:rPr lang="ko-KR" altLang="en-US" sz="1000" dirty="0"/>
              <a:t>응답 본문은 </a:t>
            </a:r>
            <a:r>
              <a:rPr lang="en-US" altLang="ko-KR" sz="1000" dirty="0" err="1"/>
              <a:t>get_blockchain_dental_status</a:t>
            </a:r>
            <a:r>
              <a:rPr lang="ko-KR" altLang="en-US" sz="1000" dirty="0"/>
              <a:t>와 동일한 </a:t>
            </a:r>
            <a:r>
              <a:rPr lang="en-US" altLang="ko-KR" sz="1000" dirty="0"/>
              <a:t>JSON. /admin/partners </a:t>
            </a:r>
            <a:r>
              <a:rPr lang="ko-KR" altLang="en-US" sz="1000" dirty="0"/>
              <a:t>화면에서 누적 </a:t>
            </a:r>
            <a:r>
              <a:rPr lang="ko-KR" altLang="en-US" sz="1000" dirty="0" err="1"/>
              <a:t>호출수</a:t>
            </a:r>
            <a:r>
              <a:rPr lang="en-US" altLang="ko-KR" sz="1000" dirty="0"/>
              <a:t>·</a:t>
            </a:r>
            <a:r>
              <a:rPr lang="ko-KR" altLang="en-US" sz="1000" dirty="0"/>
              <a:t>예상 청구액</a:t>
            </a:r>
            <a:r>
              <a:rPr lang="en-US" altLang="ko-KR" sz="1000" dirty="0"/>
              <a:t>(</a:t>
            </a:r>
            <a:r>
              <a:rPr lang="ko-KR" altLang="en-US" sz="1000" dirty="0" err="1"/>
              <a:t>호출수</a:t>
            </a:r>
            <a:r>
              <a:rPr lang="en-US" altLang="ko-KR" sz="1000" dirty="0"/>
              <a:t>×10</a:t>
            </a:r>
            <a:r>
              <a:rPr lang="ko-KR" altLang="en-US" sz="1000" dirty="0"/>
              <a:t>원</a:t>
            </a:r>
            <a:r>
              <a:rPr lang="en-US" altLang="ko-KR" sz="1000" dirty="0"/>
              <a:t>)</a:t>
            </a:r>
            <a:r>
              <a:rPr lang="ko-KR" altLang="en-US" sz="1000" dirty="0"/>
              <a:t>이 올라가는 게 보이고</a:t>
            </a:r>
            <a:r>
              <a:rPr lang="en-US" altLang="ko-KR" sz="1000" dirty="0"/>
              <a:t>, </a:t>
            </a:r>
            <a:r>
              <a:rPr lang="ko-KR" altLang="en-US" sz="1000" dirty="0"/>
              <a:t>분당 </a:t>
            </a:r>
            <a:r>
              <a:rPr lang="en-US" altLang="ko-KR" sz="1000" dirty="0"/>
              <a:t>60</a:t>
            </a:r>
            <a:r>
              <a:rPr lang="ko-KR" altLang="en-US" sz="1000" dirty="0"/>
              <a:t>회 넘기면 </a:t>
            </a:r>
            <a:r>
              <a:rPr lang="en-US" altLang="ko-KR" sz="1000" dirty="0"/>
              <a:t>429, "</a:t>
            </a:r>
            <a:r>
              <a:rPr lang="ko-KR" altLang="en-US" sz="1000" dirty="0"/>
              <a:t>해지</a:t>
            </a:r>
            <a:r>
              <a:rPr lang="en-US" altLang="ko-KR" sz="1000" dirty="0"/>
              <a:t>" </a:t>
            </a:r>
            <a:r>
              <a:rPr lang="ko-KR" altLang="en-US" sz="1000" dirty="0"/>
              <a:t>누르면 그 다음부터 </a:t>
            </a:r>
            <a:r>
              <a:rPr lang="en-US" altLang="ko-KR" sz="1000" dirty="0"/>
              <a:t>403.---</a:t>
            </a:r>
            <a:r>
              <a:rPr lang="ko-KR" altLang="en-US" sz="1000" dirty="0"/>
              <a:t>오라클 청구 </a:t>
            </a:r>
            <a:r>
              <a:rPr lang="ko-KR" altLang="en-US" sz="1000" dirty="0" err="1"/>
              <a:t>자동승인</a:t>
            </a:r>
            <a:r>
              <a:rPr lang="ko-KR" altLang="en-US" sz="1000" dirty="0"/>
              <a:t> 기본값 </a:t>
            </a:r>
            <a:r>
              <a:rPr lang="en-US" altLang="ko-KR" sz="1000" dirty="0"/>
              <a:t>ON</a:t>
            </a:r>
            <a:r>
              <a:rPr lang="ko-KR" altLang="en-US" sz="1000" dirty="0"/>
              <a:t>테스트</a:t>
            </a:r>
            <a:r>
              <a:rPr lang="en-US" altLang="ko-KR" sz="1000" dirty="0"/>
              <a:t>: "</a:t>
            </a:r>
            <a:r>
              <a:rPr lang="ko-KR" altLang="en-US" sz="1000" dirty="0"/>
              <a:t>🦷 보험금 청구</a:t>
            </a:r>
            <a:r>
              <a:rPr lang="en-US" altLang="ko-KR" sz="1000" dirty="0"/>
              <a:t>" </a:t>
            </a:r>
            <a:r>
              <a:rPr lang="ko-KR" altLang="en-US" sz="1000" dirty="0"/>
              <a:t>탭에서 </a:t>
            </a:r>
            <a:r>
              <a:rPr lang="ko-KR" altLang="en-US" sz="1000" dirty="0" err="1"/>
              <a:t>보장한도의</a:t>
            </a:r>
            <a:r>
              <a:rPr lang="ko-KR" altLang="en-US" sz="1000" dirty="0"/>
              <a:t> </a:t>
            </a:r>
            <a:r>
              <a:rPr lang="en-US" altLang="ko-KR" sz="1000" dirty="0"/>
              <a:t>20% </a:t>
            </a:r>
            <a:r>
              <a:rPr lang="ko-KR" altLang="en-US" sz="1000" dirty="0"/>
              <a:t>이하 금액으로 청구 제출</a:t>
            </a:r>
            <a:r>
              <a:rPr lang="en-US" altLang="ko-KR" sz="1000" dirty="0"/>
              <a:t>.</a:t>
            </a:r>
            <a:r>
              <a:rPr lang="ko-KR" altLang="en-US" sz="1000" dirty="0"/>
              <a:t>결과</a:t>
            </a:r>
            <a:r>
              <a:rPr lang="en-US" altLang="ko-KR" sz="1000" dirty="0"/>
              <a:t>: </a:t>
            </a:r>
            <a:r>
              <a:rPr lang="ko-KR" altLang="en-US" sz="1000" dirty="0"/>
              <a:t>관리자 승인 절차 없이 제출 즉시 </a:t>
            </a:r>
            <a:r>
              <a:rPr lang="en-US" altLang="ko-KR" sz="1000" dirty="0"/>
              <a:t>"</a:t>
            </a:r>
            <a:r>
              <a:rPr lang="ko-KR" altLang="en-US" sz="1000" dirty="0" err="1"/>
              <a:t>지급완료</a:t>
            </a:r>
            <a:r>
              <a:rPr lang="en-US" altLang="ko-KR" sz="1000" dirty="0"/>
              <a:t>" + </a:t>
            </a:r>
            <a:r>
              <a:rPr lang="ko-KR" altLang="en-US" sz="1000" dirty="0"/>
              <a:t>지갑 잔액  로 청구하면 여전히 </a:t>
            </a:r>
            <a:r>
              <a:rPr lang="en-US" altLang="ko-KR" sz="1000" dirty="0"/>
              <a:t>"</a:t>
            </a:r>
            <a:r>
              <a:rPr lang="ko-KR" altLang="en-US" sz="1000" dirty="0"/>
              <a:t>대기중</a:t>
            </a:r>
            <a:r>
              <a:rPr lang="en-US" altLang="ko-KR" sz="1000" dirty="0"/>
              <a:t>"</a:t>
            </a:r>
            <a:r>
              <a:rPr lang="ko-KR" altLang="en-US" sz="1000" dirty="0"/>
              <a:t>으로 남고 관리자가 </a:t>
            </a:r>
            <a:r>
              <a:rPr lang="en-US" altLang="ko-KR" sz="1000" dirty="0"/>
              <a:t>"</a:t>
            </a:r>
            <a:r>
              <a:rPr lang="ko-KR" altLang="en-US" sz="1000" dirty="0"/>
              <a:t>청구 </a:t>
            </a:r>
            <a:r>
              <a:rPr lang="ko-KR" altLang="en-US" sz="1000" dirty="0" smtClean="0"/>
              <a:t>심사</a:t>
            </a:r>
            <a:r>
              <a:rPr lang="en-US" altLang="ko-KR" sz="1000" dirty="0" smtClean="0"/>
              <a:t>“</a:t>
            </a:r>
          </a:p>
          <a:p>
            <a:endParaRPr lang="en-US" altLang="ko-KR" sz="1000" dirty="0"/>
          </a:p>
          <a:p>
            <a:endParaRPr lang="en-US" altLang="ko-KR" sz="1000" smtClean="0"/>
          </a:p>
          <a:p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142590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1465</Words>
  <Application>Microsoft Office PowerPoint</Application>
  <PresentationFormat>와이드스크린</PresentationFormat>
  <Paragraphs>8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admin</cp:lastModifiedBy>
  <cp:revision>4</cp:revision>
  <dcterms:created xsi:type="dcterms:W3CDTF">2026-09-19T00:30:21Z</dcterms:created>
  <dcterms:modified xsi:type="dcterms:W3CDTF">2026-09-20T11:54:23Z</dcterms:modified>
</cp:coreProperties>
</file>